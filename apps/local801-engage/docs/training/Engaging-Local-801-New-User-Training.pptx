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717c64149440e0" /><Relationship Type="http://schemas.openxmlformats.org/officeDocument/2006/relationships/extended-properties" Target="/docProps/app.xml" Id="Rc5c603d158384901" /><Relationship Type="http://schemas.openxmlformats.org/officeDocument/2006/relationships/officeDocument" Target="/ppt/presentation.xml" Id="Ra5668c88f9cb4ccb" /></Relationships>
</file>

<file path=ppt/presentation.xml><?xml version="1.0" encoding="utf-8"?>
<p:presentation xmlns:p="http://schemas.openxmlformats.org/presentationml/2006/main">
  <p:sldMasterIdLst>
    <p:sldMasterId xmlns:r="http://schemas.openxmlformats.org/officeDocument/2006/relationships" id="2147483648" r:id="R369baba5acb1484b"/>
  </p:sldMasterIdLst>
  <p:notesMasterIdLst>
    <p:notesMasterId xmlns:r="http://schemas.openxmlformats.org/officeDocument/2006/relationships" r:id="R044c275624714a10"/>
  </p:notesMasterIdLst>
  <p:sldIdLst>
    <p:sldId xmlns:r="http://schemas.openxmlformats.org/officeDocument/2006/relationships" id="256" r:id="Rc35f10c6517242e2"/>
    <p:sldId xmlns:r="http://schemas.openxmlformats.org/officeDocument/2006/relationships" id="257" r:id="R7d84f6b6b5364786"/>
    <p:sldId xmlns:r="http://schemas.openxmlformats.org/officeDocument/2006/relationships" id="258" r:id="Rd1c4abd480534aac"/>
    <p:sldId xmlns:r="http://schemas.openxmlformats.org/officeDocument/2006/relationships" id="259" r:id="R3f5ed9ace25d4f55"/>
    <p:sldId xmlns:r="http://schemas.openxmlformats.org/officeDocument/2006/relationships" id="260" r:id="R8ca4c40b7c614e2e"/>
    <p:sldId xmlns:r="http://schemas.openxmlformats.org/officeDocument/2006/relationships" id="261" r:id="Ra01443f9eaf34593"/>
    <p:sldId xmlns:r="http://schemas.openxmlformats.org/officeDocument/2006/relationships" id="262" r:id="Rb72523bec2d242dc"/>
    <p:sldId xmlns:r="http://schemas.openxmlformats.org/officeDocument/2006/relationships" id="263" r:id="Rf46db17cf366461b"/>
    <p:sldId xmlns:r="http://schemas.openxmlformats.org/officeDocument/2006/relationships" id="264" r:id="R9bbeeee2e5af49cc"/>
    <p:sldId xmlns:r="http://schemas.openxmlformats.org/officeDocument/2006/relationships" id="265" r:id="Racd4b0b8da1e42c8"/>
    <p:sldId xmlns:r="http://schemas.openxmlformats.org/officeDocument/2006/relationships" id="266" r:id="Rdcee8b679c95441c"/>
    <p:sldId xmlns:r="http://schemas.openxmlformats.org/officeDocument/2006/relationships" id="267" r:id="R9501c3a003a741e0"/>
    <p:sldId xmlns:r="http://schemas.openxmlformats.org/officeDocument/2006/relationships" id="268" r:id="R6a5a7f96cc03412b"/>
    <p:sldId xmlns:r="http://schemas.openxmlformats.org/officeDocument/2006/relationships" id="269" r:id="Rd1d750517ec94c9e"/>
    <p:sldId xmlns:r="http://schemas.openxmlformats.org/officeDocument/2006/relationships" id="270" r:id="R55ad66daccd244de"/>
    <p:sldId xmlns:r="http://schemas.openxmlformats.org/officeDocument/2006/relationships" id="271" r:id="Rfb773092ed6441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6aa44b9c964dd8" /><Relationship Type="http://schemas.openxmlformats.org/officeDocument/2006/relationships/slideMaster" Target="/ppt/slideMasters/slideMaster1.xml" Id="R369baba5acb1484b" /><Relationship Type="http://schemas.openxmlformats.org/officeDocument/2006/relationships/notesMaster" Target="/ppt/notesMasters/notesMaster1.xml" Id="R044c275624714a10" /><Relationship Type="http://schemas.openxmlformats.org/officeDocument/2006/relationships/presProps" Target="/ppt/presProps.xml" Id="R97023909451d4467" /><Relationship Type="http://schemas.openxmlformats.org/officeDocument/2006/relationships/tableStyles" Target="/ppt/tableStyles.xml" Id="R20518e708b3e4aab" /><Relationship Type="http://schemas.openxmlformats.org/officeDocument/2006/relationships/slide" Target="/ppt/slides/slide1.xml" Id="Rc35f10c6517242e2" /><Relationship Type="http://schemas.openxmlformats.org/officeDocument/2006/relationships/slide" Target="/ppt/slides/slide2.xml" Id="R7d84f6b6b5364786" /><Relationship Type="http://schemas.openxmlformats.org/officeDocument/2006/relationships/slide" Target="/ppt/slides/slide3.xml" Id="Rd1c4abd480534aac" /><Relationship Type="http://schemas.openxmlformats.org/officeDocument/2006/relationships/slide" Target="/ppt/slides/slide4.xml" Id="R3f5ed9ace25d4f55" /><Relationship Type="http://schemas.openxmlformats.org/officeDocument/2006/relationships/slide" Target="/ppt/slides/slide5.xml" Id="R8ca4c40b7c614e2e" /><Relationship Type="http://schemas.openxmlformats.org/officeDocument/2006/relationships/slide" Target="/ppt/slides/slide6.xml" Id="Ra01443f9eaf34593" /><Relationship Type="http://schemas.openxmlformats.org/officeDocument/2006/relationships/slide" Target="/ppt/slides/slide7.xml" Id="Rb72523bec2d242dc" /><Relationship Type="http://schemas.openxmlformats.org/officeDocument/2006/relationships/slide" Target="/ppt/slides/slide8.xml" Id="Rf46db17cf366461b" /><Relationship Type="http://schemas.openxmlformats.org/officeDocument/2006/relationships/slide" Target="/ppt/slides/slide9.xml" Id="R9bbeeee2e5af49cc" /><Relationship Type="http://schemas.openxmlformats.org/officeDocument/2006/relationships/slide" Target="/ppt/slides/slide10.xml" Id="Racd4b0b8da1e42c8" /><Relationship Type="http://schemas.openxmlformats.org/officeDocument/2006/relationships/slide" Target="/ppt/slides/slide11.xml" Id="Rdcee8b679c95441c" /><Relationship Type="http://schemas.openxmlformats.org/officeDocument/2006/relationships/slide" Target="/ppt/slides/slide12.xml" Id="R9501c3a003a741e0" /><Relationship Type="http://schemas.openxmlformats.org/officeDocument/2006/relationships/slide" Target="/ppt/slides/slide13.xml" Id="R6a5a7f96cc03412b" /><Relationship Type="http://schemas.openxmlformats.org/officeDocument/2006/relationships/slide" Target="/ppt/slides/slide14.xml" Id="Rd1d750517ec94c9e" /><Relationship Type="http://schemas.openxmlformats.org/officeDocument/2006/relationships/slide" Target="/ppt/slides/slide15.xml" Id="R55ad66daccd244de" /><Relationship Type="http://schemas.openxmlformats.org/officeDocument/2006/relationships/slide" Target="/ppt/slides/slide16.xml" Id="Rfb773092ed6441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55f04cf47641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c8a463f3444503" /><Relationship Type="http://schemas.openxmlformats.org/officeDocument/2006/relationships/notesMaster" Target="/ppt/notesMasters/notesMaster1.xml" Id="Re7148951139243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6a4a8e457347bf" /><Relationship Type="http://schemas.openxmlformats.org/officeDocument/2006/relationships/notesMaster" Target="/ppt/notesMasters/notesMaster1.xml" Id="R390025b643654c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96d88a2f5d442f" /><Relationship Type="http://schemas.openxmlformats.org/officeDocument/2006/relationships/notesMaster" Target="/ppt/notesMasters/notesMaster1.xml" Id="Reb7918a18e804d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e5f5effb964294" /><Relationship Type="http://schemas.openxmlformats.org/officeDocument/2006/relationships/notesMaster" Target="/ppt/notesMasters/notesMaster1.xml" Id="R49b6cab5441b48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53507a918a4d87" /><Relationship Type="http://schemas.openxmlformats.org/officeDocument/2006/relationships/notesMaster" Target="/ppt/notesMasters/notesMaster1.xml" Id="R8a94cf68f98b4d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f26a417ea4142" /><Relationship Type="http://schemas.openxmlformats.org/officeDocument/2006/relationships/notesMaster" Target="/ppt/notesMasters/notesMaster1.xml" Id="R16a6edd99f73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228980506c4cbf" /><Relationship Type="http://schemas.openxmlformats.org/officeDocument/2006/relationships/notesMaster" Target="/ppt/notesMasters/notesMaster1.xml" Id="R05e58bc0dbc24a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6d33471bef4344" /><Relationship Type="http://schemas.openxmlformats.org/officeDocument/2006/relationships/notesMaster" Target="/ppt/notesMasters/notesMaster1.xml" Id="Rebfb9ea9c4e048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73c2d11de845e7" /><Relationship Type="http://schemas.openxmlformats.org/officeDocument/2006/relationships/notesMaster" Target="/ppt/notesMasters/notesMaster1.xml" Id="Rb5a14a42f5494d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133f8f45604846" /><Relationship Type="http://schemas.openxmlformats.org/officeDocument/2006/relationships/notesMaster" Target="/ppt/notesMasters/notesMaster1.xml" Id="R35a0fe1eff7b48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6264207d684b60" /><Relationship Type="http://schemas.openxmlformats.org/officeDocument/2006/relationships/notesMaster" Target="/ppt/notesMasters/notesMaster1.xml" Id="R373b5a15a0234b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4c05db2d154c89" /><Relationship Type="http://schemas.openxmlformats.org/officeDocument/2006/relationships/notesMaster" Target="/ppt/notesMasters/notesMaster1.xml" Id="R679c9e30dfa642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6241e7625c40ff" /><Relationship Type="http://schemas.openxmlformats.org/officeDocument/2006/relationships/notesMaster" Target="/ppt/notesMasters/notesMaster1.xml" Id="R80e0120ef54240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0ed5f043ed43e2" /><Relationship Type="http://schemas.openxmlformats.org/officeDocument/2006/relationships/notesMaster" Target="/ppt/notesMasters/notesMaster1.xml" Id="R6bf8072fbbc84e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ca483c123d4875" /><Relationship Type="http://schemas.openxmlformats.org/officeDocument/2006/relationships/notesMaster" Target="/ppt/notesMasters/notesMaster1.xml" Id="R884656a0554544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6db6b56dfd46e3" /><Relationship Type="http://schemas.openxmlformats.org/officeDocument/2006/relationships/notesMaster" Target="/ppt/notesMasters/notesMaster1.xml" Id="R7b0d519a84a64d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the group and set a practical expectation: this session is about doing the everyday work correctly, not memorizing every page.</a:t>
            </a:r>
          </a:p>
          <a:p xmlns:a="http://schemas.openxmlformats.org/drawingml/2006/main">
            <a:r>
              <a:t/>
            </a:r>
          </a:p>
          <a:p xmlns:a="http://schemas.openxmlformats.org/drawingml/2006/main">
            <a:r>
              <a:t>[Sources]</a:t>
            </a:r>
          </a:p>
          <a:p xmlns:a="http://schemas.openxmlformats.org/drawingml/2006/main">
            <a:r>
              <a:t>- Screenshot: https://cat.cyang.io/sign-in (captured 2026-08-25)</a:t>
            </a:r>
          </a:p>
          <a:p xmlns:a="http://schemas.openxmlformats.org/drawingml/2006/main">
            <a:r>
              <a:t>- Internal: apps/local801-engage/src/lib/access.ts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four outcomes aloud. Tell learners that the last one matters as much as the first three: a careful pause is better than a duplicate or exposed record.</a:t>
            </a:r>
          </a:p>
          <a:p xmlns:a="http://schemas.openxmlformats.org/drawingml/2006/main">
            <a:r>
              <a:t/>
            </a:r>
          </a:p>
          <a:p xmlns:a="http://schemas.openxmlformats.org/drawingml/2006/main">
            <a:r>
              <a:t>[Sources]</a:t>
            </a:r>
          </a:p>
          <a:p xmlns:a="http://schemas.openxmlformats.org/drawingml/2006/main">
            <a:r>
              <a:t>- Internal: apps/local801-engage/src/app/(workspace)/outreach/[personId]/page.tsx</a:t>
            </a:r>
          </a:p>
          <a:p xmlns:a="http://schemas.openxmlformats.org/drawingml/2006/main">
            <a:r>
              <a:t>- Internal: apps/local801-engage/src/app/support/page.tsx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first check. For most users, CAT expects a personal Microsoft account created with or linked to the invited email. A successful Microsoft sign-in does not by itself grant CAT access.</a:t>
            </a:r>
          </a:p>
          <a:p xmlns:a="http://schemas.openxmlformats.org/drawingml/2006/main">
            <a:r>
              <a:t/>
            </a:r>
          </a:p>
          <a:p xmlns:a="http://schemas.openxmlformats.org/drawingml/2006/main">
            <a:r>
              <a:t>[Sources]</a:t>
            </a:r>
          </a:p>
          <a:p xmlns:a="http://schemas.openxmlformats.org/drawingml/2006/main">
            <a:r>
              <a:t>- Screenshot: https://cat.cyang.io/sign-in (captured 2026-08-25)</a:t>
            </a:r>
          </a:p>
          <a:p xmlns:a="http://schemas.openxmlformats.org/drawingml/2006/main">
            <a:r>
              <a:t>- Internal: apps/local801-engage/src/lib/access.ts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 ladder without promising that everyone will see every page. Emphasize least privilege: access should match the person's current Local 801 responsibility.</a:t>
            </a:r>
          </a:p>
          <a:p xmlns:a="http://schemas.openxmlformats.org/drawingml/2006/main">
            <a:r>
              <a:t/>
            </a:r>
          </a:p>
          <a:p xmlns:a="http://schemas.openxmlformats.org/drawingml/2006/main">
            <a:r>
              <a:t>[Sources]</a:t>
            </a:r>
          </a:p>
          <a:p xmlns:a="http://schemas.openxmlformats.org/drawingml/2006/main">
            <a:r>
              <a:t>- Internal: apps/local801-engage/src/lib/access.ts</a:t>
            </a:r>
          </a:p>
          <a:p xmlns:a="http://schemas.openxmlformats.org/drawingml/2006/main">
            <a:r>
              <a:t>- Internal: apps/local801-engage/src/components/app-shell.tsx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learners around the screen, but keep the tour short. The useful distinction is Member outreach for active work and Directory for finding someone. The preview contains no member database.</a:t>
            </a:r>
          </a:p>
          <a:p xmlns:a="http://schemas.openxmlformats.org/drawingml/2006/main">
            <a:r>
              <a:t/>
            </a:r>
          </a:p>
          <a:p xmlns:a="http://schemas.openxmlformats.org/drawingml/2006/main">
            <a:r>
              <a:t>[Sources]</a:t>
            </a:r>
          </a:p>
          <a:p xmlns:a="http://schemas.openxmlformats.org/drawingml/2006/main">
            <a:r>
              <a:t>- Internal: apps/local801-engage/src/components/app-shell.tsx</a:t>
            </a:r>
          </a:p>
          <a:p xmlns:a="http://schemas.openxmlformats.org/drawingml/2006/main">
            <a:r>
              <a:t>- Internal: apps/local801-engage/src/app/(workspace)/outreach/page.tsx</a:t>
            </a:r>
          </a:p>
          <a:p xmlns:a="http://schemas.openxmlformats.org/drawingml/2006/main">
            <a:r>
              <a:t>- Internal: apps/local801-engage/src/app/(workspace)/directory/page.tsx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training slide. Ask a learner to repeat the five steps in their own words. The sequence should feel like a work habit, not a software checklist.</a:t>
            </a:r>
          </a:p>
          <a:p xmlns:a="http://schemas.openxmlformats.org/drawingml/2006/main">
            <a:r>
              <a:t/>
            </a:r>
          </a:p>
          <a:p xmlns:a="http://schemas.openxmlformats.org/drawingml/2006/main">
            <a:r>
              <a:t>[Sources]</a:t>
            </a:r>
          </a:p>
          <a:p xmlns:a="http://schemas.openxmlformats.org/drawingml/2006/main">
            <a:r>
              <a:t>- Internal: apps/local801-engage/src/app/(workspace)/outreach/page.tsx</a:t>
            </a:r>
          </a:p>
          <a:p xmlns:a="http://schemas.openxmlformats.org/drawingml/2006/main">
            <a:r>
              <a:t>- Internal: apps/local801-engage/src/app/(workspace)/outreach/[personId]/page.tsx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fields in the live application if a synthetic record is available. The sample note is restrained and actionable; it does not repeat contact details or add speculation.</a:t>
            </a:r>
          </a:p>
          <a:p xmlns:a="http://schemas.openxmlformats.org/drawingml/2006/main">
            <a:r>
              <a:t/>
            </a:r>
          </a:p>
          <a:p xmlns:a="http://schemas.openxmlformats.org/drawingml/2006/main">
            <a:r>
              <a:t>[Sources]</a:t>
            </a:r>
          </a:p>
          <a:p xmlns:a="http://schemas.openxmlformats.org/drawingml/2006/main">
            <a:r>
              <a:t>- Internal: apps/local801-engage/src/app/(workspace)/outreach/[personId]/page.tsx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is the member's response to a defined action, not a general opinion of the member. A follow-up should make the next action obvious to the person who owns it.</a:t>
            </a:r>
          </a:p>
          <a:p xmlns:a="http://schemas.openxmlformats.org/drawingml/2006/main">
            <a:r>
              <a:t/>
            </a:r>
          </a:p>
          <a:p xmlns:a="http://schemas.openxmlformats.org/drawingml/2006/main">
            <a:r>
              <a:t>[Sources]</a:t>
            </a:r>
          </a:p>
          <a:p xmlns:a="http://schemas.openxmlformats.org/drawingml/2006/main">
            <a:r>
              <a:t>- Internal: apps/local801-engage/src/app/(workspace)/outreach/[personId]/page.tsx</a:t>
            </a:r>
          </a:p>
          <a:p xmlns:a="http://schemas.openxmlformats.org/drawingml/2006/main">
            <a:r>
              <a:t>- Internal: apps/local801-engage/src/app/(workspace)/follow-ups/page.tsx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users often treat these pages as duplicates. Give each one a question: To Do is personal completion, Follow-ups is the return-contact promise, and Work planner is the calendar view.</a:t>
            </a:r>
          </a:p>
          <a:p xmlns:a="http://schemas.openxmlformats.org/drawingml/2006/main">
            <a:r>
              <a:t/>
            </a:r>
          </a:p>
          <a:p xmlns:a="http://schemas.openxmlformats.org/drawingml/2006/main">
            <a:r>
              <a:t>[Sources]</a:t>
            </a:r>
          </a:p>
          <a:p xmlns:a="http://schemas.openxmlformats.org/drawingml/2006/main">
            <a:r>
              <a:t>- Internal: apps/local801-engage/src/app/(workspace)/tasks/page.tsx</a:t>
            </a:r>
          </a:p>
          <a:p xmlns:a="http://schemas.openxmlformats.org/drawingml/2006/main">
            <a:r>
              <a:t>- Internal: apps/local801-engage/src/app/(workspace)/follow-ups/page.tsx</a:t>
            </a:r>
          </a:p>
          <a:p xmlns:a="http://schemas.openxmlformats.org/drawingml/2006/main">
            <a:r>
              <a:t>- Internal: apps/local801-engage/src/app/(workspace)/work-planner/page.tsx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 view is the default on screens 720 pixels wide or smaller unless the user has chosen standard view during that session. Show the opt-out and make clear that it is respected.</a:t>
            </a:r>
          </a:p>
          <a:p xmlns:a="http://schemas.openxmlformats.org/drawingml/2006/main">
            <a:r>
              <a:t/>
            </a:r>
          </a:p>
          <a:p xmlns:a="http://schemas.openxmlformats.org/drawingml/2006/main">
            <a:r>
              <a:t>[Sources]</a:t>
            </a:r>
          </a:p>
          <a:p xmlns:a="http://schemas.openxmlformats.org/drawingml/2006/main">
            <a:r>
              <a:t>- Internal: apps/local801-engage/src/components/field-view-provider.tsx</a:t>
            </a:r>
          </a:p>
          <a:p xmlns:a="http://schemas.openxmlformats.org/drawingml/2006/main">
            <a:r>
              <a:t>- Internal: apps/local801-engage/src/app/(workspace)/outreach/page.tsx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installed shortcut as offline access. It opens CAT more conveniently; member and work data still require a secure connection. Remind users not to copy documents to personal storage.</a:t>
            </a:r>
          </a:p>
          <a:p xmlns:a="http://schemas.openxmlformats.org/drawingml/2006/main">
            <a:r>
              <a:t/>
            </a:r>
          </a:p>
          <a:p xmlns:a="http://schemas.openxmlformats.org/drawingml/2006/main">
            <a:r>
              <a:t>[Sources]</a:t>
            </a:r>
          </a:p>
          <a:p xmlns:a="http://schemas.openxmlformats.org/drawingml/2006/main">
            <a:r>
              <a:t>- Screenshot: https://cat.cyang.io/install (captured 2026-08-25)</a:t>
            </a:r>
          </a:p>
          <a:p xmlns:a="http://schemas.openxmlformats.org/drawingml/2006/main">
            <a:r>
              <a:t>- Internal: apps/local801-engage/src/app/(workspace)/documents/page.tsx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about habits, not fear. Access controls reduce risk, but once information is visible, the user still controls where it goes and who can see it.</a:t>
            </a:r>
          </a:p>
          <a:p xmlns:a="http://schemas.openxmlformats.org/drawingml/2006/main">
            <a:r>
              <a:t/>
            </a:r>
          </a:p>
          <a:p xmlns:a="http://schemas.openxmlformats.org/drawingml/2006/main">
            <a:r>
              <a:t>[Sources]</a:t>
            </a:r>
          </a:p>
          <a:p xmlns:a="http://schemas.openxmlformats.org/drawingml/2006/main">
            <a:r>
              <a:t>- Internal: apps/local801-engage/src/app/(workspace)/documents/page.tsx</a:t>
            </a:r>
          </a:p>
          <a:p xmlns:a="http://schemas.openxmlformats.org/drawingml/2006/main">
            <a:r>
              <a:t>- Internal: apps/local801-engage/src/app/support/page.tsx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map, not a license to act. Administrators should still verify the request, the exact record, and the expected result before changing access or applying roster changes.</a:t>
            </a:r>
          </a:p>
          <a:p xmlns:a="http://schemas.openxmlformats.org/drawingml/2006/main">
            <a:r>
              <a:t/>
            </a:r>
          </a:p>
          <a:p xmlns:a="http://schemas.openxmlformats.org/drawingml/2006/main">
            <a:r>
              <a:t>[Sources]</a:t>
            </a:r>
          </a:p>
          <a:p xmlns:a="http://schemas.openxmlformats.org/drawingml/2006/main">
            <a:r>
              <a:t>- Internal: apps/local801-engage/src/lib/access.ts</a:t>
            </a:r>
          </a:p>
          <a:p xmlns:a="http://schemas.openxmlformats.org/drawingml/2006/main">
            <a:r>
              <a:t>- Internal: apps/local801-engage/src/components/app-shell.tsx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email is the strongest match and must not be overridden. If no exact match exists, CAT may rank possible employees using names and workplace details, but an administrator confirms the attachment. Stop before applying roster changes unless the review and authority are explicit.</a:t>
            </a:r>
          </a:p>
          <a:p xmlns:a="http://schemas.openxmlformats.org/drawingml/2006/main">
            <a:r>
              <a:t/>
            </a:r>
          </a:p>
          <a:p xmlns:a="http://schemas.openxmlformats.org/drawingml/2006/main">
            <a:r>
              <a:t>[Sources]</a:t>
            </a:r>
          </a:p>
          <a:p xmlns:a="http://schemas.openxmlformats.org/drawingml/2006/main">
            <a:r>
              <a:t>- Internal: apps/local801-engage/src/app/(workspace)/data-quality/page.tsx</a:t>
            </a:r>
          </a:p>
          <a:p xmlns:a="http://schemas.openxmlformats.org/drawingml/2006/main">
            <a:r>
              <a:t>- Internal: apps/local801-engage/src/app/(workspace)/imports/page.tsx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public Support page as the recovery checklist. Support needs a concise description and the non-sensitive reference, not a roster or screenshot of protected contact information.</a:t>
            </a:r>
          </a:p>
          <a:p xmlns:a="http://schemas.openxmlformats.org/drawingml/2006/main">
            <a:r>
              <a:t/>
            </a:r>
          </a:p>
          <a:p xmlns:a="http://schemas.openxmlformats.org/drawingml/2006/main">
            <a:r>
              <a:t>[Sources]</a:t>
            </a:r>
          </a:p>
          <a:p xmlns:a="http://schemas.openxmlformats.org/drawingml/2006/main">
            <a:r>
              <a:t>- Screenshot: https://cat.cyang.io/support (captured 2026-08-25)</a:t>
            </a:r>
          </a:p>
          <a:p xmlns:a="http://schemas.openxmlformats.org/drawingml/2006/main">
            <a:r>
              <a:t>- Internal: apps/local801-engage/src/app/support/page.tsx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practice with synthetic data only. The learner should be able to explain what was saved, who can see it, and what they would do if the save result were unclear.</a:t>
            </a:r>
          </a:p>
          <a:p xmlns:a="http://schemas.openxmlformats.org/drawingml/2006/main">
            <a:r>
              <a:t/>
            </a:r>
          </a:p>
          <a:p xmlns:a="http://schemas.openxmlformats.org/drawingml/2006/main">
            <a:r>
              <a:t>[Sources]</a:t>
            </a:r>
          </a:p>
          <a:p xmlns:a="http://schemas.openxmlformats.org/drawingml/2006/main">
            <a:r>
              <a:t>- Internal: apps/local801-engage/src/app/(workspace)/outreach/[personId]/page.tsx</a:t>
            </a:r>
          </a:p>
          <a:p xmlns:a="http://schemas.openxmlformats.org/drawingml/2006/main">
            <a:r>
              <a:t>- Internal: apps/local801-engage/src/app/(workspace)/follow-ups/page.tsx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6741f09b2549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c94877981f4c33" /><Relationship Type="http://schemas.openxmlformats.org/officeDocument/2006/relationships/slideLayout" Target="/ppt/slideLayouts/slideLayout1.xml" Id="R6ae5f3dac26d41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e5f3dac26d41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1c9fed9c9e4bc0" /><Relationship Type="http://schemas.openxmlformats.org/officeDocument/2006/relationships/image" Target="/ppt/media/image.jpeg" Id="Rc05405e8dc5b4be0" /><Relationship Type="http://schemas.openxmlformats.org/officeDocument/2006/relationships/image" Target="/ppt/media/image.png" Id="R570468db6152494b" /><Relationship Type="http://schemas.openxmlformats.org/officeDocument/2006/relationships/notesSlide" Target="/ppt/notesSlides/notesSlide1.xml" Id="R2f792e2fd7d848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32748d6e1b4789" /><Relationship Type="http://schemas.openxmlformats.org/officeDocument/2006/relationships/notesSlide" Target="/ppt/notesSlides/notesSlide2.xml" Id="Rf519483efed04d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a41d94412747a0" /><Relationship Type="http://schemas.openxmlformats.org/officeDocument/2006/relationships/image" Target="/ppt/media/image2.jpeg" Id="Rdd8c5956ed8647ba" /><Relationship Type="http://schemas.openxmlformats.org/officeDocument/2006/relationships/notesSlide" Target="/ppt/notesSlides/notesSlide3.xml" Id="R643e4745620a40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14912a3afc432d" /><Relationship Type="http://schemas.openxmlformats.org/officeDocument/2006/relationships/notesSlide" Target="/ppt/notesSlides/notesSlide4.xml" Id="R5ea142583cce40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f5e02779ec4e81" /><Relationship Type="http://schemas.openxmlformats.org/officeDocument/2006/relationships/image" Target="/ppt/media/image3.jpeg" Id="R27f4f203a051433a" /><Relationship Type="http://schemas.openxmlformats.org/officeDocument/2006/relationships/notesSlide" Target="/ppt/notesSlides/notesSlide5.xml" Id="R2e52cfbafb3241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93eef5bf864bad" /><Relationship Type="http://schemas.openxmlformats.org/officeDocument/2006/relationships/notesSlide" Target="/ppt/notesSlides/notesSlide6.xml" Id="R50b4aab7fca246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2e42f95e554f99" /><Relationship Type="http://schemas.openxmlformats.org/officeDocument/2006/relationships/notesSlide" Target="/ppt/notesSlides/notesSlide7.xml" Id="R5667a1e8ef9d48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4492711b164240" /><Relationship Type="http://schemas.openxmlformats.org/officeDocument/2006/relationships/notesSlide" Target="/ppt/notesSlides/notesSlide8.xml" Id="Rbb2eeb1ad15748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2b70a12b824654" /><Relationship Type="http://schemas.openxmlformats.org/officeDocument/2006/relationships/notesSlide" Target="/ppt/notesSlides/notesSlide9.xml" Id="Ra07c1b1288fd4c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5437fc52b44909" /><Relationship Type="http://schemas.openxmlformats.org/officeDocument/2006/relationships/image" Target="/ppt/media/image4.jpeg" Id="Rd3e9cb0ca5af4bbf" /><Relationship Type="http://schemas.openxmlformats.org/officeDocument/2006/relationships/notesSlide" Target="/ppt/notesSlides/notesSlide10.xml" Id="R949715f0e45d4f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a26c76713f41ed" /><Relationship Type="http://schemas.openxmlformats.org/officeDocument/2006/relationships/image" Target="/ppt/media/image5.jpeg" Id="Rd8b19d05836344c1" /><Relationship Type="http://schemas.openxmlformats.org/officeDocument/2006/relationships/notesSlide" Target="/ppt/notesSlides/notesSlide11.xml" Id="R27bf84295a104d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3d1f54e2a1452f" /><Relationship Type="http://schemas.openxmlformats.org/officeDocument/2006/relationships/notesSlide" Target="/ppt/notesSlides/notesSlide12.xml" Id="R9a91edc4097c49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f4fa642b144415" /><Relationship Type="http://schemas.openxmlformats.org/officeDocument/2006/relationships/notesSlide" Target="/ppt/notesSlides/notesSlide13.xml" Id="R1eca3dc7488d48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8f7661f16684900" /><Relationship Type="http://schemas.openxmlformats.org/officeDocument/2006/relationships/notesSlide" Target="/ppt/notesSlides/notesSlide14.xml" Id="Rcc0b5615300b45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101fd1cf18e4b27" /><Relationship Type="http://schemas.openxmlformats.org/officeDocument/2006/relationships/image" Target="/ppt/media/image6.jpeg" Id="Rdaafeef5d9fa4f18" /><Relationship Type="http://schemas.openxmlformats.org/officeDocument/2006/relationships/notesSlide" Target="/ppt/notesSlides/notesSlide15.xml" Id="Reaedc231b7d644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83e39aa793a46d0" /><Relationship Type="http://schemas.openxmlformats.org/officeDocument/2006/relationships/notesSlide" Target="/ppt/notesSlides/notesSlide16.xml" Id="R755e549afaaa4fe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E4D02F-6525-4048-BAC7-32CB3E87A963}"/>
              </a:ext>
            </a:extLst>
          </p:cNvPr>
          <p:cNvSpPr>
            <a:spLocks xmlns:a="http://schemas.openxmlformats.org/drawingml/2006/main" noGrp="1"/>
          </p:cNvSpPr>
          <p:nvPr/>
        </p:nvSpPr>
        <p:spPr>
          <a:xfrm xmlns:a="http://schemas.openxmlformats.org/drawingml/2006/main">
            <a:off x="0" y="0"/>
            <a:ext cx="4619625" cy="6858000"/>
          </a:xfrm>
          <a:prstGeom xmlns:a="http://schemas.openxmlformats.org/drawingml/2006/main" prst="rect">
            <a:avLst/>
          </a:prstGeom>
          <a:solidFill xmlns:a="http://schemas.openxmlformats.org/drawingml/2006/main">
            <a:srgbClr val="004E75"/>
          </a:solidFill>
          <a:ln xmlns:a="http://schemas.openxmlformats.org/drawingml/2006/main" w="0">
            <a:solidFill>
              <a:srgbClr val="004E75"/>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05405e8dc5b4be0"/>
          <a:stretch xmlns:a="http://schemas.openxmlformats.org/drawingml/2006/main"/>
        </p:blipFill>
        <p:spPr>
          <a:xfrm xmlns:a="http://schemas.openxmlformats.org/drawingml/2006/main">
            <a:off x="5970644" y="666750"/>
            <a:ext cx="4536962" cy="4953000"/>
          </a:xfrm>
          <a:prstGeom xmlns:a="http://schemas.openxmlformats.org/drawingml/2006/main" prst="roundRect">
            <a:avLst>
              <a:gd name="adj" fmla="val 2308"/>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70468db6152494b"/>
          <a:stretch xmlns:a="http://schemas.openxmlformats.org/drawingml/2006/main"/>
        </p:blipFill>
        <p:spPr>
          <a:xfrm xmlns:a="http://schemas.openxmlformats.org/drawingml/2006/main">
            <a:off x="1210725" y="571500"/>
            <a:ext cx="1045650" cy="87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B7219F-4654-4F91-B20D-45BB04A72503}"/>
              </a:ext>
            </a:extLst>
          </p:cNvPr>
          <p:cNvSpPr>
            <a:spLocks xmlns:a="http://schemas.openxmlformats.org/drawingml/2006/main" noGrp="1"/>
          </p:cNvSpPr>
          <p:nvPr/>
        </p:nvSpPr>
        <p:spPr>
          <a:xfrm xmlns:a="http://schemas.openxmlformats.org/drawingml/2006/main">
            <a:off x="685800" y="1857375"/>
            <a:ext cx="342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FFFFFF"/>
                </a:solidFill>
              </a:defRPr>
            </a:pPr>
            <a:r>
              <a:rPr sz="3600" b="1" i="0">
                <a:solidFill>
                  <a:srgbClr val="FFFFFF"/>
                </a:solidFill>
              </a:rPr>
              <a:t>Engaging</a:t>
            </a:r>
          </a:p>
          <a:p xmlns:a="http://schemas.openxmlformats.org/drawingml/2006/main">
            <a:pPr algn="l">
              <a:defRPr sz="3600" b="1" i="0">
                <a:solidFill>
                  <a:srgbClr val="FFFFFF"/>
                </a:solidFill>
              </a:defRPr>
            </a:pPr>
            <a:r>
              <a:rPr sz="3600" b="1" i="0">
                <a:solidFill>
                  <a:srgbClr val="FFFFFF"/>
                </a:solidFill>
              </a:rPr>
              <a:t>Local 801</a:t>
            </a:r>
          </a:p>
        </p:txBody>
      </p:sp>
      <p:sp>
        <p:nvSpPr>
          <p:cNvPr id="5" name="">
            <a:extLst xmlns:a="http://schemas.openxmlformats.org/drawingml/2006/main">
              <a:ext uri="{FF2B5EF4-FFF2-40B4-BE49-F238E27FC236}">
                <a16:creationId xmlns:a16="http://schemas.microsoft.com/office/drawing/2014/main" id="{A04EE0FB-3A1B-4020-8F97-1273F7BFD320}"/>
              </a:ext>
            </a:extLst>
          </p:cNvPr>
          <p:cNvSpPr>
            <a:spLocks xmlns:a="http://schemas.openxmlformats.org/drawingml/2006/main" noGrp="1"/>
          </p:cNvSpPr>
          <p:nvPr/>
        </p:nvSpPr>
        <p:spPr>
          <a:xfrm xmlns:a="http://schemas.openxmlformats.org/drawingml/2006/main">
            <a:off x="685800" y="34766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FFFFF"/>
                </a:solidFill>
              </a:defRPr>
            </a:pPr>
            <a:r>
              <a:rPr sz="1875" b="1" i="0">
                <a:solidFill>
                  <a:srgbClr val="FFFFFF"/>
                </a:solidFill>
              </a:rPr>
              <a:t>New user training</a:t>
            </a:r>
          </a:p>
        </p:txBody>
      </p:sp>
      <p:sp>
        <p:nvSpPr>
          <p:cNvPr id="6" name="">
            <a:extLst xmlns:a="http://schemas.openxmlformats.org/drawingml/2006/main">
              <a:ext uri="{FF2B5EF4-FFF2-40B4-BE49-F238E27FC236}">
                <a16:creationId xmlns:a16="http://schemas.microsoft.com/office/drawing/2014/main" id="{DC707B92-5FC4-45A9-B450-0895EEEA5E8B}"/>
              </a:ext>
            </a:extLst>
          </p:cNvPr>
          <p:cNvSpPr>
            <a:spLocks xmlns:a="http://schemas.openxmlformats.org/drawingml/2006/main" noGrp="1"/>
          </p:cNvSpPr>
          <p:nvPr/>
        </p:nvSpPr>
        <p:spPr>
          <a:xfrm xmlns:a="http://schemas.openxmlformats.org/drawingml/2006/main">
            <a:off x="685800" y="4152900"/>
            <a:ext cx="333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CECF4"/>
                </a:solidFill>
              </a:defRPr>
            </a:pPr>
            <a:r>
              <a:rPr sz="1650" b="0" i="0">
                <a:solidFill>
                  <a:srgbClr val="DCECF4"/>
                </a:solidFill>
              </a:rPr>
              <a:t>Sign in safely. Find your work. Record one clean outreach cycle.</a:t>
            </a:r>
          </a:p>
        </p:txBody>
      </p:sp>
      <p:sp>
        <p:nvSpPr>
          <p:cNvPr id="7" name="">
            <a:extLst xmlns:a="http://schemas.openxmlformats.org/drawingml/2006/main">
              <a:ext uri="{FF2B5EF4-FFF2-40B4-BE49-F238E27FC236}">
                <a16:creationId xmlns:a16="http://schemas.microsoft.com/office/drawing/2014/main" id="{083844A2-1AAA-48CC-A2D4-4B9539F8676A}"/>
              </a:ext>
            </a:extLst>
          </p:cNvPr>
          <p:cNvSpPr>
            <a:spLocks xmlns:a="http://schemas.openxmlformats.org/drawingml/2006/main" noGrp="1"/>
          </p:cNvSpPr>
          <p:nvPr/>
        </p:nvSpPr>
        <p:spPr>
          <a:xfrm xmlns:a="http://schemas.openxmlformats.org/drawingml/2006/main">
            <a:off x="685800" y="61722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BFD7E4"/>
                </a:solidFill>
              </a:defRPr>
            </a:pPr>
            <a:r>
              <a:rPr sz="900" b="1" i="0">
                <a:solidFill>
                  <a:srgbClr val="BFD7E4"/>
                </a:solidFill>
              </a:rPr>
              <a:t>MAPE Local 801 • 2026</a:t>
            </a:r>
          </a:p>
        </p:txBody>
      </p:sp>
    </p:spTree>
    <p:extLst>
      <p:ext uri="{BB962C8B-B14F-4D97-AF65-F5344CB8AC3E}">
        <p14:creationId xmlns:p14="http://schemas.microsoft.com/office/powerpoint/2010/main" val="10018108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489833F-28F3-4D13-A452-F4FAA46339F7}"/>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NEW USER TRAINING</a:t>
            </a:r>
          </a:p>
        </p:txBody>
      </p:sp>
      <p:sp>
        <p:nvSpPr>
          <p:cNvPr id="2" name="">
            <a:extLst xmlns:a="http://schemas.openxmlformats.org/drawingml/2006/main">
              <a:ext uri="{FF2B5EF4-FFF2-40B4-BE49-F238E27FC236}">
                <a16:creationId xmlns:a16="http://schemas.microsoft.com/office/drawing/2014/main" id="{F1E1399F-3EED-4FB8-AC97-9451043DBEAE}"/>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What you should be able to do</a:t>
            </a:r>
          </a:p>
        </p:txBody>
      </p:sp>
      <p:sp>
        <p:nvSpPr>
          <p:cNvPr id="3" name="">
            <a:extLst xmlns:a="http://schemas.openxmlformats.org/drawingml/2006/main">
              <a:ext uri="{FF2B5EF4-FFF2-40B4-BE49-F238E27FC236}">
                <a16:creationId xmlns:a16="http://schemas.microsoft.com/office/drawing/2014/main" id="{16998667-1AF9-43AF-B9F7-3BF066359548}"/>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F8F89D8F-AC81-44F1-8534-584220130D0D}"/>
              </a:ext>
            </a:extLst>
          </p:cNvPr>
          <p:cNvSpPr>
            <a:spLocks xmlns:a="http://schemas.openxmlformats.org/drawingml/2006/main" noGrp="1"/>
          </p:cNvSpPr>
          <p:nvPr/>
        </p:nvSpPr>
        <p:spPr>
          <a:xfrm xmlns:a="http://schemas.openxmlformats.org/drawingml/2006/main">
            <a:off x="685800" y="18478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5" name="">
            <a:extLst xmlns:a="http://schemas.openxmlformats.org/drawingml/2006/main">
              <a:ext uri="{FF2B5EF4-FFF2-40B4-BE49-F238E27FC236}">
                <a16:creationId xmlns:a16="http://schemas.microsoft.com/office/drawing/2014/main" id="{53A941E8-91F3-4344-8E2E-5E809653CE6F}"/>
              </a:ext>
            </a:extLst>
          </p:cNvPr>
          <p:cNvSpPr>
            <a:spLocks xmlns:a="http://schemas.openxmlformats.org/drawingml/2006/main" noGrp="1"/>
          </p:cNvSpPr>
          <p:nvPr/>
        </p:nvSpPr>
        <p:spPr>
          <a:xfrm xmlns:a="http://schemas.openxmlformats.org/drawingml/2006/main">
            <a:off x="685800" y="18859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1</a:t>
            </a:r>
          </a:p>
        </p:txBody>
      </p:sp>
      <p:sp>
        <p:nvSpPr>
          <p:cNvPr id="6" name="">
            <a:extLst xmlns:a="http://schemas.openxmlformats.org/drawingml/2006/main">
              <a:ext uri="{FF2B5EF4-FFF2-40B4-BE49-F238E27FC236}">
                <a16:creationId xmlns:a16="http://schemas.microsoft.com/office/drawing/2014/main" id="{C9AEA48A-51C6-4CBC-9A72-3E0D0CF5BD33}"/>
              </a:ext>
            </a:extLst>
          </p:cNvPr>
          <p:cNvSpPr>
            <a:spLocks xmlns:a="http://schemas.openxmlformats.org/drawingml/2006/main" noGrp="1"/>
          </p:cNvSpPr>
          <p:nvPr/>
        </p:nvSpPr>
        <p:spPr>
          <a:xfrm xmlns:a="http://schemas.openxmlformats.org/drawingml/2006/main">
            <a:off x="1295400" y="17716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Sign in</a:t>
            </a:r>
          </a:p>
        </p:txBody>
      </p:sp>
      <p:sp>
        <p:nvSpPr>
          <p:cNvPr id="7" name="">
            <a:extLst xmlns:a="http://schemas.openxmlformats.org/drawingml/2006/main">
              <a:ext uri="{FF2B5EF4-FFF2-40B4-BE49-F238E27FC236}">
                <a16:creationId xmlns:a16="http://schemas.microsoft.com/office/drawing/2014/main" id="{864EAE45-2561-46B6-9E5B-0D46C0D537B6}"/>
              </a:ext>
            </a:extLst>
          </p:cNvPr>
          <p:cNvSpPr>
            <a:spLocks xmlns:a="http://schemas.openxmlformats.org/drawingml/2006/main" noGrp="1"/>
          </p:cNvSpPr>
          <p:nvPr/>
        </p:nvSpPr>
        <p:spPr>
          <a:xfrm xmlns:a="http://schemas.openxmlformats.org/drawingml/2006/main">
            <a:off x="1295400" y="2247900"/>
            <a:ext cx="428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526A7A"/>
                </a:solidFill>
              </a:defRPr>
            </a:pPr>
            <a:r>
              <a:rPr sz="1500" b="0" i="0">
                <a:solidFill>
                  <a:srgbClr val="526A7A"/>
                </a:solidFill>
              </a:rPr>
              <a:t>Use the invited Microsoft account and complete MFA.</a:t>
            </a:r>
          </a:p>
        </p:txBody>
      </p:sp>
      <p:sp>
        <p:nvSpPr>
          <p:cNvPr id="8" name="">
            <a:extLst xmlns:a="http://schemas.openxmlformats.org/drawingml/2006/main">
              <a:ext uri="{FF2B5EF4-FFF2-40B4-BE49-F238E27FC236}">
                <a16:creationId xmlns:a16="http://schemas.microsoft.com/office/drawing/2014/main" id="{6033F7F1-8DAF-4439-9DB1-E9CAF34171A0}"/>
              </a:ext>
            </a:extLst>
          </p:cNvPr>
          <p:cNvSpPr>
            <a:spLocks xmlns:a="http://schemas.openxmlformats.org/drawingml/2006/main" noGrp="1"/>
          </p:cNvSpPr>
          <p:nvPr/>
        </p:nvSpPr>
        <p:spPr>
          <a:xfrm xmlns:a="http://schemas.openxmlformats.org/drawingml/2006/main">
            <a:off x="6115050" y="18478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9" name="">
            <a:extLst xmlns:a="http://schemas.openxmlformats.org/drawingml/2006/main">
              <a:ext uri="{FF2B5EF4-FFF2-40B4-BE49-F238E27FC236}">
                <a16:creationId xmlns:a16="http://schemas.microsoft.com/office/drawing/2014/main" id="{340B62E6-9422-4D33-BC7E-2AB882BA1FB2}"/>
              </a:ext>
            </a:extLst>
          </p:cNvPr>
          <p:cNvSpPr>
            <a:spLocks xmlns:a="http://schemas.openxmlformats.org/drawingml/2006/main" noGrp="1"/>
          </p:cNvSpPr>
          <p:nvPr/>
        </p:nvSpPr>
        <p:spPr>
          <a:xfrm xmlns:a="http://schemas.openxmlformats.org/drawingml/2006/main">
            <a:off x="6115050" y="18859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2</a:t>
            </a:r>
          </a:p>
        </p:txBody>
      </p:sp>
      <p:sp>
        <p:nvSpPr>
          <p:cNvPr id="10" name="">
            <a:extLst xmlns:a="http://schemas.openxmlformats.org/drawingml/2006/main">
              <a:ext uri="{FF2B5EF4-FFF2-40B4-BE49-F238E27FC236}">
                <a16:creationId xmlns:a16="http://schemas.microsoft.com/office/drawing/2014/main" id="{E1B523BF-66F3-4F2E-9A6E-FF5D3C52A236}"/>
              </a:ext>
            </a:extLst>
          </p:cNvPr>
          <p:cNvSpPr>
            <a:spLocks xmlns:a="http://schemas.openxmlformats.org/drawingml/2006/main" noGrp="1"/>
          </p:cNvSpPr>
          <p:nvPr/>
        </p:nvSpPr>
        <p:spPr>
          <a:xfrm xmlns:a="http://schemas.openxmlformats.org/drawingml/2006/main">
            <a:off x="6724650" y="17716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Find the work</a:t>
            </a:r>
          </a:p>
        </p:txBody>
      </p:sp>
      <p:sp>
        <p:nvSpPr>
          <p:cNvPr id="11" name="">
            <a:extLst xmlns:a="http://schemas.openxmlformats.org/drawingml/2006/main">
              <a:ext uri="{FF2B5EF4-FFF2-40B4-BE49-F238E27FC236}">
                <a16:creationId xmlns:a16="http://schemas.microsoft.com/office/drawing/2014/main" id="{FC6E0D16-4C3B-403A-9911-7021D6B5FF63}"/>
              </a:ext>
            </a:extLst>
          </p:cNvPr>
          <p:cNvSpPr>
            <a:spLocks xmlns:a="http://schemas.openxmlformats.org/drawingml/2006/main" noGrp="1"/>
          </p:cNvSpPr>
          <p:nvPr/>
        </p:nvSpPr>
        <p:spPr>
          <a:xfrm xmlns:a="http://schemas.openxmlformats.org/drawingml/2006/main">
            <a:off x="6724650" y="2247900"/>
            <a:ext cx="428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526A7A"/>
                </a:solidFill>
              </a:defRPr>
            </a:pPr>
            <a:r>
              <a:rPr sz="1500" b="0" i="0">
                <a:solidFill>
                  <a:srgbClr val="526A7A"/>
                </a:solidFill>
              </a:rPr>
              <a:t>Move from Member outreach to the right person and task.</a:t>
            </a:r>
          </a:p>
        </p:txBody>
      </p:sp>
      <p:sp>
        <p:nvSpPr>
          <p:cNvPr id="12" name="">
            <a:extLst xmlns:a="http://schemas.openxmlformats.org/drawingml/2006/main">
              <a:ext uri="{FF2B5EF4-FFF2-40B4-BE49-F238E27FC236}">
                <a16:creationId xmlns:a16="http://schemas.microsoft.com/office/drawing/2014/main" id="{5B353E2B-BFCB-4136-BA72-F2402D5F4DE3}"/>
              </a:ext>
            </a:extLst>
          </p:cNvPr>
          <p:cNvSpPr>
            <a:spLocks xmlns:a="http://schemas.openxmlformats.org/drawingml/2006/main" noGrp="1"/>
          </p:cNvSpPr>
          <p:nvPr/>
        </p:nvSpPr>
        <p:spPr>
          <a:xfrm xmlns:a="http://schemas.openxmlformats.org/drawingml/2006/main">
            <a:off x="685800" y="384810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3" name="">
            <a:extLst xmlns:a="http://schemas.openxmlformats.org/drawingml/2006/main">
              <a:ext uri="{FF2B5EF4-FFF2-40B4-BE49-F238E27FC236}">
                <a16:creationId xmlns:a16="http://schemas.microsoft.com/office/drawing/2014/main" id="{2DB08D68-B312-4575-B8A2-EDF86B1A177F}"/>
              </a:ext>
            </a:extLst>
          </p:cNvPr>
          <p:cNvSpPr>
            <a:spLocks xmlns:a="http://schemas.openxmlformats.org/drawingml/2006/main" noGrp="1"/>
          </p:cNvSpPr>
          <p:nvPr/>
        </p:nvSpPr>
        <p:spPr>
          <a:xfrm xmlns:a="http://schemas.openxmlformats.org/drawingml/2006/main">
            <a:off x="685800" y="38862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3</a:t>
            </a:r>
          </a:p>
        </p:txBody>
      </p:sp>
      <p:sp>
        <p:nvSpPr>
          <p:cNvPr id="14" name="">
            <a:extLst xmlns:a="http://schemas.openxmlformats.org/drawingml/2006/main">
              <a:ext uri="{FF2B5EF4-FFF2-40B4-BE49-F238E27FC236}">
                <a16:creationId xmlns:a16="http://schemas.microsoft.com/office/drawing/2014/main" id="{3E1A33D1-ADC1-4DD2-8EF1-EABB57E49A80}"/>
              </a:ext>
            </a:extLst>
          </p:cNvPr>
          <p:cNvSpPr>
            <a:spLocks xmlns:a="http://schemas.openxmlformats.org/drawingml/2006/main" noGrp="1"/>
          </p:cNvSpPr>
          <p:nvPr/>
        </p:nvSpPr>
        <p:spPr>
          <a:xfrm xmlns:a="http://schemas.openxmlformats.org/drawingml/2006/main">
            <a:off x="1295400" y="37719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Leave a clean record</a:t>
            </a:r>
          </a:p>
        </p:txBody>
      </p:sp>
      <p:sp>
        <p:nvSpPr>
          <p:cNvPr id="15" name="">
            <a:extLst xmlns:a="http://schemas.openxmlformats.org/drawingml/2006/main">
              <a:ext uri="{FF2B5EF4-FFF2-40B4-BE49-F238E27FC236}">
                <a16:creationId xmlns:a16="http://schemas.microsoft.com/office/drawing/2014/main" id="{121E1D84-7320-4910-BE8F-D023C550DB8A}"/>
              </a:ext>
            </a:extLst>
          </p:cNvPr>
          <p:cNvSpPr>
            <a:spLocks xmlns:a="http://schemas.openxmlformats.org/drawingml/2006/main" noGrp="1"/>
          </p:cNvSpPr>
          <p:nvPr/>
        </p:nvSpPr>
        <p:spPr>
          <a:xfrm xmlns:a="http://schemas.openxmlformats.org/drawingml/2006/main">
            <a:off x="1295400" y="4248150"/>
            <a:ext cx="428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526A7A"/>
                </a:solidFill>
              </a:defRPr>
            </a:pPr>
            <a:r>
              <a:rPr sz="1500" b="0" i="0">
                <a:solidFill>
                  <a:srgbClr val="526A7A"/>
                </a:solidFill>
              </a:rPr>
              <a:t>Record the conversation, readiness, and next step.</a:t>
            </a:r>
          </a:p>
        </p:txBody>
      </p:sp>
      <p:sp>
        <p:nvSpPr>
          <p:cNvPr id="16" name="">
            <a:extLst xmlns:a="http://schemas.openxmlformats.org/drawingml/2006/main">
              <a:ext uri="{FF2B5EF4-FFF2-40B4-BE49-F238E27FC236}">
                <a16:creationId xmlns:a16="http://schemas.microsoft.com/office/drawing/2014/main" id="{0F07FA85-6767-49EB-8FD5-3211802ED25E}"/>
              </a:ext>
            </a:extLst>
          </p:cNvPr>
          <p:cNvSpPr>
            <a:spLocks xmlns:a="http://schemas.openxmlformats.org/drawingml/2006/main" noGrp="1"/>
          </p:cNvSpPr>
          <p:nvPr/>
        </p:nvSpPr>
        <p:spPr>
          <a:xfrm xmlns:a="http://schemas.openxmlformats.org/drawingml/2006/main">
            <a:off x="6115050" y="3848100"/>
            <a:ext cx="400050" cy="400050"/>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7" name="">
            <a:extLst xmlns:a="http://schemas.openxmlformats.org/drawingml/2006/main">
              <a:ext uri="{FF2B5EF4-FFF2-40B4-BE49-F238E27FC236}">
                <a16:creationId xmlns:a16="http://schemas.microsoft.com/office/drawing/2014/main" id="{FED801CE-9263-4AFF-B7E1-5401E0E6AD1C}"/>
              </a:ext>
            </a:extLst>
          </p:cNvPr>
          <p:cNvSpPr>
            <a:spLocks xmlns:a="http://schemas.openxmlformats.org/drawingml/2006/main" noGrp="1"/>
          </p:cNvSpPr>
          <p:nvPr/>
        </p:nvSpPr>
        <p:spPr>
          <a:xfrm xmlns:a="http://schemas.openxmlformats.org/drawingml/2006/main">
            <a:off x="6115050" y="38862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4</a:t>
            </a:r>
          </a:p>
        </p:txBody>
      </p:sp>
      <p:sp>
        <p:nvSpPr>
          <p:cNvPr id="18" name="">
            <a:extLst xmlns:a="http://schemas.openxmlformats.org/drawingml/2006/main">
              <a:ext uri="{FF2B5EF4-FFF2-40B4-BE49-F238E27FC236}">
                <a16:creationId xmlns:a16="http://schemas.microsoft.com/office/drawing/2014/main" id="{35EBC02A-4A5B-4320-8D4B-A43E89E3231C}"/>
              </a:ext>
            </a:extLst>
          </p:cNvPr>
          <p:cNvSpPr>
            <a:spLocks xmlns:a="http://schemas.openxmlformats.org/drawingml/2006/main" noGrp="1"/>
          </p:cNvSpPr>
          <p:nvPr/>
        </p:nvSpPr>
        <p:spPr>
          <a:xfrm xmlns:a="http://schemas.openxmlformats.org/drawingml/2006/main">
            <a:off x="6724650" y="37719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Know when to stop</a:t>
            </a:r>
          </a:p>
        </p:txBody>
      </p:sp>
      <p:sp>
        <p:nvSpPr>
          <p:cNvPr id="19" name="">
            <a:extLst xmlns:a="http://schemas.openxmlformats.org/drawingml/2006/main">
              <a:ext uri="{FF2B5EF4-FFF2-40B4-BE49-F238E27FC236}">
                <a16:creationId xmlns:a16="http://schemas.microsoft.com/office/drawing/2014/main" id="{B57EF0E6-27F1-493D-9B31-3F97F1A85ABF}"/>
              </a:ext>
            </a:extLst>
          </p:cNvPr>
          <p:cNvSpPr>
            <a:spLocks xmlns:a="http://schemas.openxmlformats.org/drawingml/2006/main" noGrp="1"/>
          </p:cNvSpPr>
          <p:nvPr/>
        </p:nvSpPr>
        <p:spPr>
          <a:xfrm xmlns:a="http://schemas.openxmlformats.org/drawingml/2006/main">
            <a:off x="6724650" y="4248150"/>
            <a:ext cx="428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526A7A"/>
                </a:solidFill>
              </a:defRPr>
            </a:pPr>
            <a:r>
              <a:rPr sz="1500" b="0" i="0">
                <a:solidFill>
                  <a:srgbClr val="526A7A"/>
                </a:solidFill>
              </a:rPr>
              <a:t>Verify uncertain saves and ask for help without exposing data.</a:t>
            </a:r>
          </a:p>
        </p:txBody>
      </p:sp>
      <p:sp>
        <p:nvSpPr>
          <p:cNvPr id="20" name="">
            <a:extLst xmlns:a="http://schemas.openxmlformats.org/drawingml/2006/main">
              <a:ext uri="{FF2B5EF4-FFF2-40B4-BE49-F238E27FC236}">
                <a16:creationId xmlns:a16="http://schemas.microsoft.com/office/drawing/2014/main" id="{747B4DE3-0455-4C7E-A66C-7592258DE2C9}"/>
              </a:ext>
            </a:extLst>
          </p:cNvPr>
          <p:cNvSpPr>
            <a:spLocks xmlns:a="http://schemas.openxmlformats.org/drawingml/2006/main" noGrp="1"/>
          </p:cNvSpPr>
          <p:nvPr/>
        </p:nvSpPr>
        <p:spPr>
          <a:xfrm xmlns:a="http://schemas.openxmlformats.org/drawingml/2006/main">
            <a:off x="685800" y="5581650"/>
            <a:ext cx="10820400" cy="552450"/>
          </a:xfrm>
          <a:prstGeom xmlns:a="http://schemas.openxmlformats.org/drawingml/2006/main" prst="roundRect">
            <a:avLst>
              <a:gd name="adj" fmla="val 13793"/>
            </a:avLst>
          </a:prstGeom>
          <a:solidFill xmlns:a="http://schemas.openxmlformats.org/drawingml/2006/main">
            <a:srgbClr val="FFF2C7"/>
          </a:solidFill>
          <a:ln xmlns:a="http://schemas.openxmlformats.org/drawingml/2006/main" w="9525">
            <a:solidFill>
              <a:srgbClr val="EACB70"/>
            </a:solidFill>
            <a:prstDash val="solid"/>
          </a:ln>
        </p:spPr>
      </p:sp>
      <p:sp>
        <p:nvSpPr>
          <p:cNvPr id="21" name="">
            <a:extLst xmlns:a="http://schemas.openxmlformats.org/drawingml/2006/main">
              <a:ext uri="{FF2B5EF4-FFF2-40B4-BE49-F238E27FC236}">
                <a16:creationId xmlns:a16="http://schemas.microsoft.com/office/drawing/2014/main" id="{0D4A286F-4B36-46B9-85AD-45A69D336FA2}"/>
              </a:ext>
            </a:extLst>
          </p:cNvPr>
          <p:cNvSpPr>
            <a:spLocks xmlns:a="http://schemas.openxmlformats.org/drawingml/2006/main" noGrp="1"/>
          </p:cNvSpPr>
          <p:nvPr/>
        </p:nvSpPr>
        <p:spPr>
          <a:xfrm xmlns:a="http://schemas.openxmlformats.org/drawingml/2006/main">
            <a:off x="914400" y="5743575"/>
            <a:ext cx="1036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02A43"/>
                </a:solidFill>
              </a:defRPr>
            </a:pPr>
            <a:r>
              <a:rPr sz="1500" b="1" i="0">
                <a:solidFill>
                  <a:srgbClr val="102A43"/>
                </a:solidFill>
              </a:rPr>
              <a:t>The rule throughout: work from the current CAT record. Do not guess what happened.</a:t>
            </a:r>
          </a:p>
        </p:txBody>
      </p:sp>
      <p:sp>
        <p:nvSpPr>
          <p:cNvPr id="22" name="">
            <a:extLst xmlns:a="http://schemas.openxmlformats.org/drawingml/2006/main">
              <a:ext uri="{FF2B5EF4-FFF2-40B4-BE49-F238E27FC236}">
                <a16:creationId xmlns:a16="http://schemas.microsoft.com/office/drawing/2014/main" id="{2CB41D79-46ED-4640-B293-EE229B11B17E}"/>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3" name="">
            <a:extLst xmlns:a="http://schemas.openxmlformats.org/drawingml/2006/main">
              <a:ext uri="{FF2B5EF4-FFF2-40B4-BE49-F238E27FC236}">
                <a16:creationId xmlns:a16="http://schemas.microsoft.com/office/drawing/2014/main" id="{2F296677-7F77-4104-8DD0-DE63030B7B13}"/>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4" name="">
            <a:extLst xmlns:a="http://schemas.openxmlformats.org/drawingml/2006/main">
              <a:ext uri="{FF2B5EF4-FFF2-40B4-BE49-F238E27FC236}">
                <a16:creationId xmlns:a16="http://schemas.microsoft.com/office/drawing/2014/main" id="{FFBDE949-0B7E-46DC-9F6F-B80D2B89B829}"/>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02</a:t>
            </a:r>
          </a:p>
        </p:txBody>
      </p:sp>
    </p:spTree>
    <p:extLst>
      <p:ext uri="{BB962C8B-B14F-4D97-AF65-F5344CB8AC3E}">
        <p14:creationId xmlns:p14="http://schemas.microsoft.com/office/powerpoint/2010/main" val="20408951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777F1A9-E457-432A-B16D-03D6F98FB8AA}"/>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SIGN-IN</a:t>
            </a:r>
          </a:p>
        </p:txBody>
      </p:sp>
      <p:sp>
        <p:nvSpPr>
          <p:cNvPr id="2" name="">
            <a:extLst xmlns:a="http://schemas.openxmlformats.org/drawingml/2006/main">
              <a:ext uri="{FF2B5EF4-FFF2-40B4-BE49-F238E27FC236}">
                <a16:creationId xmlns:a16="http://schemas.microsoft.com/office/drawing/2014/main" id="{6590A988-9F2E-49F0-A418-CFEDCC3FC985}"/>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Access has four checks</a:t>
            </a:r>
          </a:p>
        </p:txBody>
      </p:sp>
      <p:sp>
        <p:nvSpPr>
          <p:cNvPr id="3" name="">
            <a:extLst xmlns:a="http://schemas.openxmlformats.org/drawingml/2006/main">
              <a:ext uri="{FF2B5EF4-FFF2-40B4-BE49-F238E27FC236}">
                <a16:creationId xmlns:a16="http://schemas.microsoft.com/office/drawing/2014/main" id="{8337D899-560B-438E-8F63-394B0F08B1B5}"/>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d8c5956ed8647ba"/>
          <a:stretch xmlns:a="http://schemas.openxmlformats.org/drawingml/2006/main"/>
        </p:blipFill>
        <p:spPr>
          <a:xfrm xmlns:a="http://schemas.openxmlformats.org/drawingml/2006/main">
            <a:off x="7163366" y="1676400"/>
            <a:ext cx="3751719" cy="4095750"/>
          </a:xfrm>
          <a:prstGeom xmlns:a="http://schemas.openxmlformats.org/drawingml/2006/main" prst="roundRect">
            <a:avLst>
              <a:gd name="adj" fmla="val 2791"/>
            </a:avLst>
          </a:prstGeom>
        </p:spPr>
      </p:pic>
      <p:sp>
        <p:nvSpPr>
          <p:cNvPr id="5" name="">
            <a:extLst xmlns:a="http://schemas.openxmlformats.org/drawingml/2006/main">
              <a:ext uri="{FF2B5EF4-FFF2-40B4-BE49-F238E27FC236}">
                <a16:creationId xmlns:a16="http://schemas.microsoft.com/office/drawing/2014/main" id="{EDCE7B44-F2E1-4C26-A288-DFA37BCBED82}"/>
              </a:ext>
            </a:extLst>
          </p:cNvPr>
          <p:cNvSpPr>
            <a:spLocks xmlns:a="http://schemas.openxmlformats.org/drawingml/2006/main" noGrp="1"/>
          </p:cNvSpPr>
          <p:nvPr/>
        </p:nvSpPr>
        <p:spPr>
          <a:xfrm xmlns:a="http://schemas.openxmlformats.org/drawingml/2006/main">
            <a:off x="742950" y="16954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6" name="">
            <a:extLst xmlns:a="http://schemas.openxmlformats.org/drawingml/2006/main">
              <a:ext uri="{FF2B5EF4-FFF2-40B4-BE49-F238E27FC236}">
                <a16:creationId xmlns:a16="http://schemas.microsoft.com/office/drawing/2014/main" id="{4107E272-CE0F-48E4-A997-8F12E9F3D622}"/>
              </a:ext>
            </a:extLst>
          </p:cNvPr>
          <p:cNvSpPr>
            <a:spLocks xmlns:a="http://schemas.openxmlformats.org/drawingml/2006/main" noGrp="1"/>
          </p:cNvSpPr>
          <p:nvPr/>
        </p:nvSpPr>
        <p:spPr>
          <a:xfrm xmlns:a="http://schemas.openxmlformats.org/drawingml/2006/main">
            <a:off x="742950" y="17335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1</a:t>
            </a:r>
          </a:p>
        </p:txBody>
      </p:sp>
      <p:sp>
        <p:nvSpPr>
          <p:cNvPr id="7" name="">
            <a:extLst xmlns:a="http://schemas.openxmlformats.org/drawingml/2006/main">
              <a:ext uri="{FF2B5EF4-FFF2-40B4-BE49-F238E27FC236}">
                <a16:creationId xmlns:a16="http://schemas.microsoft.com/office/drawing/2014/main" id="{3BE9DD0B-B2AF-4EBE-89A5-CF929EF689B4}"/>
              </a:ext>
            </a:extLst>
          </p:cNvPr>
          <p:cNvSpPr>
            <a:spLocks xmlns:a="http://schemas.openxmlformats.org/drawingml/2006/main" noGrp="1"/>
          </p:cNvSpPr>
          <p:nvPr/>
        </p:nvSpPr>
        <p:spPr>
          <a:xfrm xmlns:a="http://schemas.openxmlformats.org/drawingml/2006/main">
            <a:off x="1314450" y="16764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2A43"/>
                </a:solidFill>
              </a:defRPr>
            </a:pPr>
            <a:r>
              <a:rPr sz="1575" b="1" i="0">
                <a:solidFill>
                  <a:srgbClr val="102A43"/>
                </a:solidFill>
              </a:rPr>
              <a:t>Approved identity</a:t>
            </a:r>
          </a:p>
        </p:txBody>
      </p:sp>
      <p:sp>
        <p:nvSpPr>
          <p:cNvPr id="8" name="">
            <a:extLst xmlns:a="http://schemas.openxmlformats.org/drawingml/2006/main">
              <a:ext uri="{FF2B5EF4-FFF2-40B4-BE49-F238E27FC236}">
                <a16:creationId xmlns:a16="http://schemas.microsoft.com/office/drawing/2014/main" id="{8A65C15B-5335-443E-9E60-380C82AA4790}"/>
              </a:ext>
            </a:extLst>
          </p:cNvPr>
          <p:cNvSpPr>
            <a:spLocks xmlns:a="http://schemas.openxmlformats.org/drawingml/2006/main" noGrp="1"/>
          </p:cNvSpPr>
          <p:nvPr/>
        </p:nvSpPr>
        <p:spPr>
          <a:xfrm xmlns:a="http://schemas.openxmlformats.org/drawingml/2006/main">
            <a:off x="1314450" y="20288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26A7A"/>
                </a:solidFill>
              </a:defRPr>
            </a:pPr>
            <a:r>
              <a:rPr sz="1275" b="0" i="0">
                <a:solidFill>
                  <a:srgbClr val="526A7A"/>
                </a:solidFill>
              </a:rPr>
              <a:t>Use the exact personal Microsoft account named in the invitation.</a:t>
            </a:r>
          </a:p>
        </p:txBody>
      </p:sp>
      <p:sp>
        <p:nvSpPr>
          <p:cNvPr id="9" name="">
            <a:extLst xmlns:a="http://schemas.openxmlformats.org/drawingml/2006/main">
              <a:ext uri="{FF2B5EF4-FFF2-40B4-BE49-F238E27FC236}">
                <a16:creationId xmlns:a16="http://schemas.microsoft.com/office/drawing/2014/main" id="{35A6842E-5CC1-4F7F-A5D1-F76A2128CF38}"/>
              </a:ext>
            </a:extLst>
          </p:cNvPr>
          <p:cNvSpPr>
            <a:spLocks xmlns:a="http://schemas.openxmlformats.org/drawingml/2006/main" noGrp="1"/>
          </p:cNvSpPr>
          <p:nvPr/>
        </p:nvSpPr>
        <p:spPr>
          <a:xfrm xmlns:a="http://schemas.openxmlformats.org/drawingml/2006/main">
            <a:off x="742950" y="27241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0" name="">
            <a:extLst xmlns:a="http://schemas.openxmlformats.org/drawingml/2006/main">
              <a:ext uri="{FF2B5EF4-FFF2-40B4-BE49-F238E27FC236}">
                <a16:creationId xmlns:a16="http://schemas.microsoft.com/office/drawing/2014/main" id="{0C505CEB-9888-4E64-B6E5-8D478E14C4FC}"/>
              </a:ext>
            </a:extLst>
          </p:cNvPr>
          <p:cNvSpPr>
            <a:spLocks xmlns:a="http://schemas.openxmlformats.org/drawingml/2006/main" noGrp="1"/>
          </p:cNvSpPr>
          <p:nvPr/>
        </p:nvSpPr>
        <p:spPr>
          <a:xfrm xmlns:a="http://schemas.openxmlformats.org/drawingml/2006/main">
            <a:off x="742950" y="27622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2</a:t>
            </a:r>
          </a:p>
        </p:txBody>
      </p:sp>
      <p:sp>
        <p:nvSpPr>
          <p:cNvPr id="11" name="">
            <a:extLst xmlns:a="http://schemas.openxmlformats.org/drawingml/2006/main">
              <a:ext uri="{FF2B5EF4-FFF2-40B4-BE49-F238E27FC236}">
                <a16:creationId xmlns:a16="http://schemas.microsoft.com/office/drawing/2014/main" id="{3DD80BA0-22C4-436D-A3D1-81E9F51A6BC5}"/>
              </a:ext>
            </a:extLst>
          </p:cNvPr>
          <p:cNvSpPr>
            <a:spLocks xmlns:a="http://schemas.openxmlformats.org/drawingml/2006/main" noGrp="1"/>
          </p:cNvSpPr>
          <p:nvPr/>
        </p:nvSpPr>
        <p:spPr>
          <a:xfrm xmlns:a="http://schemas.openxmlformats.org/drawingml/2006/main">
            <a:off x="1314450" y="27051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2A43"/>
                </a:solidFill>
              </a:defRPr>
            </a:pPr>
            <a:r>
              <a:rPr sz="1575" b="1" i="0">
                <a:solidFill>
                  <a:srgbClr val="102A43"/>
                </a:solidFill>
              </a:rPr>
              <a:t>Active CAT account</a:t>
            </a:r>
          </a:p>
        </p:txBody>
      </p:sp>
      <p:sp>
        <p:nvSpPr>
          <p:cNvPr id="12" name="">
            <a:extLst xmlns:a="http://schemas.openxmlformats.org/drawingml/2006/main">
              <a:ext uri="{FF2B5EF4-FFF2-40B4-BE49-F238E27FC236}">
                <a16:creationId xmlns:a16="http://schemas.microsoft.com/office/drawing/2014/main" id="{24863D34-3E18-406C-9DA5-503CFB5F5891}"/>
              </a:ext>
            </a:extLst>
          </p:cNvPr>
          <p:cNvSpPr>
            <a:spLocks xmlns:a="http://schemas.openxmlformats.org/drawingml/2006/main" noGrp="1"/>
          </p:cNvSpPr>
          <p:nvPr/>
        </p:nvSpPr>
        <p:spPr>
          <a:xfrm xmlns:a="http://schemas.openxmlformats.org/drawingml/2006/main">
            <a:off x="1314450" y="30575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26A7A"/>
                </a:solidFill>
              </a:defRPr>
            </a:pPr>
            <a:r>
              <a:rPr sz="1275" b="0" i="0">
                <a:solidFill>
                  <a:srgbClr val="526A7A"/>
                </a:solidFill>
              </a:rPr>
              <a:t>An administrator must have created and activated the CAT user.</a:t>
            </a:r>
          </a:p>
        </p:txBody>
      </p:sp>
      <p:sp>
        <p:nvSpPr>
          <p:cNvPr id="13" name="">
            <a:extLst xmlns:a="http://schemas.openxmlformats.org/drawingml/2006/main">
              <a:ext uri="{FF2B5EF4-FFF2-40B4-BE49-F238E27FC236}">
                <a16:creationId xmlns:a16="http://schemas.microsoft.com/office/drawing/2014/main" id="{6C33D5E1-6685-4C80-8878-859B2121781B}"/>
              </a:ext>
            </a:extLst>
          </p:cNvPr>
          <p:cNvSpPr>
            <a:spLocks xmlns:a="http://schemas.openxmlformats.org/drawingml/2006/main" noGrp="1"/>
          </p:cNvSpPr>
          <p:nvPr/>
        </p:nvSpPr>
        <p:spPr>
          <a:xfrm xmlns:a="http://schemas.openxmlformats.org/drawingml/2006/main">
            <a:off x="742950" y="37528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4" name="">
            <a:extLst xmlns:a="http://schemas.openxmlformats.org/drawingml/2006/main">
              <a:ext uri="{FF2B5EF4-FFF2-40B4-BE49-F238E27FC236}">
                <a16:creationId xmlns:a16="http://schemas.microsoft.com/office/drawing/2014/main" id="{5F5B829E-0B11-410E-82A2-5280ACAF49C4}"/>
              </a:ext>
            </a:extLst>
          </p:cNvPr>
          <p:cNvSpPr>
            <a:spLocks xmlns:a="http://schemas.openxmlformats.org/drawingml/2006/main" noGrp="1"/>
          </p:cNvSpPr>
          <p:nvPr/>
        </p:nvSpPr>
        <p:spPr>
          <a:xfrm xmlns:a="http://schemas.openxmlformats.org/drawingml/2006/main">
            <a:off x="742950" y="37909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3</a:t>
            </a:r>
          </a:p>
        </p:txBody>
      </p:sp>
      <p:sp>
        <p:nvSpPr>
          <p:cNvPr id="15" name="">
            <a:extLst xmlns:a="http://schemas.openxmlformats.org/drawingml/2006/main">
              <a:ext uri="{FF2B5EF4-FFF2-40B4-BE49-F238E27FC236}">
                <a16:creationId xmlns:a16="http://schemas.microsoft.com/office/drawing/2014/main" id="{337060EE-4F46-4F71-B2FE-55AB0662AE13}"/>
              </a:ext>
            </a:extLst>
          </p:cNvPr>
          <p:cNvSpPr>
            <a:spLocks xmlns:a="http://schemas.openxmlformats.org/drawingml/2006/main" noGrp="1"/>
          </p:cNvSpPr>
          <p:nvPr/>
        </p:nvSpPr>
        <p:spPr>
          <a:xfrm xmlns:a="http://schemas.openxmlformats.org/drawingml/2006/main">
            <a:off x="1314450" y="37338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2A43"/>
                </a:solidFill>
              </a:defRPr>
            </a:pPr>
            <a:r>
              <a:rPr sz="1575" b="1" i="0">
                <a:solidFill>
                  <a:srgbClr val="102A43"/>
                </a:solidFill>
              </a:rPr>
              <a:t>One assigned role</a:t>
            </a:r>
          </a:p>
        </p:txBody>
      </p:sp>
      <p:sp>
        <p:nvSpPr>
          <p:cNvPr id="16" name="">
            <a:extLst xmlns:a="http://schemas.openxmlformats.org/drawingml/2006/main">
              <a:ext uri="{FF2B5EF4-FFF2-40B4-BE49-F238E27FC236}">
                <a16:creationId xmlns:a16="http://schemas.microsoft.com/office/drawing/2014/main" id="{7705A59F-CBEA-415F-B75D-2A5BB4C9E5B4}"/>
              </a:ext>
            </a:extLst>
          </p:cNvPr>
          <p:cNvSpPr>
            <a:spLocks xmlns:a="http://schemas.openxmlformats.org/drawingml/2006/main" noGrp="1"/>
          </p:cNvSpPr>
          <p:nvPr/>
        </p:nvSpPr>
        <p:spPr>
          <a:xfrm xmlns:a="http://schemas.openxmlformats.org/drawingml/2006/main">
            <a:off x="1314450" y="40862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26A7A"/>
                </a:solidFill>
              </a:defRPr>
            </a:pPr>
            <a:r>
              <a:rPr sz="1275" b="0" i="0">
                <a:solidFill>
                  <a:srgbClr val="526A7A"/>
                </a:solidFill>
              </a:rPr>
              <a:t>Your role controls which pages and records you can use.</a:t>
            </a:r>
          </a:p>
        </p:txBody>
      </p:sp>
      <p:sp>
        <p:nvSpPr>
          <p:cNvPr id="17" name="">
            <a:extLst xmlns:a="http://schemas.openxmlformats.org/drawingml/2006/main">
              <a:ext uri="{FF2B5EF4-FFF2-40B4-BE49-F238E27FC236}">
                <a16:creationId xmlns:a16="http://schemas.microsoft.com/office/drawing/2014/main" id="{19EA5511-7F3D-4E7A-B93C-1A2F84494694}"/>
              </a:ext>
            </a:extLst>
          </p:cNvPr>
          <p:cNvSpPr>
            <a:spLocks xmlns:a="http://schemas.openxmlformats.org/drawingml/2006/main" noGrp="1"/>
          </p:cNvSpPr>
          <p:nvPr/>
        </p:nvSpPr>
        <p:spPr>
          <a:xfrm xmlns:a="http://schemas.openxmlformats.org/drawingml/2006/main">
            <a:off x="742950" y="4781550"/>
            <a:ext cx="400050" cy="400050"/>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8" name="">
            <a:extLst xmlns:a="http://schemas.openxmlformats.org/drawingml/2006/main">
              <a:ext uri="{FF2B5EF4-FFF2-40B4-BE49-F238E27FC236}">
                <a16:creationId xmlns:a16="http://schemas.microsoft.com/office/drawing/2014/main" id="{EDE5F5A9-C1F8-4B18-85A8-79BEA926B355}"/>
              </a:ext>
            </a:extLst>
          </p:cNvPr>
          <p:cNvSpPr>
            <a:spLocks xmlns:a="http://schemas.openxmlformats.org/drawingml/2006/main" noGrp="1"/>
          </p:cNvSpPr>
          <p:nvPr/>
        </p:nvSpPr>
        <p:spPr>
          <a:xfrm xmlns:a="http://schemas.openxmlformats.org/drawingml/2006/main">
            <a:off x="742950" y="48196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4</a:t>
            </a:r>
          </a:p>
        </p:txBody>
      </p:sp>
      <p:sp>
        <p:nvSpPr>
          <p:cNvPr id="19" name="">
            <a:extLst xmlns:a="http://schemas.openxmlformats.org/drawingml/2006/main">
              <a:ext uri="{FF2B5EF4-FFF2-40B4-BE49-F238E27FC236}">
                <a16:creationId xmlns:a16="http://schemas.microsoft.com/office/drawing/2014/main" id="{EC34DD5D-FB6D-4DE4-906E-28A94C5777A6}"/>
              </a:ext>
            </a:extLst>
          </p:cNvPr>
          <p:cNvSpPr>
            <a:spLocks xmlns:a="http://schemas.openxmlformats.org/drawingml/2006/main" noGrp="1"/>
          </p:cNvSpPr>
          <p:nvPr/>
        </p:nvSpPr>
        <p:spPr>
          <a:xfrm xmlns:a="http://schemas.openxmlformats.org/drawingml/2006/main">
            <a:off x="1314450" y="47625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2A43"/>
                </a:solidFill>
              </a:defRPr>
            </a:pPr>
            <a:r>
              <a:rPr sz="1575" b="1" i="0">
                <a:solidFill>
                  <a:srgbClr val="102A43"/>
                </a:solidFill>
              </a:rPr>
              <a:t>Microsoft MFA</a:t>
            </a:r>
          </a:p>
        </p:txBody>
      </p:sp>
      <p:sp>
        <p:nvSpPr>
          <p:cNvPr id="20" name="">
            <a:extLst xmlns:a="http://schemas.openxmlformats.org/drawingml/2006/main">
              <a:ext uri="{FF2B5EF4-FFF2-40B4-BE49-F238E27FC236}">
                <a16:creationId xmlns:a16="http://schemas.microsoft.com/office/drawing/2014/main" id="{15065B7F-B628-4E6C-ACFF-16FE2C552F6D}"/>
              </a:ext>
            </a:extLst>
          </p:cNvPr>
          <p:cNvSpPr>
            <a:spLocks xmlns:a="http://schemas.openxmlformats.org/drawingml/2006/main" noGrp="1"/>
          </p:cNvSpPr>
          <p:nvPr/>
        </p:nvSpPr>
        <p:spPr>
          <a:xfrm xmlns:a="http://schemas.openxmlformats.org/drawingml/2006/main">
            <a:off x="1314450" y="51149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26A7A"/>
                </a:solidFill>
              </a:defRPr>
            </a:pPr>
            <a:r>
              <a:rPr sz="1275" b="0" i="0">
                <a:solidFill>
                  <a:srgbClr val="526A7A"/>
                </a:solidFill>
              </a:rPr>
              <a:t>Complete the verification prompt in the same sign-in session.</a:t>
            </a:r>
          </a:p>
        </p:txBody>
      </p:sp>
      <p:sp>
        <p:nvSpPr>
          <p:cNvPr id="21" name="">
            <a:extLst xmlns:a="http://schemas.openxmlformats.org/drawingml/2006/main">
              <a:ext uri="{FF2B5EF4-FFF2-40B4-BE49-F238E27FC236}">
                <a16:creationId xmlns:a16="http://schemas.microsoft.com/office/drawing/2014/main" id="{F92DEBA0-91C6-494B-90CF-68627B860DBF}"/>
              </a:ext>
            </a:extLst>
          </p:cNvPr>
          <p:cNvSpPr>
            <a:spLocks xmlns:a="http://schemas.openxmlformats.org/drawingml/2006/main" noGrp="1"/>
          </p:cNvSpPr>
          <p:nvPr/>
        </p:nvSpPr>
        <p:spPr>
          <a:xfrm xmlns:a="http://schemas.openxmlformats.org/drawingml/2006/main">
            <a:off x="742950" y="5905500"/>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A80046"/>
                </a:solidFill>
              </a:defRPr>
            </a:pPr>
            <a:r>
              <a:rPr sz="1200" b="1" i="0">
                <a:solidFill>
                  <a:srgbClr val="A80046"/>
                </a:solidFill>
              </a:rPr>
              <a:t>If Microsoft keeps choosing the wrong account, use Sign out and reset sign-in.</a:t>
            </a:r>
          </a:p>
        </p:txBody>
      </p:sp>
      <p:sp>
        <p:nvSpPr>
          <p:cNvPr id="22" name="">
            <a:extLst xmlns:a="http://schemas.openxmlformats.org/drawingml/2006/main">
              <a:ext uri="{FF2B5EF4-FFF2-40B4-BE49-F238E27FC236}">
                <a16:creationId xmlns:a16="http://schemas.microsoft.com/office/drawing/2014/main" id="{539D25D6-41D9-41EC-BC97-1D22996B9DCB}"/>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3" name="">
            <a:extLst xmlns:a="http://schemas.openxmlformats.org/drawingml/2006/main">
              <a:ext uri="{FF2B5EF4-FFF2-40B4-BE49-F238E27FC236}">
                <a16:creationId xmlns:a16="http://schemas.microsoft.com/office/drawing/2014/main" id="{FE731BA6-A0B2-4C9B-B436-F5B70396757F}"/>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4" name="">
            <a:extLst xmlns:a="http://schemas.openxmlformats.org/drawingml/2006/main">
              <a:ext uri="{FF2B5EF4-FFF2-40B4-BE49-F238E27FC236}">
                <a16:creationId xmlns:a16="http://schemas.microsoft.com/office/drawing/2014/main" id="{4D022DDB-03BE-44F3-B485-54FA596AAA5E}"/>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03</a:t>
            </a:r>
          </a:p>
        </p:txBody>
      </p:sp>
    </p:spTree>
    <p:extLst>
      <p:ext uri="{BB962C8B-B14F-4D97-AF65-F5344CB8AC3E}">
        <p14:creationId xmlns:p14="http://schemas.microsoft.com/office/powerpoint/2010/main" val="12280455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F381E88-D6B9-4767-8C1B-5A74EC46FA77}"/>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ACCESS</a:t>
            </a:r>
          </a:p>
        </p:txBody>
      </p:sp>
      <p:sp>
        <p:nvSpPr>
          <p:cNvPr id="2" name="">
            <a:extLst xmlns:a="http://schemas.openxmlformats.org/drawingml/2006/main">
              <a:ext uri="{FF2B5EF4-FFF2-40B4-BE49-F238E27FC236}">
                <a16:creationId xmlns:a16="http://schemas.microsoft.com/office/drawing/2014/main" id="{B79706FD-D129-451F-8DDD-442FE7912A26}"/>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Your role shapes the workspace</a:t>
            </a:r>
          </a:p>
        </p:txBody>
      </p:sp>
      <p:sp>
        <p:nvSpPr>
          <p:cNvPr id="3" name="">
            <a:extLst xmlns:a="http://schemas.openxmlformats.org/drawingml/2006/main">
              <a:ext uri="{FF2B5EF4-FFF2-40B4-BE49-F238E27FC236}">
                <a16:creationId xmlns:a16="http://schemas.microsoft.com/office/drawing/2014/main" id="{86F49267-9F5D-4D15-B35B-91C9D56F89CF}"/>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8A41F13B-CCD8-4D42-9A71-CE7C4CABBC68}"/>
              </a:ext>
            </a:extLst>
          </p:cNvPr>
          <p:cNvSpPr>
            <a:spLocks xmlns:a="http://schemas.openxmlformats.org/drawingml/2006/main" noGrp="1"/>
          </p:cNvSpPr>
          <p:nvPr/>
        </p:nvSpPr>
        <p:spPr>
          <a:xfrm xmlns:a="http://schemas.openxmlformats.org/drawingml/2006/main">
            <a:off x="685800" y="16954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006FA6"/>
                </a:solidFill>
              </a:defRPr>
            </a:pPr>
            <a:r>
              <a:rPr sz="1200" b="1" i="0">
                <a:solidFill>
                  <a:srgbClr val="006FA6"/>
                </a:solidFill>
              </a:rPr>
              <a:t>Most users start here</a:t>
            </a:r>
          </a:p>
        </p:txBody>
      </p:sp>
      <p:sp>
        <p:nvSpPr>
          <p:cNvPr id="5" name="">
            <a:extLst xmlns:a="http://schemas.openxmlformats.org/drawingml/2006/main">
              <a:ext uri="{FF2B5EF4-FFF2-40B4-BE49-F238E27FC236}">
                <a16:creationId xmlns:a16="http://schemas.microsoft.com/office/drawing/2014/main" id="{DD118B53-EF36-4A62-88B5-64656D7F4A61}"/>
              </a:ext>
            </a:extLst>
          </p:cNvPr>
          <p:cNvSpPr>
            <a:spLocks xmlns:a="http://schemas.openxmlformats.org/drawingml/2006/main" noGrp="1"/>
          </p:cNvSpPr>
          <p:nvPr/>
        </p:nvSpPr>
        <p:spPr>
          <a:xfrm xmlns:a="http://schemas.openxmlformats.org/drawingml/2006/main">
            <a:off x="1047750" y="2571750"/>
            <a:ext cx="10001250" cy="0"/>
          </a:xfrm>
          <a:prstGeom xmlns:a="http://schemas.openxmlformats.org/drawingml/2006/main" prst="line">
            <a:avLst/>
          </a:prstGeom>
          <a:noFill xmlns:a="http://schemas.openxmlformats.org/drawingml/2006/main"/>
          <a:ln xmlns:a="http://schemas.openxmlformats.org/drawingml/2006/main" w="47625">
            <a:solidFill>
              <a:srgbClr val="D7E1E7"/>
            </a:solidFill>
            <a:prstDash val="solid"/>
          </a:ln>
        </p:spPr>
      </p:sp>
      <p:sp>
        <p:nvSpPr>
          <p:cNvPr id="6" name="">
            <a:extLst xmlns:a="http://schemas.openxmlformats.org/drawingml/2006/main">
              <a:ext uri="{FF2B5EF4-FFF2-40B4-BE49-F238E27FC236}">
                <a16:creationId xmlns:a16="http://schemas.microsoft.com/office/drawing/2014/main" id="{D05B785B-3AB4-4178-96D6-DFA8B46AEA74}"/>
              </a:ext>
            </a:extLst>
          </p:cNvPr>
          <p:cNvSpPr>
            <a:spLocks xmlns:a="http://schemas.openxmlformats.org/drawingml/2006/main" noGrp="1"/>
          </p:cNvSpPr>
          <p:nvPr/>
        </p:nvSpPr>
        <p:spPr>
          <a:xfrm xmlns:a="http://schemas.openxmlformats.org/drawingml/2006/main">
            <a:off x="1466850" y="2390775"/>
            <a:ext cx="361950" cy="361950"/>
          </a:xfrm>
          <a:prstGeom xmlns:a="http://schemas.openxmlformats.org/drawingml/2006/main" prst="ellipse">
            <a:avLst/>
          </a:prstGeom>
          <a:solidFill xmlns:a="http://schemas.openxmlformats.org/drawingml/2006/main">
            <a:srgbClr val="006FA6"/>
          </a:solidFill>
          <a:ln xmlns:a="http://schemas.openxmlformats.org/drawingml/2006/main" w="38100">
            <a:solidFill>
              <a:srgbClr val="FFFFFF"/>
            </a:solidFill>
            <a:prstDash val="solid"/>
          </a:ln>
        </p:spPr>
      </p:sp>
      <p:sp>
        <p:nvSpPr>
          <p:cNvPr id="7" name="">
            <a:extLst xmlns:a="http://schemas.openxmlformats.org/drawingml/2006/main">
              <a:ext uri="{FF2B5EF4-FFF2-40B4-BE49-F238E27FC236}">
                <a16:creationId xmlns:a16="http://schemas.microsoft.com/office/drawing/2014/main" id="{15D02F4F-A9B2-44F0-A73B-5D6BD44E2389}"/>
              </a:ext>
            </a:extLst>
          </p:cNvPr>
          <p:cNvSpPr>
            <a:spLocks xmlns:a="http://schemas.openxmlformats.org/drawingml/2006/main" noGrp="1"/>
          </p:cNvSpPr>
          <p:nvPr/>
        </p:nvSpPr>
        <p:spPr>
          <a:xfrm xmlns:a="http://schemas.openxmlformats.org/drawingml/2006/main">
            <a:off x="685800" y="3028950"/>
            <a:ext cx="1924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CAT</a:t>
            </a:r>
          </a:p>
        </p:txBody>
      </p:sp>
      <p:sp>
        <p:nvSpPr>
          <p:cNvPr id="8" name="">
            <a:extLst xmlns:a="http://schemas.openxmlformats.org/drawingml/2006/main">
              <a:ext uri="{FF2B5EF4-FFF2-40B4-BE49-F238E27FC236}">
                <a16:creationId xmlns:a16="http://schemas.microsoft.com/office/drawing/2014/main" id="{6F78E39F-D624-4E7B-85F7-404332DC9513}"/>
              </a:ext>
            </a:extLst>
          </p:cNvPr>
          <p:cNvSpPr>
            <a:spLocks xmlns:a="http://schemas.openxmlformats.org/drawingml/2006/main" noGrp="1"/>
          </p:cNvSpPr>
          <p:nvPr/>
        </p:nvSpPr>
        <p:spPr>
          <a:xfrm xmlns:a="http://schemas.openxmlformats.org/drawingml/2006/main">
            <a:off x="685800" y="3667125"/>
            <a:ext cx="1924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26A7A"/>
                </a:solidFill>
              </a:defRPr>
            </a:pPr>
            <a:r>
              <a:rPr sz="1200" b="0" i="0">
                <a:solidFill>
                  <a:srgbClr val="526A7A"/>
                </a:solidFill>
              </a:rPr>
              <a:t>Assigned outreach, follow-ups, documents</a:t>
            </a:r>
          </a:p>
        </p:txBody>
      </p:sp>
      <p:sp>
        <p:nvSpPr>
          <p:cNvPr id="9" name="">
            <a:extLst xmlns:a="http://schemas.openxmlformats.org/drawingml/2006/main">
              <a:ext uri="{FF2B5EF4-FFF2-40B4-BE49-F238E27FC236}">
                <a16:creationId xmlns:a16="http://schemas.microsoft.com/office/drawing/2014/main" id="{F738BA83-B5BD-4691-9BE0-7E30DE81774C}"/>
              </a:ext>
            </a:extLst>
          </p:cNvPr>
          <p:cNvSpPr>
            <a:spLocks xmlns:a="http://schemas.openxmlformats.org/drawingml/2006/main" noGrp="1"/>
          </p:cNvSpPr>
          <p:nvPr/>
        </p:nvSpPr>
        <p:spPr>
          <a:xfrm xmlns:a="http://schemas.openxmlformats.org/drawingml/2006/main">
            <a:off x="3619500" y="2390775"/>
            <a:ext cx="361950" cy="361950"/>
          </a:xfrm>
          <a:prstGeom xmlns:a="http://schemas.openxmlformats.org/drawingml/2006/main" prst="ellipse">
            <a:avLst/>
          </a:prstGeom>
          <a:solidFill xmlns:a="http://schemas.openxmlformats.org/drawingml/2006/main">
            <a:srgbClr val="006FA6"/>
          </a:solidFill>
          <a:ln xmlns:a="http://schemas.openxmlformats.org/drawingml/2006/main" w="38100">
            <a:solidFill>
              <a:srgbClr val="FFFFFF"/>
            </a:solidFill>
            <a:prstDash val="solid"/>
          </a:ln>
        </p:spPr>
      </p:sp>
      <p:sp>
        <p:nvSpPr>
          <p:cNvPr id="10" name="">
            <a:extLst xmlns:a="http://schemas.openxmlformats.org/drawingml/2006/main">
              <a:ext uri="{FF2B5EF4-FFF2-40B4-BE49-F238E27FC236}">
                <a16:creationId xmlns:a16="http://schemas.microsoft.com/office/drawing/2014/main" id="{31D28777-BFB5-4404-A6AD-E11B89AC9BB3}"/>
              </a:ext>
            </a:extLst>
          </p:cNvPr>
          <p:cNvSpPr>
            <a:spLocks xmlns:a="http://schemas.openxmlformats.org/drawingml/2006/main" noGrp="1"/>
          </p:cNvSpPr>
          <p:nvPr/>
        </p:nvSpPr>
        <p:spPr>
          <a:xfrm xmlns:a="http://schemas.openxmlformats.org/drawingml/2006/main">
            <a:off x="2838450" y="3028950"/>
            <a:ext cx="1924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LCAT</a:t>
            </a:r>
          </a:p>
        </p:txBody>
      </p:sp>
      <p:sp>
        <p:nvSpPr>
          <p:cNvPr id="11" name="">
            <a:extLst xmlns:a="http://schemas.openxmlformats.org/drawingml/2006/main">
              <a:ext uri="{FF2B5EF4-FFF2-40B4-BE49-F238E27FC236}">
                <a16:creationId xmlns:a16="http://schemas.microsoft.com/office/drawing/2014/main" id="{A41DE3BE-06B2-46BA-BC91-65621EA3B1CE}"/>
              </a:ext>
            </a:extLst>
          </p:cNvPr>
          <p:cNvSpPr>
            <a:spLocks xmlns:a="http://schemas.openxmlformats.org/drawingml/2006/main" noGrp="1"/>
          </p:cNvSpPr>
          <p:nvPr/>
        </p:nvSpPr>
        <p:spPr>
          <a:xfrm xmlns:a="http://schemas.openxmlformats.org/drawingml/2006/main">
            <a:off x="2838450" y="3667125"/>
            <a:ext cx="1924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26A7A"/>
                </a:solidFill>
              </a:defRPr>
            </a:pPr>
            <a:r>
              <a:rPr sz="1200" b="0" i="0">
                <a:solidFill>
                  <a:srgbClr val="526A7A"/>
                </a:solidFill>
              </a:rPr>
              <a:t>Team assignments and authorized reports</a:t>
            </a:r>
          </a:p>
        </p:txBody>
      </p:sp>
      <p:sp>
        <p:nvSpPr>
          <p:cNvPr id="12" name="">
            <a:extLst xmlns:a="http://schemas.openxmlformats.org/drawingml/2006/main">
              <a:ext uri="{FF2B5EF4-FFF2-40B4-BE49-F238E27FC236}">
                <a16:creationId xmlns:a16="http://schemas.microsoft.com/office/drawing/2014/main" id="{352C62C9-FCAD-4039-A6CA-3C700CCFC507}"/>
              </a:ext>
            </a:extLst>
          </p:cNvPr>
          <p:cNvSpPr>
            <a:spLocks xmlns:a="http://schemas.openxmlformats.org/drawingml/2006/main" noGrp="1"/>
          </p:cNvSpPr>
          <p:nvPr/>
        </p:nvSpPr>
        <p:spPr>
          <a:xfrm xmlns:a="http://schemas.openxmlformats.org/drawingml/2006/main">
            <a:off x="5772150" y="2390775"/>
            <a:ext cx="361950" cy="361950"/>
          </a:xfrm>
          <a:prstGeom xmlns:a="http://schemas.openxmlformats.org/drawingml/2006/main" prst="ellipse">
            <a:avLst/>
          </a:prstGeom>
          <a:solidFill xmlns:a="http://schemas.openxmlformats.org/drawingml/2006/main">
            <a:srgbClr val="A80046"/>
          </a:solidFill>
          <a:ln xmlns:a="http://schemas.openxmlformats.org/drawingml/2006/main" w="38100">
            <a:solidFill>
              <a:srgbClr val="FFFFFF"/>
            </a:solidFill>
            <a:prstDash val="solid"/>
          </a:ln>
        </p:spPr>
      </p:sp>
      <p:sp>
        <p:nvSpPr>
          <p:cNvPr id="13" name="">
            <a:extLst xmlns:a="http://schemas.openxmlformats.org/drawingml/2006/main">
              <a:ext uri="{FF2B5EF4-FFF2-40B4-BE49-F238E27FC236}">
                <a16:creationId xmlns:a16="http://schemas.microsoft.com/office/drawing/2014/main" id="{26A66350-B20B-41C8-8782-EBC7EAB2FB3E}"/>
              </a:ext>
            </a:extLst>
          </p:cNvPr>
          <p:cNvSpPr>
            <a:spLocks xmlns:a="http://schemas.openxmlformats.org/drawingml/2006/main" noGrp="1"/>
          </p:cNvSpPr>
          <p:nvPr/>
        </p:nvSpPr>
        <p:spPr>
          <a:xfrm xmlns:a="http://schemas.openxmlformats.org/drawingml/2006/main">
            <a:off x="4991100" y="3028950"/>
            <a:ext cx="1924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801 Administrator</a:t>
            </a:r>
          </a:p>
        </p:txBody>
      </p:sp>
      <p:sp>
        <p:nvSpPr>
          <p:cNvPr id="14" name="">
            <a:extLst xmlns:a="http://schemas.openxmlformats.org/drawingml/2006/main">
              <a:ext uri="{FF2B5EF4-FFF2-40B4-BE49-F238E27FC236}">
                <a16:creationId xmlns:a16="http://schemas.microsoft.com/office/drawing/2014/main" id="{F9129E45-5003-48E6-A9C8-C712CCC280A0}"/>
              </a:ext>
            </a:extLst>
          </p:cNvPr>
          <p:cNvSpPr>
            <a:spLocks xmlns:a="http://schemas.openxmlformats.org/drawingml/2006/main" noGrp="1"/>
          </p:cNvSpPr>
          <p:nvPr/>
        </p:nvSpPr>
        <p:spPr>
          <a:xfrm xmlns:a="http://schemas.openxmlformats.org/drawingml/2006/main">
            <a:off x="4991100" y="3667125"/>
            <a:ext cx="1924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26A7A"/>
                </a:solidFill>
              </a:defRPr>
            </a:pPr>
            <a:r>
              <a:rPr sz="1200" b="0" i="0">
                <a:solidFill>
                  <a:srgbClr val="526A7A"/>
                </a:solidFill>
              </a:rPr>
              <a:t>Programs and operational administration</a:t>
            </a:r>
          </a:p>
        </p:txBody>
      </p:sp>
      <p:sp>
        <p:nvSpPr>
          <p:cNvPr id="15" name="">
            <a:extLst xmlns:a="http://schemas.openxmlformats.org/drawingml/2006/main">
              <a:ext uri="{FF2B5EF4-FFF2-40B4-BE49-F238E27FC236}">
                <a16:creationId xmlns:a16="http://schemas.microsoft.com/office/drawing/2014/main" id="{B83F93EB-C302-4155-A5EE-FBA9651CFF60}"/>
              </a:ext>
            </a:extLst>
          </p:cNvPr>
          <p:cNvSpPr>
            <a:spLocks xmlns:a="http://schemas.openxmlformats.org/drawingml/2006/main" noGrp="1"/>
          </p:cNvSpPr>
          <p:nvPr/>
        </p:nvSpPr>
        <p:spPr>
          <a:xfrm xmlns:a="http://schemas.openxmlformats.org/drawingml/2006/main">
            <a:off x="7924800" y="2390775"/>
            <a:ext cx="361950" cy="361950"/>
          </a:xfrm>
          <a:prstGeom xmlns:a="http://schemas.openxmlformats.org/drawingml/2006/main" prst="ellipse">
            <a:avLst/>
          </a:prstGeom>
          <a:solidFill xmlns:a="http://schemas.openxmlformats.org/drawingml/2006/main">
            <a:srgbClr val="A80046"/>
          </a:solidFill>
          <a:ln xmlns:a="http://schemas.openxmlformats.org/drawingml/2006/main" w="38100">
            <a:solidFill>
              <a:srgbClr val="FFFFFF"/>
            </a:solidFill>
            <a:prstDash val="solid"/>
          </a:ln>
        </p:spPr>
      </p:sp>
      <p:sp>
        <p:nvSpPr>
          <p:cNvPr id="16" name="">
            <a:extLst xmlns:a="http://schemas.openxmlformats.org/drawingml/2006/main">
              <a:ext uri="{FF2B5EF4-FFF2-40B4-BE49-F238E27FC236}">
                <a16:creationId xmlns:a16="http://schemas.microsoft.com/office/drawing/2014/main" id="{3BD4557C-F55B-4D2B-9660-83C34C15870A}"/>
              </a:ext>
            </a:extLst>
          </p:cNvPr>
          <p:cNvSpPr>
            <a:spLocks xmlns:a="http://schemas.openxmlformats.org/drawingml/2006/main" noGrp="1"/>
          </p:cNvSpPr>
          <p:nvPr/>
        </p:nvSpPr>
        <p:spPr>
          <a:xfrm xmlns:a="http://schemas.openxmlformats.org/drawingml/2006/main">
            <a:off x="7143750" y="3028950"/>
            <a:ext cx="1924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Local Administrator</a:t>
            </a:r>
          </a:p>
        </p:txBody>
      </p:sp>
      <p:sp>
        <p:nvSpPr>
          <p:cNvPr id="17" name="">
            <a:extLst xmlns:a="http://schemas.openxmlformats.org/drawingml/2006/main">
              <a:ext uri="{FF2B5EF4-FFF2-40B4-BE49-F238E27FC236}">
                <a16:creationId xmlns:a16="http://schemas.microsoft.com/office/drawing/2014/main" id="{4E3E4131-FB3D-40E2-963A-7E89E2E2ED31}"/>
              </a:ext>
            </a:extLst>
          </p:cNvPr>
          <p:cNvSpPr>
            <a:spLocks xmlns:a="http://schemas.openxmlformats.org/drawingml/2006/main" noGrp="1"/>
          </p:cNvSpPr>
          <p:nvPr/>
        </p:nvSpPr>
        <p:spPr>
          <a:xfrm xmlns:a="http://schemas.openxmlformats.org/drawingml/2006/main">
            <a:off x="7143750" y="3667125"/>
            <a:ext cx="1924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26A7A"/>
                </a:solidFill>
              </a:defRPr>
            </a:pPr>
            <a:r>
              <a:rPr sz="1200" b="0" i="0">
                <a:solidFill>
                  <a:srgbClr val="526A7A"/>
                </a:solidFill>
              </a:rPr>
              <a:t>Users, roles, access, and settings</a:t>
            </a:r>
          </a:p>
        </p:txBody>
      </p:sp>
      <p:sp>
        <p:nvSpPr>
          <p:cNvPr id="18" name="">
            <a:extLst xmlns:a="http://schemas.openxmlformats.org/drawingml/2006/main">
              <a:ext uri="{FF2B5EF4-FFF2-40B4-BE49-F238E27FC236}">
                <a16:creationId xmlns:a16="http://schemas.microsoft.com/office/drawing/2014/main" id="{FE4E3502-9E7D-4EA2-A64A-30FEC4C658C5}"/>
              </a:ext>
            </a:extLst>
          </p:cNvPr>
          <p:cNvSpPr>
            <a:spLocks xmlns:a="http://schemas.openxmlformats.org/drawingml/2006/main" noGrp="1"/>
          </p:cNvSpPr>
          <p:nvPr/>
        </p:nvSpPr>
        <p:spPr>
          <a:xfrm xmlns:a="http://schemas.openxmlformats.org/drawingml/2006/main">
            <a:off x="10077450" y="2390775"/>
            <a:ext cx="361950" cy="361950"/>
          </a:xfrm>
          <a:prstGeom xmlns:a="http://schemas.openxmlformats.org/drawingml/2006/main" prst="ellipse">
            <a:avLst/>
          </a:prstGeom>
          <a:solidFill xmlns:a="http://schemas.openxmlformats.org/drawingml/2006/main">
            <a:srgbClr val="A80046"/>
          </a:solidFill>
          <a:ln xmlns:a="http://schemas.openxmlformats.org/drawingml/2006/main" w="38100">
            <a:solidFill>
              <a:srgbClr val="FFFFFF"/>
            </a:solidFill>
            <a:prstDash val="solid"/>
          </a:ln>
        </p:spPr>
      </p:sp>
      <p:sp>
        <p:nvSpPr>
          <p:cNvPr id="19" name="">
            <a:extLst xmlns:a="http://schemas.openxmlformats.org/drawingml/2006/main">
              <a:ext uri="{FF2B5EF4-FFF2-40B4-BE49-F238E27FC236}">
                <a16:creationId xmlns:a16="http://schemas.microsoft.com/office/drawing/2014/main" id="{AC97834E-D9DC-46C0-8C85-EE89F3D4E464}"/>
              </a:ext>
            </a:extLst>
          </p:cNvPr>
          <p:cNvSpPr>
            <a:spLocks xmlns:a="http://schemas.openxmlformats.org/drawingml/2006/main" noGrp="1"/>
          </p:cNvSpPr>
          <p:nvPr/>
        </p:nvSpPr>
        <p:spPr>
          <a:xfrm xmlns:a="http://schemas.openxmlformats.org/drawingml/2006/main">
            <a:off x="9296400" y="3028950"/>
            <a:ext cx="1924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System Owner</a:t>
            </a:r>
          </a:p>
        </p:txBody>
      </p:sp>
      <p:sp>
        <p:nvSpPr>
          <p:cNvPr id="20" name="">
            <a:extLst xmlns:a="http://schemas.openxmlformats.org/drawingml/2006/main">
              <a:ext uri="{FF2B5EF4-FFF2-40B4-BE49-F238E27FC236}">
                <a16:creationId xmlns:a16="http://schemas.microsoft.com/office/drawing/2014/main" id="{F46900F8-B1C4-4BB7-ACB4-2497C5D8C7C1}"/>
              </a:ext>
            </a:extLst>
          </p:cNvPr>
          <p:cNvSpPr>
            <a:spLocks xmlns:a="http://schemas.openxmlformats.org/drawingml/2006/main" noGrp="1"/>
          </p:cNvSpPr>
          <p:nvPr/>
        </p:nvSpPr>
        <p:spPr>
          <a:xfrm xmlns:a="http://schemas.openxmlformats.org/drawingml/2006/main">
            <a:off x="9296400" y="3667125"/>
            <a:ext cx="19240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26A7A"/>
                </a:solidFill>
              </a:defRPr>
            </a:pPr>
            <a:r>
              <a:rPr sz="1200" b="0" i="0">
                <a:solidFill>
                  <a:srgbClr val="526A7A"/>
                </a:solidFill>
              </a:rPr>
              <a:t>Protected owner-level administration</a:t>
            </a:r>
          </a:p>
        </p:txBody>
      </p:sp>
      <p:sp>
        <p:nvSpPr>
          <p:cNvPr id="21" name="">
            <a:extLst xmlns:a="http://schemas.openxmlformats.org/drawingml/2006/main">
              <a:ext uri="{FF2B5EF4-FFF2-40B4-BE49-F238E27FC236}">
                <a16:creationId xmlns:a16="http://schemas.microsoft.com/office/drawing/2014/main" id="{FFDED249-775C-4E8E-97B0-F31AFE862C51}"/>
              </a:ext>
            </a:extLst>
          </p:cNvPr>
          <p:cNvSpPr>
            <a:spLocks xmlns:a="http://schemas.openxmlformats.org/drawingml/2006/main" noGrp="1"/>
          </p:cNvSpPr>
          <p:nvPr/>
        </p:nvSpPr>
        <p:spPr>
          <a:xfrm xmlns:a="http://schemas.openxmlformats.org/drawingml/2006/main">
            <a:off x="1714500" y="5286375"/>
            <a:ext cx="8763000" cy="609600"/>
          </a:xfrm>
          <a:prstGeom xmlns:a="http://schemas.openxmlformats.org/drawingml/2006/main" prst="roundRect">
            <a:avLst>
              <a:gd name="adj" fmla="val 12500"/>
            </a:avLst>
          </a:prstGeom>
          <a:solidFill xmlns:a="http://schemas.openxmlformats.org/drawingml/2006/main">
            <a:srgbClr val="F4F7F9"/>
          </a:solidFill>
          <a:ln xmlns:a="http://schemas.openxmlformats.org/drawingml/2006/main" w="9525">
            <a:solidFill>
              <a:srgbClr val="D7E1E7"/>
            </a:solidFill>
            <a:prstDash val="solid"/>
          </a:ln>
        </p:spPr>
      </p:sp>
      <p:sp>
        <p:nvSpPr>
          <p:cNvPr id="22" name="">
            <a:extLst xmlns:a="http://schemas.openxmlformats.org/drawingml/2006/main">
              <a:ext uri="{FF2B5EF4-FFF2-40B4-BE49-F238E27FC236}">
                <a16:creationId xmlns:a16="http://schemas.microsoft.com/office/drawing/2014/main" id="{1A0BF929-786A-4CB9-A3B2-2BD59702C2CF}"/>
              </a:ext>
            </a:extLst>
          </p:cNvPr>
          <p:cNvSpPr>
            <a:spLocks xmlns:a="http://schemas.openxmlformats.org/drawingml/2006/main" noGrp="1"/>
          </p:cNvSpPr>
          <p:nvPr/>
        </p:nvSpPr>
        <p:spPr>
          <a:xfrm xmlns:a="http://schemas.openxmlformats.org/drawingml/2006/main">
            <a:off x="1962150" y="5448300"/>
            <a:ext cx="826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Missing menu? It may be outside your role. Ask an administrator to review access—do not borrow another account.</a:t>
            </a:r>
          </a:p>
        </p:txBody>
      </p:sp>
      <p:sp>
        <p:nvSpPr>
          <p:cNvPr id="23" name="">
            <a:extLst xmlns:a="http://schemas.openxmlformats.org/drawingml/2006/main">
              <a:ext uri="{FF2B5EF4-FFF2-40B4-BE49-F238E27FC236}">
                <a16:creationId xmlns:a16="http://schemas.microsoft.com/office/drawing/2014/main" id="{1EFFF474-3C8E-4B64-BD62-C5E68F4BABA4}"/>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4" name="">
            <a:extLst xmlns:a="http://schemas.openxmlformats.org/drawingml/2006/main">
              <a:ext uri="{FF2B5EF4-FFF2-40B4-BE49-F238E27FC236}">
                <a16:creationId xmlns:a16="http://schemas.microsoft.com/office/drawing/2014/main" id="{490453D8-C61A-46B5-BDBB-4E433C4AE815}"/>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5" name="">
            <a:extLst xmlns:a="http://schemas.openxmlformats.org/drawingml/2006/main">
              <a:ext uri="{FF2B5EF4-FFF2-40B4-BE49-F238E27FC236}">
                <a16:creationId xmlns:a16="http://schemas.microsoft.com/office/drawing/2014/main" id="{0D7BD0D7-4114-40E8-92C9-DBE5DFDE4BD9}"/>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04</a:t>
            </a:r>
          </a:p>
        </p:txBody>
      </p:sp>
    </p:spTree>
    <p:extLst>
      <p:ext uri="{BB962C8B-B14F-4D97-AF65-F5344CB8AC3E}">
        <p14:creationId xmlns:p14="http://schemas.microsoft.com/office/powerpoint/2010/main" val="14859803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E159D79-A2FF-4A34-B1B0-8C4773E203AA}"/>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NAVIGATION</a:t>
            </a:r>
          </a:p>
        </p:txBody>
      </p:sp>
      <p:sp>
        <p:nvSpPr>
          <p:cNvPr id="2" name="">
            <a:extLst xmlns:a="http://schemas.openxmlformats.org/drawingml/2006/main">
              <a:ext uri="{FF2B5EF4-FFF2-40B4-BE49-F238E27FC236}">
                <a16:creationId xmlns:a16="http://schemas.microsoft.com/office/drawing/2014/main" id="{1ED517B1-FAF9-4CA6-9F93-E2D0510856E8}"/>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Find your way around</a:t>
            </a:r>
          </a:p>
        </p:txBody>
      </p:sp>
      <p:sp>
        <p:nvSpPr>
          <p:cNvPr id="3" name="">
            <a:extLst xmlns:a="http://schemas.openxmlformats.org/drawingml/2006/main">
              <a:ext uri="{FF2B5EF4-FFF2-40B4-BE49-F238E27FC236}">
                <a16:creationId xmlns:a16="http://schemas.microsoft.com/office/drawing/2014/main" id="{21B407E9-70A4-4C32-A480-154C91BAF33B}"/>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7f4f203a051433a"/>
          <a:stretch xmlns:a="http://schemas.openxmlformats.org/drawingml/2006/main"/>
        </p:blipFill>
        <p:spPr>
          <a:xfrm xmlns:a="http://schemas.openxmlformats.org/drawingml/2006/main">
            <a:off x="685800" y="1793081"/>
            <a:ext cx="7239000" cy="4071938"/>
          </a:xfrm>
          <a:prstGeom xmlns:a="http://schemas.openxmlformats.org/drawingml/2006/main" prst="roundRect">
            <a:avLst>
              <a:gd name="adj" fmla="val 2679"/>
            </a:avLst>
          </a:prstGeom>
        </p:spPr>
      </p:pic>
      <p:sp>
        <p:nvSpPr>
          <p:cNvPr id="5" name="">
            <a:extLst xmlns:a="http://schemas.openxmlformats.org/drawingml/2006/main">
              <a:ext uri="{FF2B5EF4-FFF2-40B4-BE49-F238E27FC236}">
                <a16:creationId xmlns:a16="http://schemas.microsoft.com/office/drawing/2014/main" id="{02857C93-D91A-4968-8A27-4C61FE3D57DE}"/>
              </a:ext>
            </a:extLst>
          </p:cNvPr>
          <p:cNvSpPr>
            <a:spLocks xmlns:a="http://schemas.openxmlformats.org/drawingml/2006/main" noGrp="1"/>
          </p:cNvSpPr>
          <p:nvPr/>
        </p:nvSpPr>
        <p:spPr>
          <a:xfrm xmlns:a="http://schemas.openxmlformats.org/drawingml/2006/main">
            <a:off x="8305800" y="17335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006FA6"/>
                </a:solidFill>
              </a:defRPr>
            </a:pPr>
            <a:r>
              <a:rPr sz="900" b="1" i="0">
                <a:solidFill>
                  <a:srgbClr val="006FA6"/>
                </a:solidFill>
              </a:rPr>
              <a:t>START WITH</a:t>
            </a:r>
          </a:p>
        </p:txBody>
      </p:sp>
      <p:sp>
        <p:nvSpPr>
          <p:cNvPr id="6" name="">
            <a:extLst xmlns:a="http://schemas.openxmlformats.org/drawingml/2006/main">
              <a:ext uri="{FF2B5EF4-FFF2-40B4-BE49-F238E27FC236}">
                <a16:creationId xmlns:a16="http://schemas.microsoft.com/office/drawing/2014/main" id="{4D4184F4-FE1A-4834-A501-25E193FE2FFD}"/>
              </a:ext>
            </a:extLst>
          </p:cNvPr>
          <p:cNvSpPr>
            <a:spLocks xmlns:a="http://schemas.openxmlformats.org/drawingml/2006/main" noGrp="1"/>
          </p:cNvSpPr>
          <p:nvPr/>
        </p:nvSpPr>
        <p:spPr>
          <a:xfrm xmlns:a="http://schemas.openxmlformats.org/drawingml/2006/main">
            <a:off x="8305800" y="20288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Member outreach</a:t>
            </a:r>
          </a:p>
        </p:txBody>
      </p:sp>
      <p:sp>
        <p:nvSpPr>
          <p:cNvPr id="7" name="">
            <a:extLst xmlns:a="http://schemas.openxmlformats.org/drawingml/2006/main">
              <a:ext uri="{FF2B5EF4-FFF2-40B4-BE49-F238E27FC236}">
                <a16:creationId xmlns:a16="http://schemas.microsoft.com/office/drawing/2014/main" id="{C4F1F517-5446-459C-9F4A-39B9D7555D97}"/>
              </a:ext>
            </a:extLst>
          </p:cNvPr>
          <p:cNvSpPr>
            <a:spLocks xmlns:a="http://schemas.openxmlformats.org/drawingml/2006/main" noGrp="1"/>
          </p:cNvSpPr>
          <p:nvPr/>
        </p:nvSpPr>
        <p:spPr>
          <a:xfrm xmlns:a="http://schemas.openxmlformats.org/drawingml/2006/main">
            <a:off x="8305800" y="2476500"/>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26A7A"/>
                </a:solidFill>
              </a:defRPr>
            </a:pPr>
            <a:r>
              <a:rPr sz="1350" b="0" i="0">
                <a:solidFill>
                  <a:srgbClr val="526A7A"/>
                </a:solidFill>
              </a:rPr>
              <a:t>Your practical working list: who needs attention and what is due.</a:t>
            </a:r>
          </a:p>
        </p:txBody>
      </p:sp>
      <p:sp>
        <p:nvSpPr>
          <p:cNvPr id="8" name="">
            <a:extLst xmlns:a="http://schemas.openxmlformats.org/drawingml/2006/main">
              <a:ext uri="{FF2B5EF4-FFF2-40B4-BE49-F238E27FC236}">
                <a16:creationId xmlns:a16="http://schemas.microsoft.com/office/drawing/2014/main" id="{5D4B484A-62C5-4A65-ACE9-A8CAD5AA0544}"/>
              </a:ext>
            </a:extLst>
          </p:cNvPr>
          <p:cNvSpPr>
            <a:spLocks xmlns:a="http://schemas.openxmlformats.org/drawingml/2006/main" noGrp="1"/>
          </p:cNvSpPr>
          <p:nvPr/>
        </p:nvSpPr>
        <p:spPr>
          <a:xfrm xmlns:a="http://schemas.openxmlformats.org/drawingml/2006/main">
            <a:off x="8305800" y="35909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A80046"/>
                </a:solidFill>
              </a:defRPr>
            </a:pPr>
            <a:r>
              <a:rPr sz="900" b="1" i="0">
                <a:solidFill>
                  <a:srgbClr val="A80046"/>
                </a:solidFill>
              </a:rPr>
              <a:t>USE DIRECTORY FOR</a:t>
            </a:r>
          </a:p>
        </p:txBody>
      </p:sp>
      <p:sp>
        <p:nvSpPr>
          <p:cNvPr id="9" name="">
            <a:extLst xmlns:a="http://schemas.openxmlformats.org/drawingml/2006/main">
              <a:ext uri="{FF2B5EF4-FFF2-40B4-BE49-F238E27FC236}">
                <a16:creationId xmlns:a16="http://schemas.microsoft.com/office/drawing/2014/main" id="{9099994C-EE07-4A48-8C46-C6FC8DA1F55B}"/>
              </a:ext>
            </a:extLst>
          </p:cNvPr>
          <p:cNvSpPr>
            <a:spLocks xmlns:a="http://schemas.openxmlformats.org/drawingml/2006/main" noGrp="1"/>
          </p:cNvSpPr>
          <p:nvPr/>
        </p:nvSpPr>
        <p:spPr>
          <a:xfrm xmlns:a="http://schemas.openxmlformats.org/drawingml/2006/main">
            <a:off x="8305800" y="38862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Finding a person</a:t>
            </a:r>
          </a:p>
        </p:txBody>
      </p:sp>
      <p:sp>
        <p:nvSpPr>
          <p:cNvPr id="10" name="">
            <a:extLst xmlns:a="http://schemas.openxmlformats.org/drawingml/2006/main">
              <a:ext uri="{FF2B5EF4-FFF2-40B4-BE49-F238E27FC236}">
                <a16:creationId xmlns:a16="http://schemas.microsoft.com/office/drawing/2014/main" id="{C0CBFA47-2117-4105-A7D0-63812F763CFE}"/>
              </a:ext>
            </a:extLst>
          </p:cNvPr>
          <p:cNvSpPr>
            <a:spLocks xmlns:a="http://schemas.openxmlformats.org/drawingml/2006/main" noGrp="1"/>
          </p:cNvSpPr>
          <p:nvPr/>
        </p:nvSpPr>
        <p:spPr>
          <a:xfrm xmlns:a="http://schemas.openxmlformats.org/drawingml/2006/main">
            <a:off x="8305800" y="4333875"/>
            <a:ext cx="2781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26A7A"/>
                </a:solidFill>
              </a:defRPr>
            </a:pPr>
            <a:r>
              <a:rPr sz="1350" b="0" i="0">
                <a:solidFill>
                  <a:srgbClr val="526A7A"/>
                </a:solidFill>
              </a:rPr>
              <a:t>Search and open a record when the work did not start from your outreach list.</a:t>
            </a:r>
          </a:p>
        </p:txBody>
      </p:sp>
      <p:sp>
        <p:nvSpPr>
          <p:cNvPr id="11" name="">
            <a:extLst xmlns:a="http://schemas.openxmlformats.org/drawingml/2006/main">
              <a:ext uri="{FF2B5EF4-FFF2-40B4-BE49-F238E27FC236}">
                <a16:creationId xmlns:a16="http://schemas.microsoft.com/office/drawing/2014/main" id="{BAECE4F6-4DBD-427D-8281-531C9A277FD7}"/>
              </a:ext>
            </a:extLst>
          </p:cNvPr>
          <p:cNvSpPr>
            <a:spLocks xmlns:a="http://schemas.openxmlformats.org/drawingml/2006/main" noGrp="1"/>
          </p:cNvSpPr>
          <p:nvPr/>
        </p:nvSpPr>
        <p:spPr>
          <a:xfrm xmlns:a="http://schemas.openxmlformats.org/drawingml/2006/main">
            <a:off x="8305800" y="54483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004E75"/>
                </a:solidFill>
              </a:defRPr>
            </a:pPr>
            <a:r>
              <a:rPr sz="1200" b="1" i="0">
                <a:solidFill>
                  <a:srgbClr val="004E75"/>
                </a:solidFill>
              </a:rPr>
              <a:t>Your account menu also shows your current role.</a:t>
            </a:r>
          </a:p>
        </p:txBody>
      </p:sp>
      <p:sp>
        <p:nvSpPr>
          <p:cNvPr id="12" name="">
            <a:extLst xmlns:a="http://schemas.openxmlformats.org/drawingml/2006/main">
              <a:ext uri="{FF2B5EF4-FFF2-40B4-BE49-F238E27FC236}">
                <a16:creationId xmlns:a16="http://schemas.microsoft.com/office/drawing/2014/main" id="{B828513C-CB63-4B57-A99C-ABDFD67DD546}"/>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13" name="">
            <a:extLst xmlns:a="http://schemas.openxmlformats.org/drawingml/2006/main">
              <a:ext uri="{FF2B5EF4-FFF2-40B4-BE49-F238E27FC236}">
                <a16:creationId xmlns:a16="http://schemas.microsoft.com/office/drawing/2014/main" id="{395D23E5-5E47-457A-9640-4BB658BD1084}"/>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14" name="">
            <a:extLst xmlns:a="http://schemas.openxmlformats.org/drawingml/2006/main">
              <a:ext uri="{FF2B5EF4-FFF2-40B4-BE49-F238E27FC236}">
                <a16:creationId xmlns:a16="http://schemas.microsoft.com/office/drawing/2014/main" id="{6276509C-8323-41BC-9305-6F71F015E1E2}"/>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05</a:t>
            </a:r>
          </a:p>
        </p:txBody>
      </p:sp>
    </p:spTree>
    <p:extLst>
      <p:ext uri="{BB962C8B-B14F-4D97-AF65-F5344CB8AC3E}">
        <p14:creationId xmlns:p14="http://schemas.microsoft.com/office/powerpoint/2010/main" val="8149440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5EBC75D-8E42-42B8-8618-1304389EB443}"/>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OUTREACH</a:t>
            </a:r>
          </a:p>
        </p:txBody>
      </p:sp>
      <p:sp>
        <p:nvSpPr>
          <p:cNvPr id="2" name="">
            <a:extLst xmlns:a="http://schemas.openxmlformats.org/drawingml/2006/main">
              <a:ext uri="{FF2B5EF4-FFF2-40B4-BE49-F238E27FC236}">
                <a16:creationId xmlns:a16="http://schemas.microsoft.com/office/drawing/2014/main" id="{5B45CD16-5A50-4565-87F3-FB90F78DCDC7}"/>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The everyday outreach rhythm</a:t>
            </a:r>
          </a:p>
        </p:txBody>
      </p:sp>
      <p:sp>
        <p:nvSpPr>
          <p:cNvPr id="3" name="">
            <a:extLst xmlns:a="http://schemas.openxmlformats.org/drawingml/2006/main">
              <a:ext uri="{FF2B5EF4-FFF2-40B4-BE49-F238E27FC236}">
                <a16:creationId xmlns:a16="http://schemas.microsoft.com/office/drawing/2014/main" id="{9483B4C0-8318-4290-AC8A-BEDE83BB8233}"/>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F8DACBE5-47CD-4B26-8021-BE1DCEF9905A}"/>
              </a:ext>
            </a:extLst>
          </p:cNvPr>
          <p:cNvSpPr>
            <a:spLocks xmlns:a="http://schemas.openxmlformats.org/drawingml/2006/main" noGrp="1"/>
          </p:cNvSpPr>
          <p:nvPr/>
        </p:nvSpPr>
        <p:spPr>
          <a:xfrm xmlns:a="http://schemas.openxmlformats.org/drawingml/2006/main">
            <a:off x="1162050" y="2857500"/>
            <a:ext cx="9867900" cy="0"/>
          </a:xfrm>
          <a:prstGeom xmlns:a="http://schemas.openxmlformats.org/drawingml/2006/main" prst="line">
            <a:avLst/>
          </a:prstGeom>
          <a:noFill xmlns:a="http://schemas.openxmlformats.org/drawingml/2006/main"/>
          <a:ln xmlns:a="http://schemas.openxmlformats.org/drawingml/2006/main" w="57150">
            <a:solidFill>
              <a:srgbClr val="D7E1E7"/>
            </a:solidFill>
            <a:prstDash val="solid"/>
          </a:ln>
        </p:spPr>
      </p:sp>
      <p:sp>
        <p:nvSpPr>
          <p:cNvPr id="5" name="">
            <a:extLst xmlns:a="http://schemas.openxmlformats.org/drawingml/2006/main">
              <a:ext uri="{FF2B5EF4-FFF2-40B4-BE49-F238E27FC236}">
                <a16:creationId xmlns:a16="http://schemas.microsoft.com/office/drawing/2014/main" id="{C843B7DF-4B22-4005-BB2B-55633DEA0792}"/>
              </a:ext>
            </a:extLst>
          </p:cNvPr>
          <p:cNvSpPr>
            <a:spLocks xmlns:a="http://schemas.openxmlformats.org/drawingml/2006/main" noGrp="1"/>
          </p:cNvSpPr>
          <p:nvPr/>
        </p:nvSpPr>
        <p:spPr>
          <a:xfrm xmlns:a="http://schemas.openxmlformats.org/drawingml/2006/main">
            <a:off x="1428750" y="26479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6" name="">
            <a:extLst xmlns:a="http://schemas.openxmlformats.org/drawingml/2006/main">
              <a:ext uri="{FF2B5EF4-FFF2-40B4-BE49-F238E27FC236}">
                <a16:creationId xmlns:a16="http://schemas.microsoft.com/office/drawing/2014/main" id="{250CAE2B-170C-452B-83D3-C603F23C1130}"/>
              </a:ext>
            </a:extLst>
          </p:cNvPr>
          <p:cNvSpPr>
            <a:spLocks xmlns:a="http://schemas.openxmlformats.org/drawingml/2006/main" noGrp="1"/>
          </p:cNvSpPr>
          <p:nvPr/>
        </p:nvSpPr>
        <p:spPr>
          <a:xfrm xmlns:a="http://schemas.openxmlformats.org/drawingml/2006/main">
            <a:off x="1428750" y="2686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1</a:t>
            </a:r>
          </a:p>
        </p:txBody>
      </p:sp>
      <p:sp>
        <p:nvSpPr>
          <p:cNvPr id="7" name="">
            <a:extLst xmlns:a="http://schemas.openxmlformats.org/drawingml/2006/main">
              <a:ext uri="{FF2B5EF4-FFF2-40B4-BE49-F238E27FC236}">
                <a16:creationId xmlns:a16="http://schemas.microsoft.com/office/drawing/2014/main" id="{8E30B853-F374-41C4-9286-7A9DE21C9914}"/>
              </a:ext>
            </a:extLst>
          </p:cNvPr>
          <p:cNvSpPr>
            <a:spLocks xmlns:a="http://schemas.openxmlformats.org/drawingml/2006/main" noGrp="1"/>
          </p:cNvSpPr>
          <p:nvPr/>
        </p:nvSpPr>
        <p:spPr>
          <a:xfrm xmlns:a="http://schemas.openxmlformats.org/drawingml/2006/main">
            <a:off x="723900" y="3352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102A43"/>
                </a:solidFill>
              </a:defRPr>
            </a:pPr>
            <a:r>
              <a:rPr sz="1725" b="1" i="0">
                <a:solidFill>
                  <a:srgbClr val="102A43"/>
                </a:solidFill>
              </a:rPr>
              <a:t>Open</a:t>
            </a:r>
          </a:p>
        </p:txBody>
      </p:sp>
      <p:sp>
        <p:nvSpPr>
          <p:cNvPr id="8" name="">
            <a:extLst xmlns:a="http://schemas.openxmlformats.org/drawingml/2006/main">
              <a:ext uri="{FF2B5EF4-FFF2-40B4-BE49-F238E27FC236}">
                <a16:creationId xmlns:a16="http://schemas.microsoft.com/office/drawing/2014/main" id="{3424BEE3-B3EF-4D85-AA9A-EE3F5A2E2489}"/>
              </a:ext>
            </a:extLst>
          </p:cNvPr>
          <p:cNvSpPr>
            <a:spLocks xmlns:a="http://schemas.openxmlformats.org/drawingml/2006/main" noGrp="1"/>
          </p:cNvSpPr>
          <p:nvPr/>
        </p:nvSpPr>
        <p:spPr>
          <a:xfrm xmlns:a="http://schemas.openxmlformats.org/drawingml/2006/main">
            <a:off x="723900" y="3848100"/>
            <a:ext cx="1809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26A7A"/>
                </a:solidFill>
              </a:defRPr>
            </a:pPr>
            <a:r>
              <a:rPr sz="1275" b="0" i="0">
                <a:solidFill>
                  <a:srgbClr val="526A7A"/>
                </a:solidFill>
              </a:rPr>
              <a:t>Start from Member outreach and choose the person.</a:t>
            </a:r>
          </a:p>
        </p:txBody>
      </p:sp>
      <p:sp>
        <p:nvSpPr>
          <p:cNvPr id="9" name="">
            <a:extLst xmlns:a="http://schemas.openxmlformats.org/drawingml/2006/main">
              <a:ext uri="{FF2B5EF4-FFF2-40B4-BE49-F238E27FC236}">
                <a16:creationId xmlns:a16="http://schemas.microsoft.com/office/drawing/2014/main" id="{4FD79E27-FC49-4EC9-AD5E-B9EAC640B9F7}"/>
              </a:ext>
            </a:extLst>
          </p:cNvPr>
          <p:cNvSpPr>
            <a:spLocks xmlns:a="http://schemas.openxmlformats.org/drawingml/2006/main" noGrp="1"/>
          </p:cNvSpPr>
          <p:nvPr/>
        </p:nvSpPr>
        <p:spPr>
          <a:xfrm xmlns:a="http://schemas.openxmlformats.org/drawingml/2006/main">
            <a:off x="3581400" y="26479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0" name="">
            <a:extLst xmlns:a="http://schemas.openxmlformats.org/drawingml/2006/main">
              <a:ext uri="{FF2B5EF4-FFF2-40B4-BE49-F238E27FC236}">
                <a16:creationId xmlns:a16="http://schemas.microsoft.com/office/drawing/2014/main" id="{03088F60-CF58-4B2B-AA0C-DC98A4E21212}"/>
              </a:ext>
            </a:extLst>
          </p:cNvPr>
          <p:cNvSpPr>
            <a:spLocks xmlns:a="http://schemas.openxmlformats.org/drawingml/2006/main" noGrp="1"/>
          </p:cNvSpPr>
          <p:nvPr/>
        </p:nvSpPr>
        <p:spPr>
          <a:xfrm xmlns:a="http://schemas.openxmlformats.org/drawingml/2006/main">
            <a:off x="3581400" y="2686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2</a:t>
            </a:r>
          </a:p>
        </p:txBody>
      </p:sp>
      <p:sp>
        <p:nvSpPr>
          <p:cNvPr id="11" name="">
            <a:extLst xmlns:a="http://schemas.openxmlformats.org/drawingml/2006/main">
              <a:ext uri="{FF2B5EF4-FFF2-40B4-BE49-F238E27FC236}">
                <a16:creationId xmlns:a16="http://schemas.microsoft.com/office/drawing/2014/main" id="{755104E2-FA08-4861-B249-B4B34A071151}"/>
              </a:ext>
            </a:extLst>
          </p:cNvPr>
          <p:cNvSpPr>
            <a:spLocks xmlns:a="http://schemas.openxmlformats.org/drawingml/2006/main" noGrp="1"/>
          </p:cNvSpPr>
          <p:nvPr/>
        </p:nvSpPr>
        <p:spPr>
          <a:xfrm xmlns:a="http://schemas.openxmlformats.org/drawingml/2006/main">
            <a:off x="2876550" y="3352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102A43"/>
                </a:solidFill>
              </a:defRPr>
            </a:pPr>
            <a:r>
              <a:rPr sz="1725" b="1" i="0">
                <a:solidFill>
                  <a:srgbClr val="102A43"/>
                </a:solidFill>
              </a:rPr>
              <a:t>Review</a:t>
            </a:r>
          </a:p>
        </p:txBody>
      </p:sp>
      <p:sp>
        <p:nvSpPr>
          <p:cNvPr id="12" name="">
            <a:extLst xmlns:a="http://schemas.openxmlformats.org/drawingml/2006/main">
              <a:ext uri="{FF2B5EF4-FFF2-40B4-BE49-F238E27FC236}">
                <a16:creationId xmlns:a16="http://schemas.microsoft.com/office/drawing/2014/main" id="{D5F027CD-88CF-4FB2-A03D-91703CAD5121}"/>
              </a:ext>
            </a:extLst>
          </p:cNvPr>
          <p:cNvSpPr>
            <a:spLocks xmlns:a="http://schemas.openxmlformats.org/drawingml/2006/main" noGrp="1"/>
          </p:cNvSpPr>
          <p:nvPr/>
        </p:nvSpPr>
        <p:spPr>
          <a:xfrm xmlns:a="http://schemas.openxmlformats.org/drawingml/2006/main">
            <a:off x="2876550" y="3848100"/>
            <a:ext cx="1809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26A7A"/>
                </a:solidFill>
              </a:defRPr>
            </a:pPr>
            <a:r>
              <a:rPr sz="1275" b="0" i="0">
                <a:solidFill>
                  <a:srgbClr val="526A7A"/>
                </a:solidFill>
              </a:rPr>
              <a:t>Read the current record, assignment, and last contact.</a:t>
            </a:r>
          </a:p>
        </p:txBody>
      </p:sp>
      <p:sp>
        <p:nvSpPr>
          <p:cNvPr id="13" name="">
            <a:extLst xmlns:a="http://schemas.openxmlformats.org/drawingml/2006/main">
              <a:ext uri="{FF2B5EF4-FFF2-40B4-BE49-F238E27FC236}">
                <a16:creationId xmlns:a16="http://schemas.microsoft.com/office/drawing/2014/main" id="{DAAD947C-C238-4D90-A9CD-BCA35D12C15F}"/>
              </a:ext>
            </a:extLst>
          </p:cNvPr>
          <p:cNvSpPr>
            <a:spLocks xmlns:a="http://schemas.openxmlformats.org/drawingml/2006/main" noGrp="1"/>
          </p:cNvSpPr>
          <p:nvPr/>
        </p:nvSpPr>
        <p:spPr>
          <a:xfrm xmlns:a="http://schemas.openxmlformats.org/drawingml/2006/main">
            <a:off x="5734050" y="26479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4" name="">
            <a:extLst xmlns:a="http://schemas.openxmlformats.org/drawingml/2006/main">
              <a:ext uri="{FF2B5EF4-FFF2-40B4-BE49-F238E27FC236}">
                <a16:creationId xmlns:a16="http://schemas.microsoft.com/office/drawing/2014/main" id="{647F318B-3731-4020-AE5D-34813BC21A5F}"/>
              </a:ext>
            </a:extLst>
          </p:cNvPr>
          <p:cNvSpPr>
            <a:spLocks xmlns:a="http://schemas.openxmlformats.org/drawingml/2006/main" noGrp="1"/>
          </p:cNvSpPr>
          <p:nvPr/>
        </p:nvSpPr>
        <p:spPr>
          <a:xfrm xmlns:a="http://schemas.openxmlformats.org/drawingml/2006/main">
            <a:off x="5734050" y="2686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3</a:t>
            </a:r>
          </a:p>
        </p:txBody>
      </p:sp>
      <p:sp>
        <p:nvSpPr>
          <p:cNvPr id="15" name="">
            <a:extLst xmlns:a="http://schemas.openxmlformats.org/drawingml/2006/main">
              <a:ext uri="{FF2B5EF4-FFF2-40B4-BE49-F238E27FC236}">
                <a16:creationId xmlns:a16="http://schemas.microsoft.com/office/drawing/2014/main" id="{5EF9B702-A782-4A97-A393-BFB5FCA40C2D}"/>
              </a:ext>
            </a:extLst>
          </p:cNvPr>
          <p:cNvSpPr>
            <a:spLocks xmlns:a="http://schemas.openxmlformats.org/drawingml/2006/main" noGrp="1"/>
          </p:cNvSpPr>
          <p:nvPr/>
        </p:nvSpPr>
        <p:spPr>
          <a:xfrm xmlns:a="http://schemas.openxmlformats.org/drawingml/2006/main">
            <a:off x="5029200" y="3352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102A43"/>
                </a:solidFill>
              </a:defRPr>
            </a:pPr>
            <a:r>
              <a:rPr sz="1725" b="1" i="0">
                <a:solidFill>
                  <a:srgbClr val="102A43"/>
                </a:solidFill>
              </a:rPr>
              <a:t>Contact</a:t>
            </a:r>
          </a:p>
        </p:txBody>
      </p:sp>
      <p:sp>
        <p:nvSpPr>
          <p:cNvPr id="16" name="">
            <a:extLst xmlns:a="http://schemas.openxmlformats.org/drawingml/2006/main">
              <a:ext uri="{FF2B5EF4-FFF2-40B4-BE49-F238E27FC236}">
                <a16:creationId xmlns:a16="http://schemas.microsoft.com/office/drawing/2014/main" id="{D962122A-0EB2-439C-9612-E20E79D4B0F4}"/>
              </a:ext>
            </a:extLst>
          </p:cNvPr>
          <p:cNvSpPr>
            <a:spLocks xmlns:a="http://schemas.openxmlformats.org/drawingml/2006/main" noGrp="1"/>
          </p:cNvSpPr>
          <p:nvPr/>
        </p:nvSpPr>
        <p:spPr>
          <a:xfrm xmlns:a="http://schemas.openxmlformats.org/drawingml/2006/main">
            <a:off x="5029200" y="3848100"/>
            <a:ext cx="1809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26A7A"/>
                </a:solidFill>
              </a:defRPr>
            </a:pPr>
            <a:r>
              <a:rPr sz="1275" b="0" i="0">
                <a:solidFill>
                  <a:srgbClr val="526A7A"/>
                </a:solidFill>
              </a:rPr>
              <a:t>Use only the contact methods available to your role.</a:t>
            </a:r>
          </a:p>
        </p:txBody>
      </p:sp>
      <p:sp>
        <p:nvSpPr>
          <p:cNvPr id="17" name="">
            <a:extLst xmlns:a="http://schemas.openxmlformats.org/drawingml/2006/main">
              <a:ext uri="{FF2B5EF4-FFF2-40B4-BE49-F238E27FC236}">
                <a16:creationId xmlns:a16="http://schemas.microsoft.com/office/drawing/2014/main" id="{4565357B-929D-43AA-952B-C962E4E7CF02}"/>
              </a:ext>
            </a:extLst>
          </p:cNvPr>
          <p:cNvSpPr>
            <a:spLocks xmlns:a="http://schemas.openxmlformats.org/drawingml/2006/main" noGrp="1"/>
          </p:cNvSpPr>
          <p:nvPr/>
        </p:nvSpPr>
        <p:spPr>
          <a:xfrm xmlns:a="http://schemas.openxmlformats.org/drawingml/2006/main">
            <a:off x="7886700" y="26479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8" name="">
            <a:extLst xmlns:a="http://schemas.openxmlformats.org/drawingml/2006/main">
              <a:ext uri="{FF2B5EF4-FFF2-40B4-BE49-F238E27FC236}">
                <a16:creationId xmlns:a16="http://schemas.microsoft.com/office/drawing/2014/main" id="{CDA16B45-2B29-441F-8195-A1F1EFDBBAB6}"/>
              </a:ext>
            </a:extLst>
          </p:cNvPr>
          <p:cNvSpPr>
            <a:spLocks xmlns:a="http://schemas.openxmlformats.org/drawingml/2006/main" noGrp="1"/>
          </p:cNvSpPr>
          <p:nvPr/>
        </p:nvSpPr>
        <p:spPr>
          <a:xfrm xmlns:a="http://schemas.openxmlformats.org/drawingml/2006/main">
            <a:off x="7886700" y="2686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4</a:t>
            </a:r>
          </a:p>
        </p:txBody>
      </p:sp>
      <p:sp>
        <p:nvSpPr>
          <p:cNvPr id="19" name="">
            <a:extLst xmlns:a="http://schemas.openxmlformats.org/drawingml/2006/main">
              <a:ext uri="{FF2B5EF4-FFF2-40B4-BE49-F238E27FC236}">
                <a16:creationId xmlns:a16="http://schemas.microsoft.com/office/drawing/2014/main" id="{B54E9300-5897-48D3-8DC8-A844F22B26A0}"/>
              </a:ext>
            </a:extLst>
          </p:cNvPr>
          <p:cNvSpPr>
            <a:spLocks xmlns:a="http://schemas.openxmlformats.org/drawingml/2006/main" noGrp="1"/>
          </p:cNvSpPr>
          <p:nvPr/>
        </p:nvSpPr>
        <p:spPr>
          <a:xfrm xmlns:a="http://schemas.openxmlformats.org/drawingml/2006/main">
            <a:off x="7181850" y="3352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102A43"/>
                </a:solidFill>
              </a:defRPr>
            </a:pPr>
            <a:r>
              <a:rPr sz="1725" b="1" i="0">
                <a:solidFill>
                  <a:srgbClr val="102A43"/>
                </a:solidFill>
              </a:rPr>
              <a:t>Record</a:t>
            </a:r>
          </a:p>
        </p:txBody>
      </p:sp>
      <p:sp>
        <p:nvSpPr>
          <p:cNvPr id="20" name="">
            <a:extLst xmlns:a="http://schemas.openxmlformats.org/drawingml/2006/main">
              <a:ext uri="{FF2B5EF4-FFF2-40B4-BE49-F238E27FC236}">
                <a16:creationId xmlns:a16="http://schemas.microsoft.com/office/drawing/2014/main" id="{60F0D6EE-1D40-4F13-970A-BC13EE825CBC}"/>
              </a:ext>
            </a:extLst>
          </p:cNvPr>
          <p:cNvSpPr>
            <a:spLocks xmlns:a="http://schemas.openxmlformats.org/drawingml/2006/main" noGrp="1"/>
          </p:cNvSpPr>
          <p:nvPr/>
        </p:nvSpPr>
        <p:spPr>
          <a:xfrm xmlns:a="http://schemas.openxmlformats.org/drawingml/2006/main">
            <a:off x="7181850" y="3848100"/>
            <a:ext cx="1809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26A7A"/>
                </a:solidFill>
              </a:defRPr>
            </a:pPr>
            <a:r>
              <a:rPr sz="1275" b="0" i="0">
                <a:solidFill>
                  <a:srgbClr val="526A7A"/>
                </a:solidFill>
              </a:rPr>
              <a:t>Save what happened and update action readiness.</a:t>
            </a:r>
          </a:p>
        </p:txBody>
      </p:sp>
      <p:sp>
        <p:nvSpPr>
          <p:cNvPr id="21" name="">
            <a:extLst xmlns:a="http://schemas.openxmlformats.org/drawingml/2006/main">
              <a:ext uri="{FF2B5EF4-FFF2-40B4-BE49-F238E27FC236}">
                <a16:creationId xmlns:a16="http://schemas.microsoft.com/office/drawing/2014/main" id="{1A3811AA-398D-44C9-9715-20B7A70085B3}"/>
              </a:ext>
            </a:extLst>
          </p:cNvPr>
          <p:cNvSpPr>
            <a:spLocks xmlns:a="http://schemas.openxmlformats.org/drawingml/2006/main" noGrp="1"/>
          </p:cNvSpPr>
          <p:nvPr/>
        </p:nvSpPr>
        <p:spPr>
          <a:xfrm xmlns:a="http://schemas.openxmlformats.org/drawingml/2006/main">
            <a:off x="10039350" y="2647950"/>
            <a:ext cx="400050" cy="400050"/>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2" name="">
            <a:extLst xmlns:a="http://schemas.openxmlformats.org/drawingml/2006/main">
              <a:ext uri="{FF2B5EF4-FFF2-40B4-BE49-F238E27FC236}">
                <a16:creationId xmlns:a16="http://schemas.microsoft.com/office/drawing/2014/main" id="{6F5A4B0D-F6BE-43A3-A16B-26D135BC912E}"/>
              </a:ext>
            </a:extLst>
          </p:cNvPr>
          <p:cNvSpPr>
            <a:spLocks xmlns:a="http://schemas.openxmlformats.org/drawingml/2006/main" noGrp="1"/>
          </p:cNvSpPr>
          <p:nvPr/>
        </p:nvSpPr>
        <p:spPr>
          <a:xfrm xmlns:a="http://schemas.openxmlformats.org/drawingml/2006/main">
            <a:off x="10039350" y="2686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5</a:t>
            </a:r>
          </a:p>
        </p:txBody>
      </p:sp>
      <p:sp>
        <p:nvSpPr>
          <p:cNvPr id="23" name="">
            <a:extLst xmlns:a="http://schemas.openxmlformats.org/drawingml/2006/main">
              <a:ext uri="{FF2B5EF4-FFF2-40B4-BE49-F238E27FC236}">
                <a16:creationId xmlns:a16="http://schemas.microsoft.com/office/drawing/2014/main" id="{F3B3B60C-8F8C-44D9-B1DB-AA5CE88748D0}"/>
              </a:ext>
            </a:extLst>
          </p:cNvPr>
          <p:cNvSpPr>
            <a:spLocks xmlns:a="http://schemas.openxmlformats.org/drawingml/2006/main" noGrp="1"/>
          </p:cNvSpPr>
          <p:nvPr/>
        </p:nvSpPr>
        <p:spPr>
          <a:xfrm xmlns:a="http://schemas.openxmlformats.org/drawingml/2006/main">
            <a:off x="9334500" y="3352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102A43"/>
                </a:solidFill>
              </a:defRPr>
            </a:pPr>
            <a:r>
              <a:rPr sz="1725" b="1" i="0">
                <a:solidFill>
                  <a:srgbClr val="102A43"/>
                </a:solidFill>
              </a:rPr>
              <a:t>Follow up</a:t>
            </a:r>
          </a:p>
        </p:txBody>
      </p:sp>
      <p:sp>
        <p:nvSpPr>
          <p:cNvPr id="24" name="">
            <a:extLst xmlns:a="http://schemas.openxmlformats.org/drawingml/2006/main">
              <a:ext uri="{FF2B5EF4-FFF2-40B4-BE49-F238E27FC236}">
                <a16:creationId xmlns:a16="http://schemas.microsoft.com/office/drawing/2014/main" id="{03256936-0059-4F36-BDC7-AE4D77041A43}"/>
              </a:ext>
            </a:extLst>
          </p:cNvPr>
          <p:cNvSpPr>
            <a:spLocks xmlns:a="http://schemas.openxmlformats.org/drawingml/2006/main" noGrp="1"/>
          </p:cNvSpPr>
          <p:nvPr/>
        </p:nvSpPr>
        <p:spPr>
          <a:xfrm xmlns:a="http://schemas.openxmlformats.org/drawingml/2006/main">
            <a:off x="9334500" y="3848100"/>
            <a:ext cx="1809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26A7A"/>
                </a:solidFill>
              </a:defRPr>
            </a:pPr>
            <a:r>
              <a:rPr sz="1275" b="0" i="0">
                <a:solidFill>
                  <a:srgbClr val="526A7A"/>
                </a:solidFill>
              </a:rPr>
              <a:t>Set the next step, then verify the refreshed record.</a:t>
            </a:r>
          </a:p>
        </p:txBody>
      </p:sp>
      <p:sp>
        <p:nvSpPr>
          <p:cNvPr id="25" name="">
            <a:extLst xmlns:a="http://schemas.openxmlformats.org/drawingml/2006/main">
              <a:ext uri="{FF2B5EF4-FFF2-40B4-BE49-F238E27FC236}">
                <a16:creationId xmlns:a16="http://schemas.microsoft.com/office/drawing/2014/main" id="{DF0F7CAB-908C-490C-9345-C0E640988CCE}"/>
              </a:ext>
            </a:extLst>
          </p:cNvPr>
          <p:cNvSpPr>
            <a:spLocks xmlns:a="http://schemas.openxmlformats.org/drawingml/2006/main" noGrp="1"/>
          </p:cNvSpPr>
          <p:nvPr/>
        </p:nvSpPr>
        <p:spPr>
          <a:xfrm xmlns:a="http://schemas.openxmlformats.org/drawingml/2006/main">
            <a:off x="1876425" y="5476875"/>
            <a:ext cx="8439150" cy="552450"/>
          </a:xfrm>
          <a:prstGeom xmlns:a="http://schemas.openxmlformats.org/drawingml/2006/main" prst="roundRect">
            <a:avLst>
              <a:gd name="adj" fmla="val 13793"/>
            </a:avLst>
          </a:prstGeom>
          <a:solidFill xmlns:a="http://schemas.openxmlformats.org/drawingml/2006/main">
            <a:srgbClr val="E6F2F8"/>
          </a:solidFill>
          <a:ln xmlns:a="http://schemas.openxmlformats.org/drawingml/2006/main" w="9525">
            <a:solidFill>
              <a:srgbClr val="B9DCEB"/>
            </a:solidFill>
            <a:prstDash val="solid"/>
          </a:ln>
        </p:spPr>
      </p:sp>
      <p:sp>
        <p:nvSpPr>
          <p:cNvPr id="26" name="">
            <a:extLst xmlns:a="http://schemas.openxmlformats.org/drawingml/2006/main">
              <a:ext uri="{FF2B5EF4-FFF2-40B4-BE49-F238E27FC236}">
                <a16:creationId xmlns:a16="http://schemas.microsoft.com/office/drawing/2014/main" id="{463EEF8A-668D-4F8B-BECF-3BB3EBA3DE8C}"/>
              </a:ext>
            </a:extLst>
          </p:cNvPr>
          <p:cNvSpPr>
            <a:spLocks xmlns:a="http://schemas.openxmlformats.org/drawingml/2006/main" noGrp="1"/>
          </p:cNvSpPr>
          <p:nvPr/>
        </p:nvSpPr>
        <p:spPr>
          <a:xfrm xmlns:a="http://schemas.openxmlformats.org/drawingml/2006/main">
            <a:off x="2095500" y="5638800"/>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02A43"/>
                </a:solidFill>
              </a:defRPr>
            </a:pPr>
            <a:r>
              <a:rPr sz="1500" b="1" i="0">
                <a:solidFill>
                  <a:srgbClr val="102A43"/>
                </a:solidFill>
              </a:rPr>
              <a:t>A conversation is not finished in CAT until the record and next step are clear.</a:t>
            </a:r>
          </a:p>
        </p:txBody>
      </p:sp>
      <p:sp>
        <p:nvSpPr>
          <p:cNvPr id="27" name="">
            <a:extLst xmlns:a="http://schemas.openxmlformats.org/drawingml/2006/main">
              <a:ext uri="{FF2B5EF4-FFF2-40B4-BE49-F238E27FC236}">
                <a16:creationId xmlns:a16="http://schemas.microsoft.com/office/drawing/2014/main" id="{55C126F3-4909-4ECD-B51C-D919B9DD7705}"/>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8" name="">
            <a:extLst xmlns:a="http://schemas.openxmlformats.org/drawingml/2006/main">
              <a:ext uri="{FF2B5EF4-FFF2-40B4-BE49-F238E27FC236}">
                <a16:creationId xmlns:a16="http://schemas.microsoft.com/office/drawing/2014/main" id="{7D50BE5A-F0CC-4AEE-8ADD-0506CAAD0AD6}"/>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9" name="">
            <a:extLst xmlns:a="http://schemas.openxmlformats.org/drawingml/2006/main">
              <a:ext uri="{FF2B5EF4-FFF2-40B4-BE49-F238E27FC236}">
                <a16:creationId xmlns:a16="http://schemas.microsoft.com/office/drawing/2014/main" id="{E1BA523F-EBC9-4A2B-8F71-CAB30458AABF}"/>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06</a:t>
            </a:r>
          </a:p>
        </p:txBody>
      </p:sp>
    </p:spTree>
    <p:extLst>
      <p:ext uri="{BB962C8B-B14F-4D97-AF65-F5344CB8AC3E}">
        <p14:creationId xmlns:p14="http://schemas.microsoft.com/office/powerpoint/2010/main" val="354690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DB8FCFA-3A46-4833-B33B-7FEEF193289F}"/>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OUTREACH</a:t>
            </a:r>
          </a:p>
        </p:txBody>
      </p:sp>
      <p:sp>
        <p:nvSpPr>
          <p:cNvPr id="2" name="">
            <a:extLst xmlns:a="http://schemas.openxmlformats.org/drawingml/2006/main">
              <a:ext uri="{FF2B5EF4-FFF2-40B4-BE49-F238E27FC236}">
                <a16:creationId xmlns:a16="http://schemas.microsoft.com/office/drawing/2014/main" id="{B737CDFB-0E31-4C4D-8C85-AD7B8372F0C6}"/>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Record the conversation while it is fresh</a:t>
            </a:r>
          </a:p>
        </p:txBody>
      </p:sp>
      <p:sp>
        <p:nvSpPr>
          <p:cNvPr id="3" name="">
            <a:extLst xmlns:a="http://schemas.openxmlformats.org/drawingml/2006/main">
              <a:ext uri="{FF2B5EF4-FFF2-40B4-BE49-F238E27FC236}">
                <a16:creationId xmlns:a16="http://schemas.microsoft.com/office/drawing/2014/main" id="{C8F49C32-0DA5-4EAF-BF7A-BC5799637E8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552E8220-78E3-4B23-B662-54D7F55B6F70}"/>
              </a:ext>
            </a:extLst>
          </p:cNvPr>
          <p:cNvSpPr>
            <a:spLocks xmlns:a="http://schemas.openxmlformats.org/drawingml/2006/main" noGrp="1"/>
          </p:cNvSpPr>
          <p:nvPr/>
        </p:nvSpPr>
        <p:spPr>
          <a:xfrm xmlns:a="http://schemas.openxmlformats.org/drawingml/2006/main">
            <a:off x="685800" y="1752600"/>
            <a:ext cx="491490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7E1E7"/>
            </a:solidFill>
            <a:prstDash val="solid"/>
          </a:ln>
        </p:spPr>
      </p:sp>
      <p:sp>
        <p:nvSpPr>
          <p:cNvPr id="5" name="">
            <a:extLst xmlns:a="http://schemas.openxmlformats.org/drawingml/2006/main">
              <a:ext uri="{FF2B5EF4-FFF2-40B4-BE49-F238E27FC236}">
                <a16:creationId xmlns:a16="http://schemas.microsoft.com/office/drawing/2014/main" id="{97D67918-76AA-496F-B88E-4AF91FE0CEEF}"/>
              </a:ext>
            </a:extLst>
          </p:cNvPr>
          <p:cNvSpPr>
            <a:spLocks xmlns:a="http://schemas.openxmlformats.org/drawingml/2006/main" noGrp="1"/>
          </p:cNvSpPr>
          <p:nvPr/>
        </p:nvSpPr>
        <p:spPr>
          <a:xfrm xmlns:a="http://schemas.openxmlformats.org/drawingml/2006/main">
            <a:off x="685800" y="1752600"/>
            <a:ext cx="76200" cy="1009650"/>
          </a:xfrm>
          <a:prstGeom xmlns:a="http://schemas.openxmlformats.org/drawingml/2006/main" prst="rect">
            <a:avLst/>
          </a:prstGeom>
          <a:solidFill xmlns:a="http://schemas.openxmlformats.org/drawingml/2006/main">
            <a:srgbClr val="006FA6"/>
          </a:solidFill>
          <a:ln xmlns:a="http://schemas.openxmlformats.org/drawingml/2006/main" w="0">
            <a:solidFill>
              <a:srgbClr val="006FA6"/>
            </a:solidFill>
            <a:prstDash val="solid"/>
          </a:ln>
        </p:spPr>
      </p:sp>
      <p:sp>
        <p:nvSpPr>
          <p:cNvPr id="6" name="">
            <a:extLst xmlns:a="http://schemas.openxmlformats.org/drawingml/2006/main">
              <a:ext uri="{FF2B5EF4-FFF2-40B4-BE49-F238E27FC236}">
                <a16:creationId xmlns:a16="http://schemas.microsoft.com/office/drawing/2014/main" id="{167ECB75-920F-4346-B24A-86BBB3BDB46B}"/>
              </a:ext>
            </a:extLst>
          </p:cNvPr>
          <p:cNvSpPr>
            <a:spLocks xmlns:a="http://schemas.openxmlformats.org/drawingml/2006/main" noGrp="1"/>
          </p:cNvSpPr>
          <p:nvPr/>
        </p:nvSpPr>
        <p:spPr>
          <a:xfrm xmlns:a="http://schemas.openxmlformats.org/drawingml/2006/main">
            <a:off x="952500" y="19145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Method</a:t>
            </a:r>
          </a:p>
        </p:txBody>
      </p:sp>
      <p:sp>
        <p:nvSpPr>
          <p:cNvPr id="7" name="">
            <a:extLst xmlns:a="http://schemas.openxmlformats.org/drawingml/2006/main">
              <a:ext uri="{FF2B5EF4-FFF2-40B4-BE49-F238E27FC236}">
                <a16:creationId xmlns:a16="http://schemas.microsoft.com/office/drawing/2014/main" id="{5EE4074E-14AF-4766-93E1-C7F8C0557AAC}"/>
              </a:ext>
            </a:extLst>
          </p:cNvPr>
          <p:cNvSpPr>
            <a:spLocks xmlns:a="http://schemas.openxmlformats.org/drawingml/2006/main" noGrp="1"/>
          </p:cNvSpPr>
          <p:nvPr/>
        </p:nvSpPr>
        <p:spPr>
          <a:xfrm xmlns:a="http://schemas.openxmlformats.org/drawingml/2006/main">
            <a:off x="2381250" y="1895475"/>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A7A"/>
                </a:solidFill>
              </a:defRPr>
            </a:pPr>
            <a:r>
              <a:rPr sz="1200" b="0" i="0">
                <a:solidFill>
                  <a:srgbClr val="526A7A"/>
                </a:solidFill>
              </a:rPr>
              <a:t>Phone, text, email, in person, or another approved method</a:t>
            </a:r>
          </a:p>
        </p:txBody>
      </p:sp>
      <p:sp>
        <p:nvSpPr>
          <p:cNvPr id="8" name="">
            <a:extLst xmlns:a="http://schemas.openxmlformats.org/drawingml/2006/main">
              <a:ext uri="{FF2B5EF4-FFF2-40B4-BE49-F238E27FC236}">
                <a16:creationId xmlns:a16="http://schemas.microsoft.com/office/drawing/2014/main" id="{0D1658F5-BC42-4CB2-96EE-7DB68C2B970A}"/>
              </a:ext>
            </a:extLst>
          </p:cNvPr>
          <p:cNvSpPr>
            <a:spLocks xmlns:a="http://schemas.openxmlformats.org/drawingml/2006/main" noGrp="1"/>
          </p:cNvSpPr>
          <p:nvPr/>
        </p:nvSpPr>
        <p:spPr>
          <a:xfrm xmlns:a="http://schemas.openxmlformats.org/drawingml/2006/main">
            <a:off x="685800" y="3009900"/>
            <a:ext cx="491490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7E1E7"/>
            </a:solidFill>
            <a:prstDash val="solid"/>
          </a:ln>
        </p:spPr>
      </p:sp>
      <p:sp>
        <p:nvSpPr>
          <p:cNvPr id="9" name="">
            <a:extLst xmlns:a="http://schemas.openxmlformats.org/drawingml/2006/main">
              <a:ext uri="{FF2B5EF4-FFF2-40B4-BE49-F238E27FC236}">
                <a16:creationId xmlns:a16="http://schemas.microsoft.com/office/drawing/2014/main" id="{45B8EA57-098E-4062-87B8-493594EA8E7C}"/>
              </a:ext>
            </a:extLst>
          </p:cNvPr>
          <p:cNvSpPr>
            <a:spLocks xmlns:a="http://schemas.openxmlformats.org/drawingml/2006/main" noGrp="1"/>
          </p:cNvSpPr>
          <p:nvPr/>
        </p:nvSpPr>
        <p:spPr>
          <a:xfrm xmlns:a="http://schemas.openxmlformats.org/drawingml/2006/main">
            <a:off x="685800" y="3009900"/>
            <a:ext cx="76200" cy="1009650"/>
          </a:xfrm>
          <a:prstGeom xmlns:a="http://schemas.openxmlformats.org/drawingml/2006/main" prst="rect">
            <a:avLst/>
          </a:prstGeom>
          <a:solidFill xmlns:a="http://schemas.openxmlformats.org/drawingml/2006/main">
            <a:srgbClr val="006FA6"/>
          </a:solidFill>
          <a:ln xmlns:a="http://schemas.openxmlformats.org/drawingml/2006/main" w="0">
            <a:solidFill>
              <a:srgbClr val="006FA6"/>
            </a:solidFill>
            <a:prstDash val="solid"/>
          </a:ln>
        </p:spPr>
      </p:sp>
      <p:sp>
        <p:nvSpPr>
          <p:cNvPr id="10" name="">
            <a:extLst xmlns:a="http://schemas.openxmlformats.org/drawingml/2006/main">
              <a:ext uri="{FF2B5EF4-FFF2-40B4-BE49-F238E27FC236}">
                <a16:creationId xmlns:a16="http://schemas.microsoft.com/office/drawing/2014/main" id="{9CF34F21-B59E-4569-BA45-7C5F079C188D}"/>
              </a:ext>
            </a:extLst>
          </p:cNvPr>
          <p:cNvSpPr>
            <a:spLocks xmlns:a="http://schemas.openxmlformats.org/drawingml/2006/main" noGrp="1"/>
          </p:cNvSpPr>
          <p:nvPr/>
        </p:nvSpPr>
        <p:spPr>
          <a:xfrm xmlns:a="http://schemas.openxmlformats.org/drawingml/2006/main">
            <a:off x="952500" y="31718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Outcome</a:t>
            </a:r>
          </a:p>
        </p:txBody>
      </p:sp>
      <p:sp>
        <p:nvSpPr>
          <p:cNvPr id="11" name="">
            <a:extLst xmlns:a="http://schemas.openxmlformats.org/drawingml/2006/main">
              <a:ext uri="{FF2B5EF4-FFF2-40B4-BE49-F238E27FC236}">
                <a16:creationId xmlns:a16="http://schemas.microsoft.com/office/drawing/2014/main" id="{F008A729-E5DA-4A86-86B4-E5BFD5D0702F}"/>
              </a:ext>
            </a:extLst>
          </p:cNvPr>
          <p:cNvSpPr>
            <a:spLocks xmlns:a="http://schemas.openxmlformats.org/drawingml/2006/main" noGrp="1"/>
          </p:cNvSpPr>
          <p:nvPr/>
        </p:nvSpPr>
        <p:spPr>
          <a:xfrm xmlns:a="http://schemas.openxmlformats.org/drawingml/2006/main">
            <a:off x="2381250" y="3152775"/>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A7A"/>
                </a:solidFill>
              </a:defRPr>
            </a:pPr>
            <a:r>
              <a:rPr sz="1200" b="0" i="0">
                <a:solidFill>
                  <a:srgbClr val="526A7A"/>
                </a:solidFill>
              </a:rPr>
              <a:t>Contacted, left message, no answer, wrong contact, or the closest accurate result</a:t>
            </a:r>
          </a:p>
        </p:txBody>
      </p:sp>
      <p:sp>
        <p:nvSpPr>
          <p:cNvPr id="12" name="">
            <a:extLst xmlns:a="http://schemas.openxmlformats.org/drawingml/2006/main">
              <a:ext uri="{FF2B5EF4-FFF2-40B4-BE49-F238E27FC236}">
                <a16:creationId xmlns:a16="http://schemas.microsoft.com/office/drawing/2014/main" id="{FAAAB065-F7F4-42C8-A1E9-35721ADDFBF3}"/>
              </a:ext>
            </a:extLst>
          </p:cNvPr>
          <p:cNvSpPr>
            <a:spLocks xmlns:a="http://schemas.openxmlformats.org/drawingml/2006/main" noGrp="1"/>
          </p:cNvSpPr>
          <p:nvPr/>
        </p:nvSpPr>
        <p:spPr>
          <a:xfrm xmlns:a="http://schemas.openxmlformats.org/drawingml/2006/main">
            <a:off x="685800" y="4267200"/>
            <a:ext cx="491490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7E1E7"/>
            </a:solidFill>
            <a:prstDash val="solid"/>
          </a:ln>
        </p:spPr>
      </p:sp>
      <p:sp>
        <p:nvSpPr>
          <p:cNvPr id="13" name="">
            <a:extLst xmlns:a="http://schemas.openxmlformats.org/drawingml/2006/main">
              <a:ext uri="{FF2B5EF4-FFF2-40B4-BE49-F238E27FC236}">
                <a16:creationId xmlns:a16="http://schemas.microsoft.com/office/drawing/2014/main" id="{36775227-F8F1-4B57-8C9B-B2E3C97DFE08}"/>
              </a:ext>
            </a:extLst>
          </p:cNvPr>
          <p:cNvSpPr>
            <a:spLocks xmlns:a="http://schemas.openxmlformats.org/drawingml/2006/main" noGrp="1"/>
          </p:cNvSpPr>
          <p:nvPr/>
        </p:nvSpPr>
        <p:spPr>
          <a:xfrm xmlns:a="http://schemas.openxmlformats.org/drawingml/2006/main">
            <a:off x="685800" y="4267200"/>
            <a:ext cx="76200" cy="1009650"/>
          </a:xfrm>
          <a:prstGeom xmlns:a="http://schemas.openxmlformats.org/drawingml/2006/main" prst="rect">
            <a:avLst/>
          </a:prstGeom>
          <a:solidFill xmlns:a="http://schemas.openxmlformats.org/drawingml/2006/main">
            <a:srgbClr val="006FA6"/>
          </a:solidFill>
          <a:ln xmlns:a="http://schemas.openxmlformats.org/drawingml/2006/main" w="0">
            <a:solidFill>
              <a:srgbClr val="006FA6"/>
            </a:solidFill>
            <a:prstDash val="solid"/>
          </a:ln>
        </p:spPr>
      </p:sp>
      <p:sp>
        <p:nvSpPr>
          <p:cNvPr id="14" name="">
            <a:extLst xmlns:a="http://schemas.openxmlformats.org/drawingml/2006/main">
              <a:ext uri="{FF2B5EF4-FFF2-40B4-BE49-F238E27FC236}">
                <a16:creationId xmlns:a16="http://schemas.microsoft.com/office/drawing/2014/main" id="{7DA73E6A-F3D9-4A61-A6E1-44082B8266A0}"/>
              </a:ext>
            </a:extLst>
          </p:cNvPr>
          <p:cNvSpPr>
            <a:spLocks xmlns:a="http://schemas.openxmlformats.org/drawingml/2006/main" noGrp="1"/>
          </p:cNvSpPr>
          <p:nvPr/>
        </p:nvSpPr>
        <p:spPr>
          <a:xfrm xmlns:a="http://schemas.openxmlformats.org/drawingml/2006/main">
            <a:off x="952500" y="4429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When</a:t>
            </a:r>
          </a:p>
        </p:txBody>
      </p:sp>
      <p:sp>
        <p:nvSpPr>
          <p:cNvPr id="15" name="">
            <a:extLst xmlns:a="http://schemas.openxmlformats.org/drawingml/2006/main">
              <a:ext uri="{FF2B5EF4-FFF2-40B4-BE49-F238E27FC236}">
                <a16:creationId xmlns:a16="http://schemas.microsoft.com/office/drawing/2014/main" id="{B7C42588-5169-4605-8980-76C81F32A653}"/>
              </a:ext>
            </a:extLst>
          </p:cNvPr>
          <p:cNvSpPr>
            <a:spLocks xmlns:a="http://schemas.openxmlformats.org/drawingml/2006/main" noGrp="1"/>
          </p:cNvSpPr>
          <p:nvPr/>
        </p:nvSpPr>
        <p:spPr>
          <a:xfrm xmlns:a="http://schemas.openxmlformats.org/drawingml/2006/main">
            <a:off x="2381250" y="4410075"/>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A7A"/>
                </a:solidFill>
              </a:defRPr>
            </a:pPr>
            <a:r>
              <a:rPr sz="1200" b="0" i="0">
                <a:solidFill>
                  <a:srgbClr val="526A7A"/>
                </a:solidFill>
              </a:rPr>
              <a:t>Use the actual date and time of the contact</a:t>
            </a:r>
          </a:p>
        </p:txBody>
      </p:sp>
      <p:sp>
        <p:nvSpPr>
          <p:cNvPr id="16" name="">
            <a:extLst xmlns:a="http://schemas.openxmlformats.org/drawingml/2006/main">
              <a:ext uri="{FF2B5EF4-FFF2-40B4-BE49-F238E27FC236}">
                <a16:creationId xmlns:a16="http://schemas.microsoft.com/office/drawing/2014/main" id="{D35513EB-C9BF-4BB2-B6A4-CE01C02C015E}"/>
              </a:ext>
            </a:extLst>
          </p:cNvPr>
          <p:cNvSpPr>
            <a:spLocks xmlns:a="http://schemas.openxmlformats.org/drawingml/2006/main" noGrp="1"/>
          </p:cNvSpPr>
          <p:nvPr/>
        </p:nvSpPr>
        <p:spPr>
          <a:xfrm xmlns:a="http://schemas.openxmlformats.org/drawingml/2006/main">
            <a:off x="6324600" y="1752600"/>
            <a:ext cx="491490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7E1E7"/>
            </a:solidFill>
            <a:prstDash val="solid"/>
          </a:ln>
        </p:spPr>
      </p:sp>
      <p:sp>
        <p:nvSpPr>
          <p:cNvPr id="17" name="">
            <a:extLst xmlns:a="http://schemas.openxmlformats.org/drawingml/2006/main">
              <a:ext uri="{FF2B5EF4-FFF2-40B4-BE49-F238E27FC236}">
                <a16:creationId xmlns:a16="http://schemas.microsoft.com/office/drawing/2014/main" id="{2C8F6D2D-DFE9-448E-B2E8-E16F206D4F2D}"/>
              </a:ext>
            </a:extLst>
          </p:cNvPr>
          <p:cNvSpPr>
            <a:spLocks xmlns:a="http://schemas.openxmlformats.org/drawingml/2006/main" noGrp="1"/>
          </p:cNvSpPr>
          <p:nvPr/>
        </p:nvSpPr>
        <p:spPr>
          <a:xfrm xmlns:a="http://schemas.openxmlformats.org/drawingml/2006/main">
            <a:off x="6324600" y="1752600"/>
            <a:ext cx="76200" cy="1009650"/>
          </a:xfrm>
          <a:prstGeom xmlns:a="http://schemas.openxmlformats.org/drawingml/2006/main" prst="rect">
            <a:avLst/>
          </a:prstGeom>
          <a:solidFill xmlns:a="http://schemas.openxmlformats.org/drawingml/2006/main">
            <a:srgbClr val="A80046"/>
          </a:solidFill>
          <a:ln xmlns:a="http://schemas.openxmlformats.org/drawingml/2006/main" w="0">
            <a:solidFill>
              <a:srgbClr val="A80046"/>
            </a:solidFill>
            <a:prstDash val="solid"/>
          </a:ln>
        </p:spPr>
      </p:sp>
      <p:sp>
        <p:nvSpPr>
          <p:cNvPr id="18" name="">
            <a:extLst xmlns:a="http://schemas.openxmlformats.org/drawingml/2006/main">
              <a:ext uri="{FF2B5EF4-FFF2-40B4-BE49-F238E27FC236}">
                <a16:creationId xmlns:a16="http://schemas.microsoft.com/office/drawing/2014/main" id="{34991ED1-0713-449B-ABDF-9E96638DE31E}"/>
              </a:ext>
            </a:extLst>
          </p:cNvPr>
          <p:cNvSpPr>
            <a:spLocks xmlns:a="http://schemas.openxmlformats.org/drawingml/2006/main" noGrp="1"/>
          </p:cNvSpPr>
          <p:nvPr/>
        </p:nvSpPr>
        <p:spPr>
          <a:xfrm xmlns:a="http://schemas.openxmlformats.org/drawingml/2006/main">
            <a:off x="6591300" y="19145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Context</a:t>
            </a:r>
          </a:p>
        </p:txBody>
      </p:sp>
      <p:sp>
        <p:nvSpPr>
          <p:cNvPr id="19" name="">
            <a:extLst xmlns:a="http://schemas.openxmlformats.org/drawingml/2006/main">
              <a:ext uri="{FF2B5EF4-FFF2-40B4-BE49-F238E27FC236}">
                <a16:creationId xmlns:a16="http://schemas.microsoft.com/office/drawing/2014/main" id="{5183D5A1-39D7-4F08-8A7C-1F0444C8F26A}"/>
              </a:ext>
            </a:extLst>
          </p:cNvPr>
          <p:cNvSpPr>
            <a:spLocks xmlns:a="http://schemas.openxmlformats.org/drawingml/2006/main" noGrp="1"/>
          </p:cNvSpPr>
          <p:nvPr/>
        </p:nvSpPr>
        <p:spPr>
          <a:xfrm xmlns:a="http://schemas.openxmlformats.org/drawingml/2006/main">
            <a:off x="8020050" y="1895475"/>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A7A"/>
                </a:solidFill>
              </a:defRPr>
            </a:pPr>
            <a:r>
              <a:rPr sz="1200" b="0" i="0">
                <a:solidFill>
                  <a:srgbClr val="526A7A"/>
                </a:solidFill>
              </a:rPr>
              <a:t>Connect the conversation to the right assignment or action</a:t>
            </a:r>
          </a:p>
        </p:txBody>
      </p:sp>
      <p:sp>
        <p:nvSpPr>
          <p:cNvPr id="20" name="">
            <a:extLst xmlns:a="http://schemas.openxmlformats.org/drawingml/2006/main">
              <a:ext uri="{FF2B5EF4-FFF2-40B4-BE49-F238E27FC236}">
                <a16:creationId xmlns:a16="http://schemas.microsoft.com/office/drawing/2014/main" id="{4552AC07-AC3C-41B2-B17E-850D14DF8052}"/>
              </a:ext>
            </a:extLst>
          </p:cNvPr>
          <p:cNvSpPr>
            <a:spLocks xmlns:a="http://schemas.openxmlformats.org/drawingml/2006/main" noGrp="1"/>
          </p:cNvSpPr>
          <p:nvPr/>
        </p:nvSpPr>
        <p:spPr>
          <a:xfrm xmlns:a="http://schemas.openxmlformats.org/drawingml/2006/main">
            <a:off x="6324600" y="3009900"/>
            <a:ext cx="491490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7E1E7"/>
            </a:solidFill>
            <a:prstDash val="solid"/>
          </a:ln>
        </p:spPr>
      </p:sp>
      <p:sp>
        <p:nvSpPr>
          <p:cNvPr id="21" name="">
            <a:extLst xmlns:a="http://schemas.openxmlformats.org/drawingml/2006/main">
              <a:ext uri="{FF2B5EF4-FFF2-40B4-BE49-F238E27FC236}">
                <a16:creationId xmlns:a16="http://schemas.microsoft.com/office/drawing/2014/main" id="{708B3AE9-B850-473B-92FA-4CA41F74EED1}"/>
              </a:ext>
            </a:extLst>
          </p:cNvPr>
          <p:cNvSpPr>
            <a:spLocks xmlns:a="http://schemas.openxmlformats.org/drawingml/2006/main" noGrp="1"/>
          </p:cNvSpPr>
          <p:nvPr/>
        </p:nvSpPr>
        <p:spPr>
          <a:xfrm xmlns:a="http://schemas.openxmlformats.org/drawingml/2006/main">
            <a:off x="6324600" y="3009900"/>
            <a:ext cx="76200" cy="1009650"/>
          </a:xfrm>
          <a:prstGeom xmlns:a="http://schemas.openxmlformats.org/drawingml/2006/main" prst="rect">
            <a:avLst/>
          </a:prstGeom>
          <a:solidFill xmlns:a="http://schemas.openxmlformats.org/drawingml/2006/main">
            <a:srgbClr val="A80046"/>
          </a:solidFill>
          <a:ln xmlns:a="http://schemas.openxmlformats.org/drawingml/2006/main" w="0">
            <a:solidFill>
              <a:srgbClr val="A80046"/>
            </a:solidFill>
            <a:prstDash val="solid"/>
          </a:ln>
        </p:spPr>
      </p:sp>
      <p:sp>
        <p:nvSpPr>
          <p:cNvPr id="22" name="">
            <a:extLst xmlns:a="http://schemas.openxmlformats.org/drawingml/2006/main">
              <a:ext uri="{FF2B5EF4-FFF2-40B4-BE49-F238E27FC236}">
                <a16:creationId xmlns:a16="http://schemas.microsoft.com/office/drawing/2014/main" id="{59F73977-BCC7-494B-8559-4AF1FBC7FF46}"/>
              </a:ext>
            </a:extLst>
          </p:cNvPr>
          <p:cNvSpPr>
            <a:spLocks xmlns:a="http://schemas.openxmlformats.org/drawingml/2006/main" noGrp="1"/>
          </p:cNvSpPr>
          <p:nvPr/>
        </p:nvSpPr>
        <p:spPr>
          <a:xfrm xmlns:a="http://schemas.openxmlformats.org/drawingml/2006/main">
            <a:off x="6591300" y="31718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Note</a:t>
            </a:r>
          </a:p>
        </p:txBody>
      </p:sp>
      <p:sp>
        <p:nvSpPr>
          <p:cNvPr id="23" name="">
            <a:extLst xmlns:a="http://schemas.openxmlformats.org/drawingml/2006/main">
              <a:ext uri="{FF2B5EF4-FFF2-40B4-BE49-F238E27FC236}">
                <a16:creationId xmlns:a16="http://schemas.microsoft.com/office/drawing/2014/main" id="{34D8E5C8-BCA4-4E91-8EE7-233425F7AA65}"/>
              </a:ext>
            </a:extLst>
          </p:cNvPr>
          <p:cNvSpPr>
            <a:spLocks xmlns:a="http://schemas.openxmlformats.org/drawingml/2006/main" noGrp="1"/>
          </p:cNvSpPr>
          <p:nvPr/>
        </p:nvSpPr>
        <p:spPr>
          <a:xfrm xmlns:a="http://schemas.openxmlformats.org/drawingml/2006/main">
            <a:off x="8020050" y="3152775"/>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A7A"/>
                </a:solidFill>
              </a:defRPr>
            </a:pPr>
            <a:r>
              <a:rPr sz="1200" b="0" i="0">
                <a:solidFill>
                  <a:srgbClr val="526A7A"/>
                </a:solidFill>
              </a:rPr>
              <a:t>Write a short factual note another authorized user can understand</a:t>
            </a:r>
          </a:p>
        </p:txBody>
      </p:sp>
      <p:sp>
        <p:nvSpPr>
          <p:cNvPr id="24" name="">
            <a:extLst xmlns:a="http://schemas.openxmlformats.org/drawingml/2006/main">
              <a:ext uri="{FF2B5EF4-FFF2-40B4-BE49-F238E27FC236}">
                <a16:creationId xmlns:a16="http://schemas.microsoft.com/office/drawing/2014/main" id="{062609D6-6F40-404C-BB12-8CBB191E5F46}"/>
              </a:ext>
            </a:extLst>
          </p:cNvPr>
          <p:cNvSpPr>
            <a:spLocks xmlns:a="http://schemas.openxmlformats.org/drawingml/2006/main" noGrp="1"/>
          </p:cNvSpPr>
          <p:nvPr/>
        </p:nvSpPr>
        <p:spPr>
          <a:xfrm xmlns:a="http://schemas.openxmlformats.org/drawingml/2006/main">
            <a:off x="6324600" y="4267200"/>
            <a:ext cx="4914900" cy="1009650"/>
          </a:xfrm>
          <a:prstGeom xmlns:a="http://schemas.openxmlformats.org/drawingml/2006/main" prst="roundRect">
            <a:avLst>
              <a:gd name="adj" fmla="val 7547"/>
            </a:avLst>
          </a:prstGeom>
          <a:solidFill xmlns:a="http://schemas.openxmlformats.org/drawingml/2006/main">
            <a:srgbClr val="F4F7F9"/>
          </a:solidFill>
          <a:ln xmlns:a="http://schemas.openxmlformats.org/drawingml/2006/main" w="9525">
            <a:solidFill>
              <a:srgbClr val="D7E1E7"/>
            </a:solidFill>
            <a:prstDash val="solid"/>
          </a:ln>
        </p:spPr>
      </p:sp>
      <p:sp>
        <p:nvSpPr>
          <p:cNvPr id="25" name="">
            <a:extLst xmlns:a="http://schemas.openxmlformats.org/drawingml/2006/main">
              <a:ext uri="{FF2B5EF4-FFF2-40B4-BE49-F238E27FC236}">
                <a16:creationId xmlns:a16="http://schemas.microsoft.com/office/drawing/2014/main" id="{A886A4B6-BD1D-4E6A-8283-9380DFF07B00}"/>
              </a:ext>
            </a:extLst>
          </p:cNvPr>
          <p:cNvSpPr>
            <a:spLocks xmlns:a="http://schemas.openxmlformats.org/drawingml/2006/main" noGrp="1"/>
          </p:cNvSpPr>
          <p:nvPr/>
        </p:nvSpPr>
        <p:spPr>
          <a:xfrm xmlns:a="http://schemas.openxmlformats.org/drawingml/2006/main">
            <a:off x="6324600" y="4267200"/>
            <a:ext cx="76200" cy="1009650"/>
          </a:xfrm>
          <a:prstGeom xmlns:a="http://schemas.openxmlformats.org/drawingml/2006/main" prst="rect">
            <a:avLst/>
          </a:prstGeom>
          <a:solidFill xmlns:a="http://schemas.openxmlformats.org/drawingml/2006/main">
            <a:srgbClr val="A80046"/>
          </a:solidFill>
          <a:ln xmlns:a="http://schemas.openxmlformats.org/drawingml/2006/main" w="0">
            <a:solidFill>
              <a:srgbClr val="A80046"/>
            </a:solidFill>
            <a:prstDash val="solid"/>
          </a:ln>
        </p:spPr>
      </p:sp>
      <p:sp>
        <p:nvSpPr>
          <p:cNvPr id="26" name="">
            <a:extLst xmlns:a="http://schemas.openxmlformats.org/drawingml/2006/main">
              <a:ext uri="{FF2B5EF4-FFF2-40B4-BE49-F238E27FC236}">
                <a16:creationId xmlns:a16="http://schemas.microsoft.com/office/drawing/2014/main" id="{DFF733C0-CB1F-4663-8130-823A7798C7A4}"/>
              </a:ext>
            </a:extLst>
          </p:cNvPr>
          <p:cNvSpPr>
            <a:spLocks xmlns:a="http://schemas.openxmlformats.org/drawingml/2006/main" noGrp="1"/>
          </p:cNvSpPr>
          <p:nvPr/>
        </p:nvSpPr>
        <p:spPr>
          <a:xfrm xmlns:a="http://schemas.openxmlformats.org/drawingml/2006/main">
            <a:off x="6591300" y="4429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Visibility</a:t>
            </a:r>
          </a:p>
        </p:txBody>
      </p:sp>
      <p:sp>
        <p:nvSpPr>
          <p:cNvPr id="27" name="">
            <a:extLst xmlns:a="http://schemas.openxmlformats.org/drawingml/2006/main">
              <a:ext uri="{FF2B5EF4-FFF2-40B4-BE49-F238E27FC236}">
                <a16:creationId xmlns:a16="http://schemas.microsoft.com/office/drawing/2014/main" id="{7A7A0FE4-676A-49D5-BC63-E1435B2FEDF6}"/>
              </a:ext>
            </a:extLst>
          </p:cNvPr>
          <p:cNvSpPr>
            <a:spLocks xmlns:a="http://schemas.openxmlformats.org/drawingml/2006/main" noGrp="1"/>
          </p:cNvSpPr>
          <p:nvPr/>
        </p:nvSpPr>
        <p:spPr>
          <a:xfrm xmlns:a="http://schemas.openxmlformats.org/drawingml/2006/main">
            <a:off x="8020050" y="4410075"/>
            <a:ext cx="295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A7A"/>
                </a:solidFill>
              </a:defRPr>
            </a:pPr>
            <a:r>
              <a:rPr sz="1200" b="0" i="0">
                <a:solidFill>
                  <a:srgbClr val="526A7A"/>
                </a:solidFill>
              </a:rPr>
              <a:t>Choose only the audience that needs the note</a:t>
            </a:r>
          </a:p>
        </p:txBody>
      </p:sp>
      <p:sp>
        <p:nvSpPr>
          <p:cNvPr id="28" name="">
            <a:extLst xmlns:a="http://schemas.openxmlformats.org/drawingml/2006/main">
              <a:ext uri="{FF2B5EF4-FFF2-40B4-BE49-F238E27FC236}">
                <a16:creationId xmlns:a16="http://schemas.microsoft.com/office/drawing/2014/main" id="{7D43BDEE-555A-43E0-8823-BD7F9FBF9B19}"/>
              </a:ext>
            </a:extLst>
          </p:cNvPr>
          <p:cNvSpPr>
            <a:spLocks xmlns:a="http://schemas.openxmlformats.org/drawingml/2006/main" noGrp="1"/>
          </p:cNvSpPr>
          <p:nvPr/>
        </p:nvSpPr>
        <p:spPr>
          <a:xfrm xmlns:a="http://schemas.openxmlformats.org/drawingml/2006/main">
            <a:off x="1504950" y="5734050"/>
            <a:ext cx="918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i="1">
                <a:solidFill>
                  <a:srgbClr val="004E75"/>
                </a:solidFill>
              </a:defRPr>
            </a:pPr>
            <a:r>
              <a:rPr sz="1425" b="0" i="1">
                <a:solidFill>
                  <a:srgbClr val="004E75"/>
                </a:solidFill>
              </a:rPr>
              <a:t>Useful note: “Reached member. Asked for a call Thursday after 5:30.”</a:t>
            </a:r>
          </a:p>
        </p:txBody>
      </p:sp>
      <p:sp>
        <p:nvSpPr>
          <p:cNvPr id="29" name="">
            <a:extLst xmlns:a="http://schemas.openxmlformats.org/drawingml/2006/main">
              <a:ext uri="{FF2B5EF4-FFF2-40B4-BE49-F238E27FC236}">
                <a16:creationId xmlns:a16="http://schemas.microsoft.com/office/drawing/2014/main" id="{C073CBAD-E0FD-4B4E-9C91-DFE56149C42C}"/>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30" name="">
            <a:extLst xmlns:a="http://schemas.openxmlformats.org/drawingml/2006/main">
              <a:ext uri="{FF2B5EF4-FFF2-40B4-BE49-F238E27FC236}">
                <a16:creationId xmlns:a16="http://schemas.microsoft.com/office/drawing/2014/main" id="{8BE140C2-DB09-435B-B8D3-2B3DEAAA8996}"/>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31" name="">
            <a:extLst xmlns:a="http://schemas.openxmlformats.org/drawingml/2006/main">
              <a:ext uri="{FF2B5EF4-FFF2-40B4-BE49-F238E27FC236}">
                <a16:creationId xmlns:a16="http://schemas.microsoft.com/office/drawing/2014/main" id="{987AF84E-FFF2-4C86-B2C0-588DF24F83CF}"/>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07</a:t>
            </a:r>
          </a:p>
        </p:txBody>
      </p:sp>
    </p:spTree>
    <p:extLst>
      <p:ext uri="{BB962C8B-B14F-4D97-AF65-F5344CB8AC3E}">
        <p14:creationId xmlns:p14="http://schemas.microsoft.com/office/powerpoint/2010/main" val="1760474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6A79E5F-28B0-440E-8EAE-EA10D4379B36}"/>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NEXT STEP</a:t>
            </a:r>
          </a:p>
        </p:txBody>
      </p:sp>
      <p:sp>
        <p:nvSpPr>
          <p:cNvPr id="2" name="">
            <a:extLst xmlns:a="http://schemas.openxmlformats.org/drawingml/2006/main">
              <a:ext uri="{FF2B5EF4-FFF2-40B4-BE49-F238E27FC236}">
                <a16:creationId xmlns:a16="http://schemas.microsoft.com/office/drawing/2014/main" id="{A2C360DF-A2D0-4D02-9CC0-EFCFEDAFD39F}"/>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Leave the next user a clear record</a:t>
            </a:r>
          </a:p>
        </p:txBody>
      </p:sp>
      <p:sp>
        <p:nvSpPr>
          <p:cNvPr id="3" name="">
            <a:extLst xmlns:a="http://schemas.openxmlformats.org/drawingml/2006/main">
              <a:ext uri="{FF2B5EF4-FFF2-40B4-BE49-F238E27FC236}">
                <a16:creationId xmlns:a16="http://schemas.microsoft.com/office/drawing/2014/main" id="{CD3994DE-DF07-410E-89A9-5B45145B5623}"/>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805BDAA9-AAD3-4BE8-96E3-E52B235E2C4A}"/>
              </a:ext>
            </a:extLst>
          </p:cNvPr>
          <p:cNvSpPr>
            <a:spLocks xmlns:a="http://schemas.openxmlformats.org/drawingml/2006/main" noGrp="1"/>
          </p:cNvSpPr>
          <p:nvPr/>
        </p:nvSpPr>
        <p:spPr>
          <a:xfrm xmlns:a="http://schemas.openxmlformats.org/drawingml/2006/main">
            <a:off x="685800" y="1790700"/>
            <a:ext cx="5143500" cy="3657600"/>
          </a:xfrm>
          <a:prstGeom xmlns:a="http://schemas.openxmlformats.org/drawingml/2006/main" prst="roundRect">
            <a:avLst>
              <a:gd name="adj" fmla="val 3125"/>
            </a:avLst>
          </a:prstGeom>
          <a:solidFill xmlns:a="http://schemas.openxmlformats.org/drawingml/2006/main">
            <a:srgbClr val="E6F2F8"/>
          </a:solidFill>
          <a:ln xmlns:a="http://schemas.openxmlformats.org/drawingml/2006/main" w="9525">
            <a:solidFill>
              <a:srgbClr val="B9DCEB"/>
            </a:solidFill>
            <a:prstDash val="solid"/>
          </a:ln>
        </p:spPr>
      </p:sp>
      <p:sp>
        <p:nvSpPr>
          <p:cNvPr id="5" name="">
            <a:extLst xmlns:a="http://schemas.openxmlformats.org/drawingml/2006/main">
              <a:ext uri="{FF2B5EF4-FFF2-40B4-BE49-F238E27FC236}">
                <a16:creationId xmlns:a16="http://schemas.microsoft.com/office/drawing/2014/main" id="{7F7C3000-C0BE-4992-9E21-6121681538F6}"/>
              </a:ext>
            </a:extLst>
          </p:cNvPr>
          <p:cNvSpPr>
            <a:spLocks xmlns:a="http://schemas.openxmlformats.org/drawingml/2006/main" noGrp="1"/>
          </p:cNvSpPr>
          <p:nvPr/>
        </p:nvSpPr>
        <p:spPr>
          <a:xfrm xmlns:a="http://schemas.openxmlformats.org/drawingml/2006/main">
            <a:off x="9906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006FA6"/>
                </a:solidFill>
              </a:defRPr>
            </a:pPr>
            <a:r>
              <a:rPr sz="900" b="1" i="0">
                <a:solidFill>
                  <a:srgbClr val="006FA6"/>
                </a:solidFill>
              </a:rPr>
              <a:t>ACTION READINESS</a:t>
            </a:r>
          </a:p>
        </p:txBody>
      </p:sp>
      <p:sp>
        <p:nvSpPr>
          <p:cNvPr id="6" name="">
            <a:extLst xmlns:a="http://schemas.openxmlformats.org/drawingml/2006/main">
              <a:ext uri="{FF2B5EF4-FFF2-40B4-BE49-F238E27FC236}">
                <a16:creationId xmlns:a16="http://schemas.microsoft.com/office/drawing/2014/main" id="{9875B9A3-A948-45A5-921E-C74A03ECBFA6}"/>
              </a:ext>
            </a:extLst>
          </p:cNvPr>
          <p:cNvSpPr>
            <a:spLocks xmlns:a="http://schemas.openxmlformats.org/drawingml/2006/main" noGrp="1"/>
          </p:cNvSpPr>
          <p:nvPr/>
        </p:nvSpPr>
        <p:spPr>
          <a:xfrm xmlns:a="http://schemas.openxmlformats.org/drawingml/2006/main">
            <a:off x="990600" y="2400300"/>
            <a:ext cx="4333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02A43"/>
                </a:solidFill>
              </a:defRPr>
            </a:pPr>
            <a:r>
              <a:rPr sz="2025" b="1" i="0">
                <a:solidFill>
                  <a:srgbClr val="102A43"/>
                </a:solidFill>
              </a:rPr>
              <a:t>What is the member's current response?</a:t>
            </a:r>
          </a:p>
        </p:txBody>
      </p:sp>
      <p:sp>
        <p:nvSpPr>
          <p:cNvPr id="7" name="">
            <a:extLst xmlns:a="http://schemas.openxmlformats.org/drawingml/2006/main">
              <a:ext uri="{FF2B5EF4-FFF2-40B4-BE49-F238E27FC236}">
                <a16:creationId xmlns:a16="http://schemas.microsoft.com/office/drawing/2014/main" id="{08582CD7-AFE5-47FA-B284-B97375348C7E}"/>
              </a:ext>
            </a:extLst>
          </p:cNvPr>
          <p:cNvSpPr>
            <a:spLocks xmlns:a="http://schemas.openxmlformats.org/drawingml/2006/main" noGrp="1"/>
          </p:cNvSpPr>
          <p:nvPr/>
        </p:nvSpPr>
        <p:spPr>
          <a:xfrm xmlns:a="http://schemas.openxmlformats.org/drawingml/2006/main">
            <a:off x="1028700" y="336232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8" name="">
            <a:extLst xmlns:a="http://schemas.openxmlformats.org/drawingml/2006/main">
              <a:ext uri="{FF2B5EF4-FFF2-40B4-BE49-F238E27FC236}">
                <a16:creationId xmlns:a16="http://schemas.microsoft.com/office/drawing/2014/main" id="{E56C48BF-3F0E-4D26-8C4F-4534184AB14C}"/>
              </a:ext>
            </a:extLst>
          </p:cNvPr>
          <p:cNvSpPr>
            <a:spLocks xmlns:a="http://schemas.openxmlformats.org/drawingml/2006/main" noGrp="1"/>
          </p:cNvSpPr>
          <p:nvPr/>
        </p:nvSpPr>
        <p:spPr>
          <a:xfrm xmlns:a="http://schemas.openxmlformats.org/drawingml/2006/main">
            <a:off x="1238250" y="3276600"/>
            <a:ext cx="350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Willing</a:t>
            </a:r>
          </a:p>
        </p:txBody>
      </p:sp>
      <p:sp>
        <p:nvSpPr>
          <p:cNvPr id="9" name="">
            <a:extLst xmlns:a="http://schemas.openxmlformats.org/drawingml/2006/main">
              <a:ext uri="{FF2B5EF4-FFF2-40B4-BE49-F238E27FC236}">
                <a16:creationId xmlns:a16="http://schemas.microsoft.com/office/drawing/2014/main" id="{0F8489BA-A259-41B7-A700-55EF444D0384}"/>
              </a:ext>
            </a:extLst>
          </p:cNvPr>
          <p:cNvSpPr>
            <a:spLocks xmlns:a="http://schemas.openxmlformats.org/drawingml/2006/main" noGrp="1"/>
          </p:cNvSpPr>
          <p:nvPr/>
        </p:nvSpPr>
        <p:spPr>
          <a:xfrm xmlns:a="http://schemas.openxmlformats.org/drawingml/2006/main">
            <a:off x="1028700" y="383857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0" name="">
            <a:extLst xmlns:a="http://schemas.openxmlformats.org/drawingml/2006/main">
              <a:ext uri="{FF2B5EF4-FFF2-40B4-BE49-F238E27FC236}">
                <a16:creationId xmlns:a16="http://schemas.microsoft.com/office/drawing/2014/main" id="{B1EA92BB-7CCE-4167-975D-62807869BE99}"/>
              </a:ext>
            </a:extLst>
          </p:cNvPr>
          <p:cNvSpPr>
            <a:spLocks xmlns:a="http://schemas.openxmlformats.org/drawingml/2006/main" noGrp="1"/>
          </p:cNvSpPr>
          <p:nvPr/>
        </p:nvSpPr>
        <p:spPr>
          <a:xfrm xmlns:a="http://schemas.openxmlformats.org/drawingml/2006/main">
            <a:off x="1238250" y="3752850"/>
            <a:ext cx="350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Considering</a:t>
            </a:r>
          </a:p>
        </p:txBody>
      </p:sp>
      <p:sp>
        <p:nvSpPr>
          <p:cNvPr id="11" name="">
            <a:extLst xmlns:a="http://schemas.openxmlformats.org/drawingml/2006/main">
              <a:ext uri="{FF2B5EF4-FFF2-40B4-BE49-F238E27FC236}">
                <a16:creationId xmlns:a16="http://schemas.microsoft.com/office/drawing/2014/main" id="{44FFCE38-A848-4805-95EE-05CA1D78DC21}"/>
              </a:ext>
            </a:extLst>
          </p:cNvPr>
          <p:cNvSpPr>
            <a:spLocks xmlns:a="http://schemas.openxmlformats.org/drawingml/2006/main" noGrp="1"/>
          </p:cNvSpPr>
          <p:nvPr/>
        </p:nvSpPr>
        <p:spPr>
          <a:xfrm xmlns:a="http://schemas.openxmlformats.org/drawingml/2006/main">
            <a:off x="1028700" y="431482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2" name="">
            <a:extLst xmlns:a="http://schemas.openxmlformats.org/drawingml/2006/main">
              <a:ext uri="{FF2B5EF4-FFF2-40B4-BE49-F238E27FC236}">
                <a16:creationId xmlns:a16="http://schemas.microsoft.com/office/drawing/2014/main" id="{E191A2D7-DC7C-44C2-A308-2D044BDD8D17}"/>
              </a:ext>
            </a:extLst>
          </p:cNvPr>
          <p:cNvSpPr>
            <a:spLocks xmlns:a="http://schemas.openxmlformats.org/drawingml/2006/main" noGrp="1"/>
          </p:cNvSpPr>
          <p:nvPr/>
        </p:nvSpPr>
        <p:spPr>
          <a:xfrm xmlns:a="http://schemas.openxmlformats.org/drawingml/2006/main">
            <a:off x="1238250" y="4229100"/>
            <a:ext cx="350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Declined</a:t>
            </a:r>
          </a:p>
        </p:txBody>
      </p:sp>
      <p:sp>
        <p:nvSpPr>
          <p:cNvPr id="13" name="">
            <a:extLst xmlns:a="http://schemas.openxmlformats.org/drawingml/2006/main">
              <a:ext uri="{FF2B5EF4-FFF2-40B4-BE49-F238E27FC236}">
                <a16:creationId xmlns:a16="http://schemas.microsoft.com/office/drawing/2014/main" id="{785D15D3-7093-467D-A110-3BD423FDA4DD}"/>
              </a:ext>
            </a:extLst>
          </p:cNvPr>
          <p:cNvSpPr>
            <a:spLocks xmlns:a="http://schemas.openxmlformats.org/drawingml/2006/main" noGrp="1"/>
          </p:cNvSpPr>
          <p:nvPr/>
        </p:nvSpPr>
        <p:spPr>
          <a:xfrm xmlns:a="http://schemas.openxmlformats.org/drawingml/2006/main">
            <a:off x="1028700" y="479107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4" name="">
            <a:extLst xmlns:a="http://schemas.openxmlformats.org/drawingml/2006/main">
              <a:ext uri="{FF2B5EF4-FFF2-40B4-BE49-F238E27FC236}">
                <a16:creationId xmlns:a16="http://schemas.microsoft.com/office/drawing/2014/main" id="{B444CE52-0FAF-4E70-963F-B4B06B103E97}"/>
              </a:ext>
            </a:extLst>
          </p:cNvPr>
          <p:cNvSpPr>
            <a:spLocks xmlns:a="http://schemas.openxmlformats.org/drawingml/2006/main" noGrp="1"/>
          </p:cNvSpPr>
          <p:nvPr/>
        </p:nvSpPr>
        <p:spPr>
          <a:xfrm xmlns:a="http://schemas.openxmlformats.org/drawingml/2006/main">
            <a:off x="1238250" y="4705350"/>
            <a:ext cx="350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Completed</a:t>
            </a:r>
          </a:p>
        </p:txBody>
      </p:sp>
      <p:sp>
        <p:nvSpPr>
          <p:cNvPr id="15" name="">
            <a:extLst xmlns:a="http://schemas.openxmlformats.org/drawingml/2006/main">
              <a:ext uri="{FF2B5EF4-FFF2-40B4-BE49-F238E27FC236}">
                <a16:creationId xmlns:a16="http://schemas.microsoft.com/office/drawing/2014/main" id="{6056EA16-BC04-4114-8BFA-6F5C85CB74F4}"/>
              </a:ext>
            </a:extLst>
          </p:cNvPr>
          <p:cNvSpPr>
            <a:spLocks xmlns:a="http://schemas.openxmlformats.org/drawingml/2006/main" noGrp="1"/>
          </p:cNvSpPr>
          <p:nvPr/>
        </p:nvSpPr>
        <p:spPr>
          <a:xfrm xmlns:a="http://schemas.openxmlformats.org/drawingml/2006/main">
            <a:off x="6362700" y="1790700"/>
            <a:ext cx="5143500" cy="3657600"/>
          </a:xfrm>
          <a:prstGeom xmlns:a="http://schemas.openxmlformats.org/drawingml/2006/main" prst="roundRect">
            <a:avLst>
              <a:gd name="adj" fmla="val 3125"/>
            </a:avLst>
          </a:prstGeom>
          <a:solidFill xmlns:a="http://schemas.openxmlformats.org/drawingml/2006/main">
            <a:srgbClr val="F4F7F9"/>
          </a:solidFill>
          <a:ln xmlns:a="http://schemas.openxmlformats.org/drawingml/2006/main" w="9525">
            <a:solidFill>
              <a:srgbClr val="D7E1E7"/>
            </a:solidFill>
            <a:prstDash val="solid"/>
          </a:ln>
        </p:spPr>
      </p:sp>
      <p:sp>
        <p:nvSpPr>
          <p:cNvPr id="16" name="">
            <a:extLst xmlns:a="http://schemas.openxmlformats.org/drawingml/2006/main">
              <a:ext uri="{FF2B5EF4-FFF2-40B4-BE49-F238E27FC236}">
                <a16:creationId xmlns:a16="http://schemas.microsoft.com/office/drawing/2014/main" id="{065A2C45-4266-4D3F-BCFD-77FAAE11F510}"/>
              </a:ext>
            </a:extLst>
          </p:cNvPr>
          <p:cNvSpPr>
            <a:spLocks xmlns:a="http://schemas.openxmlformats.org/drawingml/2006/main" noGrp="1"/>
          </p:cNvSpPr>
          <p:nvPr/>
        </p:nvSpPr>
        <p:spPr>
          <a:xfrm xmlns:a="http://schemas.openxmlformats.org/drawingml/2006/main">
            <a:off x="66675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A80046"/>
                </a:solidFill>
              </a:defRPr>
            </a:pPr>
            <a:r>
              <a:rPr sz="900" b="1" i="0">
                <a:solidFill>
                  <a:srgbClr val="A80046"/>
                </a:solidFill>
              </a:rPr>
              <a:t>FOLLOW-UP</a:t>
            </a:r>
          </a:p>
        </p:txBody>
      </p:sp>
      <p:sp>
        <p:nvSpPr>
          <p:cNvPr id="17" name="">
            <a:extLst xmlns:a="http://schemas.openxmlformats.org/drawingml/2006/main">
              <a:ext uri="{FF2B5EF4-FFF2-40B4-BE49-F238E27FC236}">
                <a16:creationId xmlns:a16="http://schemas.microsoft.com/office/drawing/2014/main" id="{0AC69D3C-CBF9-409D-AD8E-AE829BA052C1}"/>
              </a:ext>
            </a:extLst>
          </p:cNvPr>
          <p:cNvSpPr>
            <a:spLocks xmlns:a="http://schemas.openxmlformats.org/drawingml/2006/main" noGrp="1"/>
          </p:cNvSpPr>
          <p:nvPr/>
        </p:nvSpPr>
        <p:spPr>
          <a:xfrm xmlns:a="http://schemas.openxmlformats.org/drawingml/2006/main">
            <a:off x="6667500" y="2400300"/>
            <a:ext cx="4333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02A43"/>
                </a:solidFill>
              </a:defRPr>
            </a:pPr>
            <a:r>
              <a:rPr sz="2025" b="1" i="0">
                <a:solidFill>
                  <a:srgbClr val="102A43"/>
                </a:solidFill>
              </a:rPr>
              <a:t>Who owns the next step, and when is it due?</a:t>
            </a:r>
          </a:p>
        </p:txBody>
      </p:sp>
      <p:sp>
        <p:nvSpPr>
          <p:cNvPr id="18" name="">
            <a:extLst xmlns:a="http://schemas.openxmlformats.org/drawingml/2006/main">
              <a:ext uri="{FF2B5EF4-FFF2-40B4-BE49-F238E27FC236}">
                <a16:creationId xmlns:a16="http://schemas.microsoft.com/office/drawing/2014/main" id="{B4045EE4-9740-4746-A203-170629279118}"/>
              </a:ext>
            </a:extLst>
          </p:cNvPr>
          <p:cNvSpPr>
            <a:spLocks xmlns:a="http://schemas.openxmlformats.org/drawingml/2006/main" noGrp="1"/>
          </p:cNvSpPr>
          <p:nvPr/>
        </p:nvSpPr>
        <p:spPr>
          <a:xfrm xmlns:a="http://schemas.openxmlformats.org/drawingml/2006/main">
            <a:off x="6705600" y="336232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9" name="">
            <a:extLst xmlns:a="http://schemas.openxmlformats.org/drawingml/2006/main">
              <a:ext uri="{FF2B5EF4-FFF2-40B4-BE49-F238E27FC236}">
                <a16:creationId xmlns:a16="http://schemas.microsoft.com/office/drawing/2014/main" id="{DEA60938-6332-41C1-9B2E-3D0EB1D3E9EA}"/>
              </a:ext>
            </a:extLst>
          </p:cNvPr>
          <p:cNvSpPr>
            <a:spLocks xmlns:a="http://schemas.openxmlformats.org/drawingml/2006/main" noGrp="1"/>
          </p:cNvSpPr>
          <p:nvPr/>
        </p:nvSpPr>
        <p:spPr>
          <a:xfrm xmlns:a="http://schemas.openxmlformats.org/drawingml/2006/main">
            <a:off x="6915150" y="3276600"/>
            <a:ext cx="3790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Give the follow-up a specific purpose.</a:t>
            </a:r>
          </a:p>
        </p:txBody>
      </p:sp>
      <p:sp>
        <p:nvSpPr>
          <p:cNvPr id="20" name="">
            <a:extLst xmlns:a="http://schemas.openxmlformats.org/drawingml/2006/main">
              <a:ext uri="{FF2B5EF4-FFF2-40B4-BE49-F238E27FC236}">
                <a16:creationId xmlns:a16="http://schemas.microsoft.com/office/drawing/2014/main" id="{157D4B66-30B5-4059-858C-71586693D5A9}"/>
              </a:ext>
            </a:extLst>
          </p:cNvPr>
          <p:cNvSpPr>
            <a:spLocks xmlns:a="http://schemas.openxmlformats.org/drawingml/2006/main" noGrp="1"/>
          </p:cNvSpPr>
          <p:nvPr/>
        </p:nvSpPr>
        <p:spPr>
          <a:xfrm xmlns:a="http://schemas.openxmlformats.org/drawingml/2006/main">
            <a:off x="6705600" y="3981450"/>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1" name="">
            <a:extLst xmlns:a="http://schemas.openxmlformats.org/drawingml/2006/main">
              <a:ext uri="{FF2B5EF4-FFF2-40B4-BE49-F238E27FC236}">
                <a16:creationId xmlns:a16="http://schemas.microsoft.com/office/drawing/2014/main" id="{044C8909-CF06-4472-8EB0-1F5A6163F960}"/>
              </a:ext>
            </a:extLst>
          </p:cNvPr>
          <p:cNvSpPr>
            <a:spLocks xmlns:a="http://schemas.openxmlformats.org/drawingml/2006/main" noGrp="1"/>
          </p:cNvSpPr>
          <p:nvPr/>
        </p:nvSpPr>
        <p:spPr>
          <a:xfrm xmlns:a="http://schemas.openxmlformats.org/drawingml/2006/main">
            <a:off x="6915150" y="3895725"/>
            <a:ext cx="3790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Assign it to the person who will do it.</a:t>
            </a:r>
          </a:p>
        </p:txBody>
      </p:sp>
      <p:sp>
        <p:nvSpPr>
          <p:cNvPr id="22" name="">
            <a:extLst xmlns:a="http://schemas.openxmlformats.org/drawingml/2006/main">
              <a:ext uri="{FF2B5EF4-FFF2-40B4-BE49-F238E27FC236}">
                <a16:creationId xmlns:a16="http://schemas.microsoft.com/office/drawing/2014/main" id="{FFDA26FA-C7FF-4D7A-9760-9411305BB483}"/>
              </a:ext>
            </a:extLst>
          </p:cNvPr>
          <p:cNvSpPr>
            <a:spLocks xmlns:a="http://schemas.openxmlformats.org/drawingml/2006/main" noGrp="1"/>
          </p:cNvSpPr>
          <p:nvPr/>
        </p:nvSpPr>
        <p:spPr>
          <a:xfrm xmlns:a="http://schemas.openxmlformats.org/drawingml/2006/main">
            <a:off x="6705600" y="46005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3" name="">
            <a:extLst xmlns:a="http://schemas.openxmlformats.org/drawingml/2006/main">
              <a:ext uri="{FF2B5EF4-FFF2-40B4-BE49-F238E27FC236}">
                <a16:creationId xmlns:a16="http://schemas.microsoft.com/office/drawing/2014/main" id="{B519707D-4595-495C-8043-913D102B135A}"/>
              </a:ext>
            </a:extLst>
          </p:cNvPr>
          <p:cNvSpPr>
            <a:spLocks xmlns:a="http://schemas.openxmlformats.org/drawingml/2006/main" noGrp="1"/>
          </p:cNvSpPr>
          <p:nvPr/>
        </p:nvSpPr>
        <p:spPr>
          <a:xfrm xmlns:a="http://schemas.openxmlformats.org/drawingml/2006/main">
            <a:off x="6915150" y="4514850"/>
            <a:ext cx="3790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02A43"/>
                </a:solidFill>
              </a:defRPr>
            </a:pPr>
            <a:r>
              <a:rPr sz="1425" b="0" i="0">
                <a:solidFill>
                  <a:srgbClr val="102A43"/>
                </a:solidFill>
              </a:rPr>
              <a:t>Use a realistic date and time.</a:t>
            </a:r>
          </a:p>
        </p:txBody>
      </p:sp>
      <p:sp>
        <p:nvSpPr>
          <p:cNvPr id="24" name="">
            <a:extLst xmlns:a="http://schemas.openxmlformats.org/drawingml/2006/main">
              <a:ext uri="{FF2B5EF4-FFF2-40B4-BE49-F238E27FC236}">
                <a16:creationId xmlns:a16="http://schemas.microsoft.com/office/drawing/2014/main" id="{745AC47B-6832-4BED-8025-27FA788D4C1D}"/>
              </a:ext>
            </a:extLst>
          </p:cNvPr>
          <p:cNvSpPr>
            <a:spLocks xmlns:a="http://schemas.openxmlformats.org/drawingml/2006/main" noGrp="1"/>
          </p:cNvSpPr>
          <p:nvPr/>
        </p:nvSpPr>
        <p:spPr>
          <a:xfrm xmlns:a="http://schemas.openxmlformats.org/drawingml/2006/main">
            <a:off x="1200150" y="5791200"/>
            <a:ext cx="979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02A43"/>
                </a:solidFill>
              </a:defRPr>
            </a:pPr>
            <a:r>
              <a:rPr sz="1425" b="1" i="0">
                <a:solidFill>
                  <a:srgbClr val="102A43"/>
                </a:solidFill>
              </a:rPr>
              <a:t>Then refresh once. Confirm the conversation, readiness, and follow-up each appear once.</a:t>
            </a:r>
          </a:p>
        </p:txBody>
      </p:sp>
      <p:sp>
        <p:nvSpPr>
          <p:cNvPr id="25" name="">
            <a:extLst xmlns:a="http://schemas.openxmlformats.org/drawingml/2006/main">
              <a:ext uri="{FF2B5EF4-FFF2-40B4-BE49-F238E27FC236}">
                <a16:creationId xmlns:a16="http://schemas.microsoft.com/office/drawing/2014/main" id="{D09460D3-4CB0-48B3-843E-1BB9EF77897B}"/>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6" name="">
            <a:extLst xmlns:a="http://schemas.openxmlformats.org/drawingml/2006/main">
              <a:ext uri="{FF2B5EF4-FFF2-40B4-BE49-F238E27FC236}">
                <a16:creationId xmlns:a16="http://schemas.microsoft.com/office/drawing/2014/main" id="{95618698-6990-4355-98EF-07397FBE883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7" name="">
            <a:extLst xmlns:a="http://schemas.openxmlformats.org/drawingml/2006/main">
              <a:ext uri="{FF2B5EF4-FFF2-40B4-BE49-F238E27FC236}">
                <a16:creationId xmlns:a16="http://schemas.microsoft.com/office/drawing/2014/main" id="{221B9D18-F383-42FD-9355-A893347C33AB}"/>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08</a:t>
            </a:r>
          </a:p>
        </p:txBody>
      </p:sp>
    </p:spTree>
    <p:extLst>
      <p:ext uri="{BB962C8B-B14F-4D97-AF65-F5344CB8AC3E}">
        <p14:creationId xmlns:p14="http://schemas.microsoft.com/office/powerpoint/2010/main" val="10559693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8A3AD4C-CB3B-4050-8C82-B3C6A9CAA21D}"/>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MY WORK</a:t>
            </a:r>
          </a:p>
        </p:txBody>
      </p:sp>
      <p:sp>
        <p:nvSpPr>
          <p:cNvPr id="2" name="">
            <a:extLst xmlns:a="http://schemas.openxmlformats.org/drawingml/2006/main">
              <a:ext uri="{FF2B5EF4-FFF2-40B4-BE49-F238E27FC236}">
                <a16:creationId xmlns:a16="http://schemas.microsoft.com/office/drawing/2014/main" id="{8A233EC3-2122-4B79-BAEB-1D39C5A2CE88}"/>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Three views, three different jobs</a:t>
            </a:r>
          </a:p>
        </p:txBody>
      </p:sp>
      <p:sp>
        <p:nvSpPr>
          <p:cNvPr id="3" name="">
            <a:extLst xmlns:a="http://schemas.openxmlformats.org/drawingml/2006/main">
              <a:ext uri="{FF2B5EF4-FFF2-40B4-BE49-F238E27FC236}">
                <a16:creationId xmlns:a16="http://schemas.microsoft.com/office/drawing/2014/main" id="{C5662220-56C9-40D4-A555-0FB386B000D1}"/>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F5436DFF-9BF4-4E19-8632-C81F32C35EB0}"/>
              </a:ext>
            </a:extLst>
          </p:cNvPr>
          <p:cNvSpPr>
            <a:spLocks xmlns:a="http://schemas.openxmlformats.org/drawingml/2006/main" noGrp="1"/>
          </p:cNvSpPr>
          <p:nvPr/>
        </p:nvSpPr>
        <p:spPr>
          <a:xfrm xmlns:a="http://schemas.openxmlformats.org/drawingml/2006/main">
            <a:off x="685800" y="1866900"/>
            <a:ext cx="3276600" cy="333375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9525">
            <a:solidFill>
              <a:srgbClr val="D7E1E7"/>
            </a:solidFill>
            <a:prstDash val="solid"/>
          </a:ln>
        </p:spPr>
      </p:sp>
      <p:sp>
        <p:nvSpPr>
          <p:cNvPr id="5" name="">
            <a:extLst xmlns:a="http://schemas.openxmlformats.org/drawingml/2006/main">
              <a:ext uri="{FF2B5EF4-FFF2-40B4-BE49-F238E27FC236}">
                <a16:creationId xmlns:a16="http://schemas.microsoft.com/office/drawing/2014/main" id="{2512D090-B9E7-4D25-8621-CEC1A72FDBBC}"/>
              </a:ext>
            </a:extLst>
          </p:cNvPr>
          <p:cNvSpPr>
            <a:spLocks xmlns:a="http://schemas.openxmlformats.org/drawingml/2006/main" noGrp="1"/>
          </p:cNvSpPr>
          <p:nvPr/>
        </p:nvSpPr>
        <p:spPr>
          <a:xfrm xmlns:a="http://schemas.openxmlformats.org/drawingml/2006/main">
            <a:off x="685800" y="1866900"/>
            <a:ext cx="3276600" cy="114300"/>
          </a:xfrm>
          <a:prstGeom xmlns:a="http://schemas.openxmlformats.org/drawingml/2006/main" prst="rect">
            <a:avLst/>
          </a:prstGeom>
          <a:solidFill xmlns:a="http://schemas.openxmlformats.org/drawingml/2006/main">
            <a:srgbClr val="006FA6"/>
          </a:solidFill>
          <a:ln xmlns:a="http://schemas.openxmlformats.org/drawingml/2006/main" w="0">
            <a:solidFill>
              <a:srgbClr val="006FA6"/>
            </a:solidFill>
            <a:prstDash val="solid"/>
          </a:ln>
        </p:spPr>
      </p:sp>
      <p:sp>
        <p:nvSpPr>
          <p:cNvPr id="6" name="">
            <a:extLst xmlns:a="http://schemas.openxmlformats.org/drawingml/2006/main">
              <a:ext uri="{FF2B5EF4-FFF2-40B4-BE49-F238E27FC236}">
                <a16:creationId xmlns:a16="http://schemas.microsoft.com/office/drawing/2014/main" id="{B0838228-5EC8-4527-851C-CC2401270247}"/>
              </a:ext>
            </a:extLst>
          </p:cNvPr>
          <p:cNvSpPr>
            <a:spLocks xmlns:a="http://schemas.openxmlformats.org/drawingml/2006/main" noGrp="1"/>
          </p:cNvSpPr>
          <p:nvPr/>
        </p:nvSpPr>
        <p:spPr>
          <a:xfrm xmlns:a="http://schemas.openxmlformats.org/drawingml/2006/main">
            <a:off x="952500" y="2247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006FA6"/>
                </a:solidFill>
              </a:defRPr>
            </a:pPr>
            <a:r>
              <a:rPr sz="900" b="1" i="0">
                <a:solidFill>
                  <a:srgbClr val="006FA6"/>
                </a:solidFill>
              </a:rPr>
              <a:t>PERSONAL QUEUE</a:t>
            </a:r>
          </a:p>
        </p:txBody>
      </p:sp>
      <p:sp>
        <p:nvSpPr>
          <p:cNvPr id="7" name="">
            <a:extLst xmlns:a="http://schemas.openxmlformats.org/drawingml/2006/main">
              <a:ext uri="{FF2B5EF4-FFF2-40B4-BE49-F238E27FC236}">
                <a16:creationId xmlns:a16="http://schemas.microsoft.com/office/drawing/2014/main" id="{7B32FFB8-2FEA-438E-8D19-97075CF570C1}"/>
              </a:ext>
            </a:extLst>
          </p:cNvPr>
          <p:cNvSpPr>
            <a:spLocks xmlns:a="http://schemas.openxmlformats.org/drawingml/2006/main" noGrp="1"/>
          </p:cNvSpPr>
          <p:nvPr/>
        </p:nvSpPr>
        <p:spPr>
          <a:xfrm xmlns:a="http://schemas.openxmlformats.org/drawingml/2006/main">
            <a:off x="952500" y="26479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02A43"/>
                </a:solidFill>
              </a:defRPr>
            </a:pPr>
            <a:r>
              <a:rPr sz="2325" b="1" i="0">
                <a:solidFill>
                  <a:srgbClr val="102A43"/>
                </a:solidFill>
              </a:rPr>
              <a:t>To Do</a:t>
            </a:r>
          </a:p>
        </p:txBody>
      </p:sp>
      <p:sp>
        <p:nvSpPr>
          <p:cNvPr id="8" name="">
            <a:extLst xmlns:a="http://schemas.openxmlformats.org/drawingml/2006/main">
              <a:ext uri="{FF2B5EF4-FFF2-40B4-BE49-F238E27FC236}">
                <a16:creationId xmlns:a16="http://schemas.microsoft.com/office/drawing/2014/main" id="{87B7AF05-F1E3-4A4D-B9E2-7EB319DCFDC6}"/>
              </a:ext>
            </a:extLst>
          </p:cNvPr>
          <p:cNvSpPr>
            <a:spLocks xmlns:a="http://schemas.openxmlformats.org/drawingml/2006/main" noGrp="1"/>
          </p:cNvSpPr>
          <p:nvPr/>
        </p:nvSpPr>
        <p:spPr>
          <a:xfrm xmlns:a="http://schemas.openxmlformats.org/drawingml/2006/main">
            <a:off x="952500" y="3371850"/>
            <a:ext cx="27241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526A7A"/>
                </a:solidFill>
              </a:defRPr>
            </a:pPr>
            <a:r>
              <a:rPr sz="1575" b="0" i="0">
                <a:solidFill>
                  <a:srgbClr val="526A7A"/>
                </a:solidFill>
              </a:rPr>
              <a:t>What do I need to finish?</a:t>
            </a:r>
          </a:p>
        </p:txBody>
      </p:sp>
      <p:sp>
        <p:nvSpPr>
          <p:cNvPr id="9" name="">
            <a:extLst xmlns:a="http://schemas.openxmlformats.org/drawingml/2006/main">
              <a:ext uri="{FF2B5EF4-FFF2-40B4-BE49-F238E27FC236}">
                <a16:creationId xmlns:a16="http://schemas.microsoft.com/office/drawing/2014/main" id="{D4F3BD19-22FE-4F5D-A2E5-0C123FCA0DD4}"/>
              </a:ext>
            </a:extLst>
          </p:cNvPr>
          <p:cNvSpPr>
            <a:spLocks xmlns:a="http://schemas.openxmlformats.org/drawingml/2006/main" noGrp="1"/>
          </p:cNvSpPr>
          <p:nvPr/>
        </p:nvSpPr>
        <p:spPr>
          <a:xfrm xmlns:a="http://schemas.openxmlformats.org/drawingml/2006/main">
            <a:off x="952500" y="46482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006FA6"/>
                </a:solidFill>
              </a:defRPr>
            </a:pPr>
            <a:r>
              <a:rPr sz="1200" b="1" i="0">
                <a:solidFill>
                  <a:srgbClr val="006FA6"/>
                </a:solidFill>
              </a:rPr>
              <a:t>Check it first.</a:t>
            </a:r>
          </a:p>
        </p:txBody>
      </p:sp>
      <p:sp>
        <p:nvSpPr>
          <p:cNvPr id="10" name="">
            <a:extLst xmlns:a="http://schemas.openxmlformats.org/drawingml/2006/main">
              <a:ext uri="{FF2B5EF4-FFF2-40B4-BE49-F238E27FC236}">
                <a16:creationId xmlns:a16="http://schemas.microsoft.com/office/drawing/2014/main" id="{B15A5FDA-3B5C-4EB4-B478-D81908872F6C}"/>
              </a:ext>
            </a:extLst>
          </p:cNvPr>
          <p:cNvSpPr>
            <a:spLocks xmlns:a="http://schemas.openxmlformats.org/drawingml/2006/main" noGrp="1"/>
          </p:cNvSpPr>
          <p:nvPr/>
        </p:nvSpPr>
        <p:spPr>
          <a:xfrm xmlns:a="http://schemas.openxmlformats.org/drawingml/2006/main">
            <a:off x="4267200" y="1866900"/>
            <a:ext cx="3276600" cy="333375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9525">
            <a:solidFill>
              <a:srgbClr val="D7E1E7"/>
            </a:solidFill>
            <a:prstDash val="solid"/>
          </a:ln>
        </p:spPr>
      </p:sp>
      <p:sp>
        <p:nvSpPr>
          <p:cNvPr id="11" name="">
            <a:extLst xmlns:a="http://schemas.openxmlformats.org/drawingml/2006/main">
              <a:ext uri="{FF2B5EF4-FFF2-40B4-BE49-F238E27FC236}">
                <a16:creationId xmlns:a16="http://schemas.microsoft.com/office/drawing/2014/main" id="{48DCD4B7-6F31-4F88-A34F-D05E269D12E1}"/>
              </a:ext>
            </a:extLst>
          </p:cNvPr>
          <p:cNvSpPr>
            <a:spLocks xmlns:a="http://schemas.openxmlformats.org/drawingml/2006/main" noGrp="1"/>
          </p:cNvSpPr>
          <p:nvPr/>
        </p:nvSpPr>
        <p:spPr>
          <a:xfrm xmlns:a="http://schemas.openxmlformats.org/drawingml/2006/main">
            <a:off x="4267200" y="1866900"/>
            <a:ext cx="3276600" cy="114300"/>
          </a:xfrm>
          <a:prstGeom xmlns:a="http://schemas.openxmlformats.org/drawingml/2006/main" prst="rect">
            <a:avLst/>
          </a:prstGeom>
          <a:solidFill xmlns:a="http://schemas.openxmlformats.org/drawingml/2006/main">
            <a:srgbClr val="A80046"/>
          </a:solidFill>
          <a:ln xmlns:a="http://schemas.openxmlformats.org/drawingml/2006/main" w="0">
            <a:solidFill>
              <a:srgbClr val="A80046"/>
            </a:solidFill>
            <a:prstDash val="solid"/>
          </a:ln>
        </p:spPr>
      </p:sp>
      <p:sp>
        <p:nvSpPr>
          <p:cNvPr id="12" name="">
            <a:extLst xmlns:a="http://schemas.openxmlformats.org/drawingml/2006/main">
              <a:ext uri="{FF2B5EF4-FFF2-40B4-BE49-F238E27FC236}">
                <a16:creationId xmlns:a16="http://schemas.microsoft.com/office/drawing/2014/main" id="{AB735F85-074C-45E8-B35F-763B67F492AA}"/>
              </a:ext>
            </a:extLst>
          </p:cNvPr>
          <p:cNvSpPr>
            <a:spLocks xmlns:a="http://schemas.openxmlformats.org/drawingml/2006/main" noGrp="1"/>
          </p:cNvSpPr>
          <p:nvPr/>
        </p:nvSpPr>
        <p:spPr>
          <a:xfrm xmlns:a="http://schemas.openxmlformats.org/drawingml/2006/main">
            <a:off x="4533900" y="2247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A80046"/>
                </a:solidFill>
              </a:defRPr>
            </a:pPr>
            <a:r>
              <a:rPr sz="900" b="1" i="0">
                <a:solidFill>
                  <a:srgbClr val="A80046"/>
                </a:solidFill>
              </a:rPr>
              <a:t>PROMISED NEXT STEPS</a:t>
            </a:r>
          </a:p>
        </p:txBody>
      </p:sp>
      <p:sp>
        <p:nvSpPr>
          <p:cNvPr id="13" name="">
            <a:extLst xmlns:a="http://schemas.openxmlformats.org/drawingml/2006/main">
              <a:ext uri="{FF2B5EF4-FFF2-40B4-BE49-F238E27FC236}">
                <a16:creationId xmlns:a16="http://schemas.microsoft.com/office/drawing/2014/main" id="{BE9E7782-C7B9-4596-8EE8-E5FD811B34DB}"/>
              </a:ext>
            </a:extLst>
          </p:cNvPr>
          <p:cNvSpPr>
            <a:spLocks xmlns:a="http://schemas.openxmlformats.org/drawingml/2006/main" noGrp="1"/>
          </p:cNvSpPr>
          <p:nvPr/>
        </p:nvSpPr>
        <p:spPr>
          <a:xfrm xmlns:a="http://schemas.openxmlformats.org/drawingml/2006/main">
            <a:off x="4533900" y="26479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02A43"/>
                </a:solidFill>
              </a:defRPr>
            </a:pPr>
            <a:r>
              <a:rPr sz="2325" b="1" i="0">
                <a:solidFill>
                  <a:srgbClr val="102A43"/>
                </a:solidFill>
              </a:rPr>
              <a:t>Follow-ups</a:t>
            </a:r>
          </a:p>
        </p:txBody>
      </p:sp>
      <p:sp>
        <p:nvSpPr>
          <p:cNvPr id="14" name="">
            <a:extLst xmlns:a="http://schemas.openxmlformats.org/drawingml/2006/main">
              <a:ext uri="{FF2B5EF4-FFF2-40B4-BE49-F238E27FC236}">
                <a16:creationId xmlns:a16="http://schemas.microsoft.com/office/drawing/2014/main" id="{52A3AF8E-B162-4A5E-9B0E-0C089D985096}"/>
              </a:ext>
            </a:extLst>
          </p:cNvPr>
          <p:cNvSpPr>
            <a:spLocks xmlns:a="http://schemas.openxmlformats.org/drawingml/2006/main" noGrp="1"/>
          </p:cNvSpPr>
          <p:nvPr/>
        </p:nvSpPr>
        <p:spPr>
          <a:xfrm xmlns:a="http://schemas.openxmlformats.org/drawingml/2006/main">
            <a:off x="4533900" y="3371850"/>
            <a:ext cx="27241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526A7A"/>
                </a:solidFill>
              </a:defRPr>
            </a:pPr>
            <a:r>
              <a:rPr sz="1575" b="0" i="0">
                <a:solidFill>
                  <a:srgbClr val="526A7A"/>
                </a:solidFill>
              </a:rPr>
              <a:t>Who needs a return contact, and when?</a:t>
            </a:r>
          </a:p>
        </p:txBody>
      </p:sp>
      <p:sp>
        <p:nvSpPr>
          <p:cNvPr id="15" name="">
            <a:extLst xmlns:a="http://schemas.openxmlformats.org/drawingml/2006/main">
              <a:ext uri="{FF2B5EF4-FFF2-40B4-BE49-F238E27FC236}">
                <a16:creationId xmlns:a16="http://schemas.microsoft.com/office/drawing/2014/main" id="{B31975B4-4721-435E-AA23-2C6572FD3D80}"/>
              </a:ext>
            </a:extLst>
          </p:cNvPr>
          <p:cNvSpPr>
            <a:spLocks xmlns:a="http://schemas.openxmlformats.org/drawingml/2006/main" noGrp="1"/>
          </p:cNvSpPr>
          <p:nvPr/>
        </p:nvSpPr>
        <p:spPr>
          <a:xfrm xmlns:a="http://schemas.openxmlformats.org/drawingml/2006/main">
            <a:off x="4533900" y="46482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A80046"/>
                </a:solidFill>
              </a:defRPr>
            </a:pPr>
            <a:r>
              <a:rPr sz="1200" b="1" i="0">
                <a:solidFill>
                  <a:srgbClr val="A80046"/>
                </a:solidFill>
              </a:rPr>
              <a:t>Keep the promise.</a:t>
            </a:r>
          </a:p>
        </p:txBody>
      </p:sp>
      <p:sp>
        <p:nvSpPr>
          <p:cNvPr id="16" name="">
            <a:extLst xmlns:a="http://schemas.openxmlformats.org/drawingml/2006/main">
              <a:ext uri="{FF2B5EF4-FFF2-40B4-BE49-F238E27FC236}">
                <a16:creationId xmlns:a16="http://schemas.microsoft.com/office/drawing/2014/main" id="{3BD6FE4D-D3C7-4219-B123-9AFB384A7487}"/>
              </a:ext>
            </a:extLst>
          </p:cNvPr>
          <p:cNvSpPr>
            <a:spLocks xmlns:a="http://schemas.openxmlformats.org/drawingml/2006/main" noGrp="1"/>
          </p:cNvSpPr>
          <p:nvPr/>
        </p:nvSpPr>
        <p:spPr>
          <a:xfrm xmlns:a="http://schemas.openxmlformats.org/drawingml/2006/main">
            <a:off x="7848600" y="1866900"/>
            <a:ext cx="3276600" cy="333375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9525">
            <a:solidFill>
              <a:srgbClr val="D7E1E7"/>
            </a:solidFill>
            <a:prstDash val="solid"/>
          </a:ln>
        </p:spPr>
      </p:sp>
      <p:sp>
        <p:nvSpPr>
          <p:cNvPr id="17" name="">
            <a:extLst xmlns:a="http://schemas.openxmlformats.org/drawingml/2006/main">
              <a:ext uri="{FF2B5EF4-FFF2-40B4-BE49-F238E27FC236}">
                <a16:creationId xmlns:a16="http://schemas.microsoft.com/office/drawing/2014/main" id="{091C2EB7-854C-4FD3-8E90-5215B254170F}"/>
              </a:ext>
            </a:extLst>
          </p:cNvPr>
          <p:cNvSpPr>
            <a:spLocks xmlns:a="http://schemas.openxmlformats.org/drawingml/2006/main" noGrp="1"/>
          </p:cNvSpPr>
          <p:nvPr/>
        </p:nvSpPr>
        <p:spPr>
          <a:xfrm xmlns:a="http://schemas.openxmlformats.org/drawingml/2006/main">
            <a:off x="7848600" y="1866900"/>
            <a:ext cx="3276600" cy="114300"/>
          </a:xfrm>
          <a:prstGeom xmlns:a="http://schemas.openxmlformats.org/drawingml/2006/main" prst="rect">
            <a:avLst/>
          </a:prstGeom>
          <a:solidFill xmlns:a="http://schemas.openxmlformats.org/drawingml/2006/main">
            <a:srgbClr val="B37A00"/>
          </a:solidFill>
          <a:ln xmlns:a="http://schemas.openxmlformats.org/drawingml/2006/main" w="0">
            <a:solidFill>
              <a:srgbClr val="B37A00"/>
            </a:solidFill>
            <a:prstDash val="solid"/>
          </a:ln>
        </p:spPr>
      </p:sp>
      <p:sp>
        <p:nvSpPr>
          <p:cNvPr id="18" name="">
            <a:extLst xmlns:a="http://schemas.openxmlformats.org/drawingml/2006/main">
              <a:ext uri="{FF2B5EF4-FFF2-40B4-BE49-F238E27FC236}">
                <a16:creationId xmlns:a16="http://schemas.microsoft.com/office/drawing/2014/main" id="{1C5A09E4-8B2D-431F-95C5-74084A85C35B}"/>
              </a:ext>
            </a:extLst>
          </p:cNvPr>
          <p:cNvSpPr>
            <a:spLocks xmlns:a="http://schemas.openxmlformats.org/drawingml/2006/main" noGrp="1"/>
          </p:cNvSpPr>
          <p:nvPr/>
        </p:nvSpPr>
        <p:spPr>
          <a:xfrm xmlns:a="http://schemas.openxmlformats.org/drawingml/2006/main">
            <a:off x="8115300" y="2247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B37A00"/>
                </a:solidFill>
              </a:defRPr>
            </a:pPr>
            <a:r>
              <a:rPr sz="900" b="1" i="0">
                <a:solidFill>
                  <a:srgbClr val="B37A00"/>
                </a:solidFill>
              </a:rPr>
              <a:t>CALENDAR AND WORKLOAD</a:t>
            </a:r>
          </a:p>
        </p:txBody>
      </p:sp>
      <p:sp>
        <p:nvSpPr>
          <p:cNvPr id="19" name="">
            <a:extLst xmlns:a="http://schemas.openxmlformats.org/drawingml/2006/main">
              <a:ext uri="{FF2B5EF4-FFF2-40B4-BE49-F238E27FC236}">
                <a16:creationId xmlns:a16="http://schemas.microsoft.com/office/drawing/2014/main" id="{215367CB-6069-4124-B364-70A65DEDEDDB}"/>
              </a:ext>
            </a:extLst>
          </p:cNvPr>
          <p:cNvSpPr>
            <a:spLocks xmlns:a="http://schemas.openxmlformats.org/drawingml/2006/main" noGrp="1"/>
          </p:cNvSpPr>
          <p:nvPr/>
        </p:nvSpPr>
        <p:spPr>
          <a:xfrm xmlns:a="http://schemas.openxmlformats.org/drawingml/2006/main">
            <a:off x="8115300" y="26479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02A43"/>
                </a:solidFill>
              </a:defRPr>
            </a:pPr>
            <a:r>
              <a:rPr sz="2325" b="1" i="0">
                <a:solidFill>
                  <a:srgbClr val="102A43"/>
                </a:solidFill>
              </a:rPr>
              <a:t>Work planner</a:t>
            </a:r>
          </a:p>
        </p:txBody>
      </p:sp>
      <p:sp>
        <p:nvSpPr>
          <p:cNvPr id="20" name="">
            <a:extLst xmlns:a="http://schemas.openxmlformats.org/drawingml/2006/main">
              <a:ext uri="{FF2B5EF4-FFF2-40B4-BE49-F238E27FC236}">
                <a16:creationId xmlns:a16="http://schemas.microsoft.com/office/drawing/2014/main" id="{6351D9B5-D27C-4FBA-B8D3-4BEC481459B7}"/>
              </a:ext>
            </a:extLst>
          </p:cNvPr>
          <p:cNvSpPr>
            <a:spLocks xmlns:a="http://schemas.openxmlformats.org/drawingml/2006/main" noGrp="1"/>
          </p:cNvSpPr>
          <p:nvPr/>
        </p:nvSpPr>
        <p:spPr>
          <a:xfrm xmlns:a="http://schemas.openxmlformats.org/drawingml/2006/main">
            <a:off x="8115300" y="3371850"/>
            <a:ext cx="27241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526A7A"/>
                </a:solidFill>
              </a:defRPr>
            </a:pPr>
            <a:r>
              <a:rPr sz="1575" b="0" i="0">
                <a:solidFill>
                  <a:srgbClr val="526A7A"/>
                </a:solidFill>
              </a:rPr>
              <a:t>How does the work fit across days and assignments?</a:t>
            </a:r>
          </a:p>
        </p:txBody>
      </p:sp>
      <p:sp>
        <p:nvSpPr>
          <p:cNvPr id="21" name="">
            <a:extLst xmlns:a="http://schemas.openxmlformats.org/drawingml/2006/main">
              <a:ext uri="{FF2B5EF4-FFF2-40B4-BE49-F238E27FC236}">
                <a16:creationId xmlns:a16="http://schemas.microsoft.com/office/drawing/2014/main" id="{AF8B3A68-0DBB-4D71-92F1-251DA1CA79CB}"/>
              </a:ext>
            </a:extLst>
          </p:cNvPr>
          <p:cNvSpPr>
            <a:spLocks xmlns:a="http://schemas.openxmlformats.org/drawingml/2006/main" noGrp="1"/>
          </p:cNvSpPr>
          <p:nvPr/>
        </p:nvSpPr>
        <p:spPr>
          <a:xfrm xmlns:a="http://schemas.openxmlformats.org/drawingml/2006/main">
            <a:off x="8115300" y="46482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B37A00"/>
                </a:solidFill>
              </a:defRPr>
            </a:pPr>
            <a:r>
              <a:rPr sz="1200" b="1" i="0">
                <a:solidFill>
                  <a:srgbClr val="B37A00"/>
                </a:solidFill>
              </a:rPr>
              <a:t>Balance the week.</a:t>
            </a:r>
          </a:p>
        </p:txBody>
      </p:sp>
      <p:sp>
        <p:nvSpPr>
          <p:cNvPr id="22" name="">
            <a:extLst xmlns:a="http://schemas.openxmlformats.org/drawingml/2006/main">
              <a:ext uri="{FF2B5EF4-FFF2-40B4-BE49-F238E27FC236}">
                <a16:creationId xmlns:a16="http://schemas.microsoft.com/office/drawing/2014/main" id="{89F5FD2A-2B31-44F1-BF73-911FBBF622AC}"/>
              </a:ext>
            </a:extLst>
          </p:cNvPr>
          <p:cNvSpPr>
            <a:spLocks xmlns:a="http://schemas.openxmlformats.org/drawingml/2006/main" noGrp="1"/>
          </p:cNvSpPr>
          <p:nvPr/>
        </p:nvSpPr>
        <p:spPr>
          <a:xfrm xmlns:a="http://schemas.openxmlformats.org/drawingml/2006/main">
            <a:off x="1581150" y="5695950"/>
            <a:ext cx="902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02A43"/>
                </a:solidFill>
              </a:defRPr>
            </a:pPr>
            <a:r>
              <a:rPr sz="1500" b="1" i="0">
                <a:solidFill>
                  <a:srgbClr val="102A43"/>
                </a:solidFill>
              </a:rPr>
              <a:t>They overlap on purpose. Use the view that answers the question you have right now.</a:t>
            </a:r>
          </a:p>
        </p:txBody>
      </p:sp>
      <p:sp>
        <p:nvSpPr>
          <p:cNvPr id="23" name="">
            <a:extLst xmlns:a="http://schemas.openxmlformats.org/drawingml/2006/main">
              <a:ext uri="{FF2B5EF4-FFF2-40B4-BE49-F238E27FC236}">
                <a16:creationId xmlns:a16="http://schemas.microsoft.com/office/drawing/2014/main" id="{6A3986C8-606A-4A59-9464-ABFC335DBF4F}"/>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4" name="">
            <a:extLst xmlns:a="http://schemas.openxmlformats.org/drawingml/2006/main">
              <a:ext uri="{FF2B5EF4-FFF2-40B4-BE49-F238E27FC236}">
                <a16:creationId xmlns:a16="http://schemas.microsoft.com/office/drawing/2014/main" id="{A006F2BC-0D44-4472-86E4-0CCDE66482A3}"/>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5" name="">
            <a:extLst xmlns:a="http://schemas.openxmlformats.org/drawingml/2006/main">
              <a:ext uri="{FF2B5EF4-FFF2-40B4-BE49-F238E27FC236}">
                <a16:creationId xmlns:a16="http://schemas.microsoft.com/office/drawing/2014/main" id="{2525D719-D35F-4875-94D8-800B5432C274}"/>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09</a:t>
            </a:r>
          </a:p>
        </p:txBody>
      </p:sp>
    </p:spTree>
    <p:extLst>
      <p:ext uri="{BB962C8B-B14F-4D97-AF65-F5344CB8AC3E}">
        <p14:creationId xmlns:p14="http://schemas.microsoft.com/office/powerpoint/2010/main" val="8425641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FB069B1-A88F-4A34-B6B2-9E47C7851B27}"/>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MOBILE</a:t>
            </a:r>
          </a:p>
        </p:txBody>
      </p:sp>
      <p:sp>
        <p:nvSpPr>
          <p:cNvPr id="2" name="">
            <a:extLst xmlns:a="http://schemas.openxmlformats.org/drawingml/2006/main">
              <a:ext uri="{FF2B5EF4-FFF2-40B4-BE49-F238E27FC236}">
                <a16:creationId xmlns:a16="http://schemas.microsoft.com/office/drawing/2014/main" id="{D991ACD2-53A9-457F-A68D-BDEB614DD76F}"/>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On a phone, Field view starts automatically</a:t>
            </a:r>
          </a:p>
        </p:txBody>
      </p:sp>
      <p:sp>
        <p:nvSpPr>
          <p:cNvPr id="3" name="">
            <a:extLst xmlns:a="http://schemas.openxmlformats.org/drawingml/2006/main">
              <a:ext uri="{FF2B5EF4-FFF2-40B4-BE49-F238E27FC236}">
                <a16:creationId xmlns:a16="http://schemas.microsoft.com/office/drawing/2014/main" id="{1C5769A4-63E1-4C2D-A7BF-A8AF32957B7D}"/>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3e9cb0ca5af4bbf"/>
          <a:stretch xmlns:a="http://schemas.openxmlformats.org/drawingml/2006/main"/>
        </p:blipFill>
        <p:spPr>
          <a:xfrm xmlns:a="http://schemas.openxmlformats.org/drawingml/2006/main">
            <a:off x="2069240" y="1676400"/>
            <a:ext cx="738321" cy="4229100"/>
          </a:xfrm>
          <a:prstGeom xmlns:a="http://schemas.openxmlformats.org/drawingml/2006/main" prst="roundRect">
            <a:avLst>
              <a:gd name="adj" fmla="val 3750"/>
            </a:avLst>
          </a:prstGeom>
        </p:spPr>
      </p:pic>
      <p:sp>
        <p:nvSpPr>
          <p:cNvPr id="5" name="">
            <a:extLst xmlns:a="http://schemas.openxmlformats.org/drawingml/2006/main">
              <a:ext uri="{FF2B5EF4-FFF2-40B4-BE49-F238E27FC236}">
                <a16:creationId xmlns:a16="http://schemas.microsoft.com/office/drawing/2014/main" id="{B8C73E41-AAD5-40E5-968F-BFC08D611DC0}"/>
              </a:ext>
            </a:extLst>
          </p:cNvPr>
          <p:cNvSpPr>
            <a:spLocks xmlns:a="http://schemas.openxmlformats.org/drawingml/2006/main" noGrp="1"/>
          </p:cNvSpPr>
          <p:nvPr/>
        </p:nvSpPr>
        <p:spPr>
          <a:xfrm xmlns:a="http://schemas.openxmlformats.org/drawingml/2006/main">
            <a:off x="4762500" y="18288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i="0">
                <a:solidFill>
                  <a:srgbClr val="102A43"/>
                </a:solidFill>
              </a:defRPr>
            </a:pPr>
            <a:r>
              <a:rPr sz="2175" b="1" i="0">
                <a:solidFill>
                  <a:srgbClr val="102A43"/>
                </a:solidFill>
              </a:rPr>
              <a:t>Field view keeps the next action close</a:t>
            </a:r>
          </a:p>
        </p:txBody>
      </p:sp>
      <p:sp>
        <p:nvSpPr>
          <p:cNvPr id="6" name="">
            <a:extLst xmlns:a="http://schemas.openxmlformats.org/drawingml/2006/main">
              <a:ext uri="{FF2B5EF4-FFF2-40B4-BE49-F238E27FC236}">
                <a16:creationId xmlns:a16="http://schemas.microsoft.com/office/drawing/2014/main" id="{6DBC77A6-0B92-4298-A3E8-910F539FC052}"/>
              </a:ext>
            </a:extLst>
          </p:cNvPr>
          <p:cNvSpPr>
            <a:spLocks xmlns:a="http://schemas.openxmlformats.org/drawingml/2006/main" noGrp="1"/>
          </p:cNvSpPr>
          <p:nvPr/>
        </p:nvSpPr>
        <p:spPr>
          <a:xfrm xmlns:a="http://schemas.openxmlformats.org/drawingml/2006/main">
            <a:off x="4876800" y="260032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7" name="">
            <a:extLst xmlns:a="http://schemas.openxmlformats.org/drawingml/2006/main">
              <a:ext uri="{FF2B5EF4-FFF2-40B4-BE49-F238E27FC236}">
                <a16:creationId xmlns:a16="http://schemas.microsoft.com/office/drawing/2014/main" id="{E5518912-8666-4D2B-AFF0-427D5DE48BAF}"/>
              </a:ext>
            </a:extLst>
          </p:cNvPr>
          <p:cNvSpPr>
            <a:spLocks xmlns:a="http://schemas.openxmlformats.org/drawingml/2006/main" noGrp="1"/>
          </p:cNvSpPr>
          <p:nvPr/>
        </p:nvSpPr>
        <p:spPr>
          <a:xfrm xmlns:a="http://schemas.openxmlformats.org/drawingml/2006/main">
            <a:off x="5086350" y="2514600"/>
            <a:ext cx="5219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Contact the member.</a:t>
            </a:r>
          </a:p>
        </p:txBody>
      </p:sp>
      <p:sp>
        <p:nvSpPr>
          <p:cNvPr id="8" name="">
            <a:extLst xmlns:a="http://schemas.openxmlformats.org/drawingml/2006/main">
              <a:ext uri="{FF2B5EF4-FFF2-40B4-BE49-F238E27FC236}">
                <a16:creationId xmlns:a16="http://schemas.microsoft.com/office/drawing/2014/main" id="{1300F2C1-D7DA-4042-A0A9-179A4927401B}"/>
              </a:ext>
            </a:extLst>
          </p:cNvPr>
          <p:cNvSpPr>
            <a:spLocks xmlns:a="http://schemas.openxmlformats.org/drawingml/2006/main" noGrp="1"/>
          </p:cNvSpPr>
          <p:nvPr/>
        </p:nvSpPr>
        <p:spPr>
          <a:xfrm xmlns:a="http://schemas.openxmlformats.org/drawingml/2006/main">
            <a:off x="4876800" y="3105150"/>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9" name="">
            <a:extLst xmlns:a="http://schemas.openxmlformats.org/drawingml/2006/main">
              <a:ext uri="{FF2B5EF4-FFF2-40B4-BE49-F238E27FC236}">
                <a16:creationId xmlns:a16="http://schemas.microsoft.com/office/drawing/2014/main" id="{F5831455-84A0-442F-B208-8E87424C7A04}"/>
              </a:ext>
            </a:extLst>
          </p:cNvPr>
          <p:cNvSpPr>
            <a:spLocks xmlns:a="http://schemas.openxmlformats.org/drawingml/2006/main" noGrp="1"/>
          </p:cNvSpPr>
          <p:nvPr/>
        </p:nvSpPr>
        <p:spPr>
          <a:xfrm xmlns:a="http://schemas.openxmlformats.org/drawingml/2006/main">
            <a:off x="5086350" y="3019425"/>
            <a:ext cx="5219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Record what happened.</a:t>
            </a:r>
          </a:p>
        </p:txBody>
      </p:sp>
      <p:sp>
        <p:nvSpPr>
          <p:cNvPr id="10" name="">
            <a:extLst xmlns:a="http://schemas.openxmlformats.org/drawingml/2006/main">
              <a:ext uri="{FF2B5EF4-FFF2-40B4-BE49-F238E27FC236}">
                <a16:creationId xmlns:a16="http://schemas.microsoft.com/office/drawing/2014/main" id="{F2036E91-C74F-48CD-AE06-6F905E6433DD}"/>
              </a:ext>
            </a:extLst>
          </p:cNvPr>
          <p:cNvSpPr>
            <a:spLocks xmlns:a="http://schemas.openxmlformats.org/drawingml/2006/main" noGrp="1"/>
          </p:cNvSpPr>
          <p:nvPr/>
        </p:nvSpPr>
        <p:spPr>
          <a:xfrm xmlns:a="http://schemas.openxmlformats.org/drawingml/2006/main">
            <a:off x="4876800" y="360997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1" name="">
            <a:extLst xmlns:a="http://schemas.openxmlformats.org/drawingml/2006/main">
              <a:ext uri="{FF2B5EF4-FFF2-40B4-BE49-F238E27FC236}">
                <a16:creationId xmlns:a16="http://schemas.microsoft.com/office/drawing/2014/main" id="{3C4EBA81-4DD4-4E56-9244-DE29B692A7B9}"/>
              </a:ext>
            </a:extLst>
          </p:cNvPr>
          <p:cNvSpPr>
            <a:spLocks xmlns:a="http://schemas.openxmlformats.org/drawingml/2006/main" noGrp="1"/>
          </p:cNvSpPr>
          <p:nvPr/>
        </p:nvSpPr>
        <p:spPr>
          <a:xfrm xmlns:a="http://schemas.openxmlformats.org/drawingml/2006/main">
            <a:off x="5086350" y="3524250"/>
            <a:ext cx="5219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Update readiness.</a:t>
            </a:r>
          </a:p>
        </p:txBody>
      </p:sp>
      <p:sp>
        <p:nvSpPr>
          <p:cNvPr id="12" name="">
            <a:extLst xmlns:a="http://schemas.openxmlformats.org/drawingml/2006/main">
              <a:ext uri="{FF2B5EF4-FFF2-40B4-BE49-F238E27FC236}">
                <a16:creationId xmlns:a16="http://schemas.microsoft.com/office/drawing/2014/main" id="{7DC0CFC8-0411-4CB8-A456-FADC3BC42E63}"/>
              </a:ext>
            </a:extLst>
          </p:cNvPr>
          <p:cNvSpPr>
            <a:spLocks xmlns:a="http://schemas.openxmlformats.org/drawingml/2006/main" noGrp="1"/>
          </p:cNvSpPr>
          <p:nvPr/>
        </p:nvSpPr>
        <p:spPr>
          <a:xfrm xmlns:a="http://schemas.openxmlformats.org/drawingml/2006/main">
            <a:off x="4876800" y="4114800"/>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3" name="">
            <a:extLst xmlns:a="http://schemas.openxmlformats.org/drawingml/2006/main">
              <a:ext uri="{FF2B5EF4-FFF2-40B4-BE49-F238E27FC236}">
                <a16:creationId xmlns:a16="http://schemas.microsoft.com/office/drawing/2014/main" id="{DCEC6C50-3BA1-43D9-8685-4ED1B4647B38}"/>
              </a:ext>
            </a:extLst>
          </p:cNvPr>
          <p:cNvSpPr>
            <a:spLocks xmlns:a="http://schemas.openxmlformats.org/drawingml/2006/main" noGrp="1"/>
          </p:cNvSpPr>
          <p:nvPr/>
        </p:nvSpPr>
        <p:spPr>
          <a:xfrm xmlns:a="http://schemas.openxmlformats.org/drawingml/2006/main">
            <a:off x="5086350" y="4029075"/>
            <a:ext cx="5219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Add a follow-up.</a:t>
            </a:r>
          </a:p>
        </p:txBody>
      </p:sp>
      <p:sp>
        <p:nvSpPr>
          <p:cNvPr id="14" name="">
            <a:extLst xmlns:a="http://schemas.openxmlformats.org/drawingml/2006/main">
              <a:ext uri="{FF2B5EF4-FFF2-40B4-BE49-F238E27FC236}">
                <a16:creationId xmlns:a16="http://schemas.microsoft.com/office/drawing/2014/main" id="{A6E4E91A-B4FE-47B0-9170-F3E1C3D907BA}"/>
              </a:ext>
            </a:extLst>
          </p:cNvPr>
          <p:cNvSpPr>
            <a:spLocks xmlns:a="http://schemas.openxmlformats.org/drawingml/2006/main" noGrp="1"/>
          </p:cNvSpPr>
          <p:nvPr/>
        </p:nvSpPr>
        <p:spPr>
          <a:xfrm xmlns:a="http://schemas.openxmlformats.org/drawingml/2006/main">
            <a:off x="4876800" y="461962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5" name="">
            <a:extLst xmlns:a="http://schemas.openxmlformats.org/drawingml/2006/main">
              <a:ext uri="{FF2B5EF4-FFF2-40B4-BE49-F238E27FC236}">
                <a16:creationId xmlns:a16="http://schemas.microsoft.com/office/drawing/2014/main" id="{6787CDEB-1744-4899-8B53-3FFCA8413C0F}"/>
              </a:ext>
            </a:extLst>
          </p:cNvPr>
          <p:cNvSpPr>
            <a:spLocks xmlns:a="http://schemas.openxmlformats.org/drawingml/2006/main" noGrp="1"/>
          </p:cNvSpPr>
          <p:nvPr/>
        </p:nvSpPr>
        <p:spPr>
          <a:xfrm xmlns:a="http://schemas.openxmlformats.org/drawingml/2006/main">
            <a:off x="5086350" y="4533900"/>
            <a:ext cx="5219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Return to the refreshed list.</a:t>
            </a:r>
          </a:p>
        </p:txBody>
      </p:sp>
      <p:sp>
        <p:nvSpPr>
          <p:cNvPr id="16" name="">
            <a:extLst xmlns:a="http://schemas.openxmlformats.org/drawingml/2006/main">
              <a:ext uri="{FF2B5EF4-FFF2-40B4-BE49-F238E27FC236}">
                <a16:creationId xmlns:a16="http://schemas.microsoft.com/office/drawing/2014/main" id="{B979442B-AC78-4262-9A07-D097F9A11A8B}"/>
              </a:ext>
            </a:extLst>
          </p:cNvPr>
          <p:cNvSpPr>
            <a:spLocks xmlns:a="http://schemas.openxmlformats.org/drawingml/2006/main" noGrp="1"/>
          </p:cNvSpPr>
          <p:nvPr/>
        </p:nvSpPr>
        <p:spPr>
          <a:xfrm xmlns:a="http://schemas.openxmlformats.org/drawingml/2006/main">
            <a:off x="4762500" y="5219700"/>
            <a:ext cx="6191250" cy="685800"/>
          </a:xfrm>
          <a:prstGeom xmlns:a="http://schemas.openxmlformats.org/drawingml/2006/main" prst="roundRect">
            <a:avLst>
              <a:gd name="adj" fmla="val 11111"/>
            </a:avLst>
          </a:prstGeom>
          <a:solidFill xmlns:a="http://schemas.openxmlformats.org/drawingml/2006/main">
            <a:srgbClr val="FFF2C7"/>
          </a:solidFill>
          <a:ln xmlns:a="http://schemas.openxmlformats.org/drawingml/2006/main" w="9525">
            <a:solidFill>
              <a:srgbClr val="EACB70"/>
            </a:solidFill>
            <a:prstDash val="solid"/>
          </a:ln>
        </p:spPr>
      </p:sp>
      <p:sp>
        <p:nvSpPr>
          <p:cNvPr id="17" name="">
            <a:extLst xmlns:a="http://schemas.openxmlformats.org/drawingml/2006/main">
              <a:ext uri="{FF2B5EF4-FFF2-40B4-BE49-F238E27FC236}">
                <a16:creationId xmlns:a16="http://schemas.microsoft.com/office/drawing/2014/main" id="{18987917-E705-49B4-AAAC-B6E66D419E57}"/>
              </a:ext>
            </a:extLst>
          </p:cNvPr>
          <p:cNvSpPr>
            <a:spLocks xmlns:a="http://schemas.openxmlformats.org/drawingml/2006/main" noGrp="1"/>
          </p:cNvSpPr>
          <p:nvPr/>
        </p:nvSpPr>
        <p:spPr>
          <a:xfrm xmlns:a="http://schemas.openxmlformats.org/drawingml/2006/main">
            <a:off x="4991100" y="5381625"/>
            <a:ext cx="5734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defRPr>
            </a:pPr>
            <a:r>
              <a:rPr sz="1275" b="1" i="0">
                <a:solidFill>
                  <a:srgbClr val="102A43"/>
                </a:solidFill>
              </a:rPr>
              <a:t>Want the full layout? Choose Use standard view. CAT respects that choice for the rest of the browser session.</a:t>
            </a:r>
          </a:p>
        </p:txBody>
      </p:sp>
      <p:sp>
        <p:nvSpPr>
          <p:cNvPr id="18" name="">
            <a:extLst xmlns:a="http://schemas.openxmlformats.org/drawingml/2006/main">
              <a:ext uri="{FF2B5EF4-FFF2-40B4-BE49-F238E27FC236}">
                <a16:creationId xmlns:a16="http://schemas.microsoft.com/office/drawing/2014/main" id="{4A77E9AA-3815-4403-88FC-1C68E257E7D7}"/>
              </a:ext>
            </a:extLst>
          </p:cNvPr>
          <p:cNvSpPr>
            <a:spLocks xmlns:a="http://schemas.openxmlformats.org/drawingml/2006/main" noGrp="1"/>
          </p:cNvSpPr>
          <p:nvPr/>
        </p:nvSpPr>
        <p:spPr>
          <a:xfrm xmlns:a="http://schemas.openxmlformats.org/drawingml/2006/main">
            <a:off x="4762500" y="6048375"/>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A80046"/>
                </a:solidFill>
              </a:defRPr>
            </a:pPr>
            <a:r>
              <a:rPr sz="1125" b="1" i="0">
                <a:solidFill>
                  <a:srgbClr val="A80046"/>
                </a:solidFill>
              </a:rPr>
              <a:t>Field view is online only—it does not store member contact details for offline use.</a:t>
            </a:r>
          </a:p>
        </p:txBody>
      </p:sp>
      <p:sp>
        <p:nvSpPr>
          <p:cNvPr id="19" name="">
            <a:extLst xmlns:a="http://schemas.openxmlformats.org/drawingml/2006/main">
              <a:ext uri="{FF2B5EF4-FFF2-40B4-BE49-F238E27FC236}">
                <a16:creationId xmlns:a16="http://schemas.microsoft.com/office/drawing/2014/main" id="{20E8A250-5980-4112-8CF4-61B2702504AC}"/>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0" name="">
            <a:extLst xmlns:a="http://schemas.openxmlformats.org/drawingml/2006/main">
              <a:ext uri="{FF2B5EF4-FFF2-40B4-BE49-F238E27FC236}">
                <a16:creationId xmlns:a16="http://schemas.microsoft.com/office/drawing/2014/main" id="{06F28E9F-CBE5-441F-96C6-722D29D898B3}"/>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1" name="">
            <a:extLst xmlns:a="http://schemas.openxmlformats.org/drawingml/2006/main">
              <a:ext uri="{FF2B5EF4-FFF2-40B4-BE49-F238E27FC236}">
                <a16:creationId xmlns:a16="http://schemas.microsoft.com/office/drawing/2014/main" id="{1CBF3DB3-88E8-44AB-905B-923E7A3AB882}"/>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10</a:t>
            </a:r>
          </a:p>
        </p:txBody>
      </p:sp>
    </p:spTree>
    <p:extLst>
      <p:ext uri="{BB962C8B-B14F-4D97-AF65-F5344CB8AC3E}">
        <p14:creationId xmlns:p14="http://schemas.microsoft.com/office/powerpoint/2010/main" val="16904798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7BCC36-7357-4404-B366-D823DA01A6F5}"/>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DOCUMENTS &amp; INSTALL</a:t>
            </a:r>
          </a:p>
        </p:txBody>
      </p:sp>
      <p:sp>
        <p:nvSpPr>
          <p:cNvPr id="2" name="">
            <a:extLst xmlns:a="http://schemas.openxmlformats.org/drawingml/2006/main">
              <a:ext uri="{FF2B5EF4-FFF2-40B4-BE49-F238E27FC236}">
                <a16:creationId xmlns:a16="http://schemas.microsoft.com/office/drawing/2014/main" id="{9055127E-3877-41D2-A79D-BC8CB3560384}"/>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Keep the shortcut convenient—and the information protected</a:t>
            </a:r>
          </a:p>
        </p:txBody>
      </p:sp>
      <p:sp>
        <p:nvSpPr>
          <p:cNvPr id="3" name="">
            <a:extLst xmlns:a="http://schemas.openxmlformats.org/drawingml/2006/main">
              <a:ext uri="{FF2B5EF4-FFF2-40B4-BE49-F238E27FC236}">
                <a16:creationId xmlns:a16="http://schemas.microsoft.com/office/drawing/2014/main" id="{0D48A090-C3F4-458C-AAA0-96ED5553E0C9}"/>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8b19d05836344c1"/>
          <a:stretch xmlns:a="http://schemas.openxmlformats.org/drawingml/2006/main"/>
        </p:blipFill>
        <p:spPr>
          <a:xfrm xmlns:a="http://schemas.openxmlformats.org/drawingml/2006/main">
            <a:off x="1072585" y="1790700"/>
            <a:ext cx="4941429" cy="4019550"/>
          </a:xfrm>
          <a:prstGeom xmlns:a="http://schemas.openxmlformats.org/drawingml/2006/main" prst="roundRect">
            <a:avLst>
              <a:gd name="adj" fmla="val 2844"/>
            </a:avLst>
          </a:prstGeom>
        </p:spPr>
      </p:pic>
      <p:sp>
        <p:nvSpPr>
          <p:cNvPr id="5" name="">
            <a:extLst xmlns:a="http://schemas.openxmlformats.org/drawingml/2006/main">
              <a:ext uri="{FF2B5EF4-FFF2-40B4-BE49-F238E27FC236}">
                <a16:creationId xmlns:a16="http://schemas.microsoft.com/office/drawing/2014/main" id="{8018F54E-BF96-400D-B61E-9EC6CDFFEB8C}"/>
              </a:ext>
            </a:extLst>
          </p:cNvPr>
          <p:cNvSpPr>
            <a:spLocks xmlns:a="http://schemas.openxmlformats.org/drawingml/2006/main" noGrp="1"/>
          </p:cNvSpPr>
          <p:nvPr/>
        </p:nvSpPr>
        <p:spPr>
          <a:xfrm xmlns:a="http://schemas.openxmlformats.org/drawingml/2006/main">
            <a:off x="6953250" y="18097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A80046"/>
                </a:solidFill>
              </a:defRPr>
            </a:pPr>
            <a:r>
              <a:rPr sz="900" b="1" i="0">
                <a:solidFill>
                  <a:srgbClr val="A80046"/>
                </a:solidFill>
              </a:rPr>
              <a:t>DOCUMENTS</a:t>
            </a:r>
          </a:p>
        </p:txBody>
      </p:sp>
      <p:sp>
        <p:nvSpPr>
          <p:cNvPr id="6" name="">
            <a:extLst xmlns:a="http://schemas.openxmlformats.org/drawingml/2006/main">
              <a:ext uri="{FF2B5EF4-FFF2-40B4-BE49-F238E27FC236}">
                <a16:creationId xmlns:a16="http://schemas.microsoft.com/office/drawing/2014/main" id="{AE9E1C0B-650B-4733-8FB4-919F2C2564F9}"/>
              </a:ext>
            </a:extLst>
          </p:cNvPr>
          <p:cNvSpPr>
            <a:spLocks xmlns:a="http://schemas.openxmlformats.org/drawingml/2006/main" noGrp="1"/>
          </p:cNvSpPr>
          <p:nvPr/>
        </p:nvSpPr>
        <p:spPr>
          <a:xfrm xmlns:a="http://schemas.openxmlformats.org/drawingml/2006/main">
            <a:off x="6953250" y="22764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7" name="">
            <a:extLst xmlns:a="http://schemas.openxmlformats.org/drawingml/2006/main">
              <a:ext uri="{FF2B5EF4-FFF2-40B4-BE49-F238E27FC236}">
                <a16:creationId xmlns:a16="http://schemas.microsoft.com/office/drawing/2014/main" id="{6CCBC23D-067C-405A-AC4F-1314DDC85C83}"/>
              </a:ext>
            </a:extLst>
          </p:cNvPr>
          <p:cNvSpPr>
            <a:spLocks xmlns:a="http://schemas.openxmlformats.org/drawingml/2006/main" noGrp="1"/>
          </p:cNvSpPr>
          <p:nvPr/>
        </p:nvSpPr>
        <p:spPr>
          <a:xfrm xmlns:a="http://schemas.openxmlformats.org/drawingml/2006/main">
            <a:off x="7162800" y="2190750"/>
            <a:ext cx="3886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Choose the narrowest audience that needs the file.</a:t>
            </a:r>
          </a:p>
        </p:txBody>
      </p:sp>
      <p:sp>
        <p:nvSpPr>
          <p:cNvPr id="8" name="">
            <a:extLst xmlns:a="http://schemas.openxmlformats.org/drawingml/2006/main">
              <a:ext uri="{FF2B5EF4-FFF2-40B4-BE49-F238E27FC236}">
                <a16:creationId xmlns:a16="http://schemas.microsoft.com/office/drawing/2014/main" id="{829CAB8D-9321-42B0-AE57-6E1BF03FB32A}"/>
              </a:ext>
            </a:extLst>
          </p:cNvPr>
          <p:cNvSpPr>
            <a:spLocks xmlns:a="http://schemas.openxmlformats.org/drawingml/2006/main" noGrp="1"/>
          </p:cNvSpPr>
          <p:nvPr/>
        </p:nvSpPr>
        <p:spPr>
          <a:xfrm xmlns:a="http://schemas.openxmlformats.org/drawingml/2006/main">
            <a:off x="6953250" y="29241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9" name="">
            <a:extLst xmlns:a="http://schemas.openxmlformats.org/drawingml/2006/main">
              <a:ext uri="{FF2B5EF4-FFF2-40B4-BE49-F238E27FC236}">
                <a16:creationId xmlns:a16="http://schemas.microsoft.com/office/drawing/2014/main" id="{6ADED309-EA57-4C00-94B7-2EE0F736BA53}"/>
              </a:ext>
            </a:extLst>
          </p:cNvPr>
          <p:cNvSpPr>
            <a:spLocks xmlns:a="http://schemas.openxmlformats.org/drawingml/2006/main" noGrp="1"/>
          </p:cNvSpPr>
          <p:nvPr/>
        </p:nvSpPr>
        <p:spPr>
          <a:xfrm xmlns:a="http://schemas.openxmlformats.org/drawingml/2006/main">
            <a:off x="7162800" y="2838450"/>
            <a:ext cx="3886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Check the filename and content before upload.</a:t>
            </a:r>
          </a:p>
        </p:txBody>
      </p:sp>
      <p:sp>
        <p:nvSpPr>
          <p:cNvPr id="10" name="">
            <a:extLst xmlns:a="http://schemas.openxmlformats.org/drawingml/2006/main">
              <a:ext uri="{FF2B5EF4-FFF2-40B4-BE49-F238E27FC236}">
                <a16:creationId xmlns:a16="http://schemas.microsoft.com/office/drawing/2014/main" id="{F4F79814-FF4A-412D-A72E-29B781A278C4}"/>
              </a:ext>
            </a:extLst>
          </p:cNvPr>
          <p:cNvSpPr>
            <a:spLocks xmlns:a="http://schemas.openxmlformats.org/drawingml/2006/main" noGrp="1"/>
          </p:cNvSpPr>
          <p:nvPr/>
        </p:nvSpPr>
        <p:spPr>
          <a:xfrm xmlns:a="http://schemas.openxmlformats.org/drawingml/2006/main">
            <a:off x="6953250" y="35718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1" name="">
            <a:extLst xmlns:a="http://schemas.openxmlformats.org/drawingml/2006/main">
              <a:ext uri="{FF2B5EF4-FFF2-40B4-BE49-F238E27FC236}">
                <a16:creationId xmlns:a16="http://schemas.microsoft.com/office/drawing/2014/main" id="{FCDD087B-9D7B-4407-8CED-186005C7D53C}"/>
              </a:ext>
            </a:extLst>
          </p:cNvPr>
          <p:cNvSpPr>
            <a:spLocks xmlns:a="http://schemas.openxmlformats.org/drawingml/2006/main" noGrp="1"/>
          </p:cNvSpPr>
          <p:nvPr/>
        </p:nvSpPr>
        <p:spPr>
          <a:xfrm xmlns:a="http://schemas.openxmlformats.org/drawingml/2006/main">
            <a:off x="7162800" y="3486150"/>
            <a:ext cx="3886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Wait for approval when CAT requires it.</a:t>
            </a:r>
          </a:p>
        </p:txBody>
      </p:sp>
      <p:sp>
        <p:nvSpPr>
          <p:cNvPr id="12" name="">
            <a:extLst xmlns:a="http://schemas.openxmlformats.org/drawingml/2006/main">
              <a:ext uri="{FF2B5EF4-FFF2-40B4-BE49-F238E27FC236}">
                <a16:creationId xmlns:a16="http://schemas.microsoft.com/office/drawing/2014/main" id="{64C28556-317C-4273-A8FD-AC1AB83577A2}"/>
              </a:ext>
            </a:extLst>
          </p:cNvPr>
          <p:cNvSpPr>
            <a:spLocks xmlns:a="http://schemas.openxmlformats.org/drawingml/2006/main" noGrp="1"/>
          </p:cNvSpPr>
          <p:nvPr/>
        </p:nvSpPr>
        <p:spPr>
          <a:xfrm xmlns:a="http://schemas.openxmlformats.org/drawingml/2006/main">
            <a:off x="6953250" y="44005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006FA6"/>
                </a:solidFill>
              </a:defRPr>
            </a:pPr>
            <a:r>
              <a:rPr sz="900" b="1" i="0">
                <a:solidFill>
                  <a:srgbClr val="006FA6"/>
                </a:solidFill>
              </a:rPr>
              <a:t>INSTALL SHORTCUT</a:t>
            </a:r>
          </a:p>
        </p:txBody>
      </p:sp>
      <p:sp>
        <p:nvSpPr>
          <p:cNvPr id="13" name="">
            <a:extLst xmlns:a="http://schemas.openxmlformats.org/drawingml/2006/main">
              <a:ext uri="{FF2B5EF4-FFF2-40B4-BE49-F238E27FC236}">
                <a16:creationId xmlns:a16="http://schemas.microsoft.com/office/drawing/2014/main" id="{171FC87A-46BF-44C9-BB49-3B021BB90092}"/>
              </a:ext>
            </a:extLst>
          </p:cNvPr>
          <p:cNvSpPr>
            <a:spLocks xmlns:a="http://schemas.openxmlformats.org/drawingml/2006/main" noGrp="1"/>
          </p:cNvSpPr>
          <p:nvPr/>
        </p:nvSpPr>
        <p:spPr>
          <a:xfrm xmlns:a="http://schemas.openxmlformats.org/drawingml/2006/main">
            <a:off x="6953250" y="4762500"/>
            <a:ext cx="4095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26A7A"/>
                </a:solidFill>
              </a:defRPr>
            </a:pPr>
            <a:r>
              <a:rPr sz="1350" b="0" i="0">
                <a:solidFill>
                  <a:srgbClr val="526A7A"/>
                </a:solidFill>
              </a:rPr>
              <a:t>The Install app page gives device-specific steps. The shortcut is convenient, but CAT still needs a secure connection and an approved account.</a:t>
            </a:r>
          </a:p>
        </p:txBody>
      </p:sp>
      <p:sp>
        <p:nvSpPr>
          <p:cNvPr id="14" name="">
            <a:extLst xmlns:a="http://schemas.openxmlformats.org/drawingml/2006/main">
              <a:ext uri="{FF2B5EF4-FFF2-40B4-BE49-F238E27FC236}">
                <a16:creationId xmlns:a16="http://schemas.microsoft.com/office/drawing/2014/main" id="{1772D5DA-0801-4EC6-8E9A-A3319AC17DE9}"/>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15" name="">
            <a:extLst xmlns:a="http://schemas.openxmlformats.org/drawingml/2006/main">
              <a:ext uri="{FF2B5EF4-FFF2-40B4-BE49-F238E27FC236}">
                <a16:creationId xmlns:a16="http://schemas.microsoft.com/office/drawing/2014/main" id="{6F1E2F87-D872-4A7D-898C-4884EF029848}"/>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16" name="">
            <a:extLst xmlns:a="http://schemas.openxmlformats.org/drawingml/2006/main">
              <a:ext uri="{FF2B5EF4-FFF2-40B4-BE49-F238E27FC236}">
                <a16:creationId xmlns:a16="http://schemas.microsoft.com/office/drawing/2014/main" id="{C03FAD88-B756-43A4-AA43-F6556001500C}"/>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11</a:t>
            </a:r>
          </a:p>
        </p:txBody>
      </p:sp>
    </p:spTree>
    <p:extLst>
      <p:ext uri="{BB962C8B-B14F-4D97-AF65-F5344CB8AC3E}">
        <p14:creationId xmlns:p14="http://schemas.microsoft.com/office/powerpoint/2010/main" val="7880243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9D7405B-3F35-4067-83E8-53028F91A31D}"/>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PROTECTED INFORMATION</a:t>
            </a:r>
          </a:p>
        </p:txBody>
      </p:sp>
      <p:sp>
        <p:nvSpPr>
          <p:cNvPr id="2" name="">
            <a:extLst xmlns:a="http://schemas.openxmlformats.org/drawingml/2006/main">
              <a:ext uri="{FF2B5EF4-FFF2-40B4-BE49-F238E27FC236}">
                <a16:creationId xmlns:a16="http://schemas.microsoft.com/office/drawing/2014/main" id="{0DC266B6-883E-4D5F-BA59-6DA258DBDC8A}"/>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Good judgment still matters after access is granted</a:t>
            </a:r>
          </a:p>
        </p:txBody>
      </p:sp>
      <p:sp>
        <p:nvSpPr>
          <p:cNvPr id="3" name="">
            <a:extLst xmlns:a="http://schemas.openxmlformats.org/drawingml/2006/main">
              <a:ext uri="{FF2B5EF4-FFF2-40B4-BE49-F238E27FC236}">
                <a16:creationId xmlns:a16="http://schemas.microsoft.com/office/drawing/2014/main" id="{5C416E1F-B05E-4C5A-AAE5-08BB85B702D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7B49438B-799F-4A27-B515-4F7EC1DF230E}"/>
              </a:ext>
            </a:extLst>
          </p:cNvPr>
          <p:cNvSpPr>
            <a:spLocks xmlns:a="http://schemas.openxmlformats.org/drawingml/2006/main" noGrp="1"/>
          </p:cNvSpPr>
          <p:nvPr/>
        </p:nvSpPr>
        <p:spPr>
          <a:xfrm xmlns:a="http://schemas.openxmlformats.org/drawingml/2006/main">
            <a:off x="685800" y="1809750"/>
            <a:ext cx="5086350" cy="3790950"/>
          </a:xfrm>
          <a:prstGeom xmlns:a="http://schemas.openxmlformats.org/drawingml/2006/main" prst="roundRect">
            <a:avLst>
              <a:gd name="adj" fmla="val 3015"/>
            </a:avLst>
          </a:prstGeom>
          <a:solidFill xmlns:a="http://schemas.openxmlformats.org/drawingml/2006/main">
            <a:srgbClr val="E6F2F8"/>
          </a:solidFill>
          <a:ln xmlns:a="http://schemas.openxmlformats.org/drawingml/2006/main" w="9525">
            <a:solidFill>
              <a:srgbClr val="B9DCEB"/>
            </a:solidFill>
            <a:prstDash val="solid"/>
          </a:ln>
        </p:spPr>
      </p:sp>
      <p:sp>
        <p:nvSpPr>
          <p:cNvPr id="5" name="">
            <a:extLst xmlns:a="http://schemas.openxmlformats.org/drawingml/2006/main">
              <a:ext uri="{FF2B5EF4-FFF2-40B4-BE49-F238E27FC236}">
                <a16:creationId xmlns:a16="http://schemas.microsoft.com/office/drawing/2014/main" id="{AF9F930B-B30F-4625-892B-81E80956AB63}"/>
              </a:ext>
            </a:extLst>
          </p:cNvPr>
          <p:cNvSpPr>
            <a:spLocks xmlns:a="http://schemas.openxmlformats.org/drawingml/2006/main" noGrp="1"/>
          </p:cNvSpPr>
          <p:nvPr/>
        </p:nvSpPr>
        <p:spPr>
          <a:xfrm xmlns:a="http://schemas.openxmlformats.org/drawingml/2006/main">
            <a:off x="6419850" y="1809750"/>
            <a:ext cx="5086350" cy="3790950"/>
          </a:xfrm>
          <a:prstGeom xmlns:a="http://schemas.openxmlformats.org/drawingml/2006/main" prst="roundRect">
            <a:avLst>
              <a:gd name="adj" fmla="val 3015"/>
            </a:avLst>
          </a:prstGeom>
          <a:solidFill xmlns:a="http://schemas.openxmlformats.org/drawingml/2006/main">
            <a:srgbClr val="F9EEF2"/>
          </a:solidFill>
          <a:ln xmlns:a="http://schemas.openxmlformats.org/drawingml/2006/main" w="9525">
            <a:solidFill>
              <a:srgbClr val="E4BBCB"/>
            </a:solidFill>
            <a:prstDash val="solid"/>
          </a:ln>
        </p:spPr>
      </p:sp>
      <p:sp>
        <p:nvSpPr>
          <p:cNvPr id="6" name="">
            <a:extLst xmlns:a="http://schemas.openxmlformats.org/drawingml/2006/main">
              <a:ext uri="{FF2B5EF4-FFF2-40B4-BE49-F238E27FC236}">
                <a16:creationId xmlns:a16="http://schemas.microsoft.com/office/drawing/2014/main" id="{FB776384-8EEA-402A-B64B-BADC6D1EDC6B}"/>
              </a:ext>
            </a:extLst>
          </p:cNvPr>
          <p:cNvSpPr>
            <a:spLocks xmlns:a="http://schemas.openxmlformats.org/drawingml/2006/main" noGrp="1"/>
          </p:cNvSpPr>
          <p:nvPr/>
        </p:nvSpPr>
        <p:spPr>
          <a:xfrm xmlns:a="http://schemas.openxmlformats.org/drawingml/2006/main">
            <a:off x="1009650" y="21145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04E75"/>
                </a:solidFill>
              </a:defRPr>
            </a:pPr>
            <a:r>
              <a:rPr sz="2325" b="1" i="0">
                <a:solidFill>
                  <a:srgbClr val="004E75"/>
                </a:solidFill>
              </a:rPr>
              <a:t>Do</a:t>
            </a:r>
          </a:p>
        </p:txBody>
      </p:sp>
      <p:sp>
        <p:nvSpPr>
          <p:cNvPr id="7" name="">
            <a:extLst xmlns:a="http://schemas.openxmlformats.org/drawingml/2006/main">
              <a:ext uri="{FF2B5EF4-FFF2-40B4-BE49-F238E27FC236}">
                <a16:creationId xmlns:a16="http://schemas.microsoft.com/office/drawing/2014/main" id="{526F5095-AD60-4DF5-8A95-5CF4C02B5AE4}"/>
              </a:ext>
            </a:extLst>
          </p:cNvPr>
          <p:cNvSpPr>
            <a:spLocks xmlns:a="http://schemas.openxmlformats.org/drawingml/2006/main" noGrp="1"/>
          </p:cNvSpPr>
          <p:nvPr/>
        </p:nvSpPr>
        <p:spPr>
          <a:xfrm xmlns:a="http://schemas.openxmlformats.org/drawingml/2006/main">
            <a:off x="1047750" y="294322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8" name="">
            <a:extLst xmlns:a="http://schemas.openxmlformats.org/drawingml/2006/main">
              <a:ext uri="{FF2B5EF4-FFF2-40B4-BE49-F238E27FC236}">
                <a16:creationId xmlns:a16="http://schemas.microsoft.com/office/drawing/2014/main" id="{66A0CBEF-6ACB-4E83-8F82-EFF742D3DF5F}"/>
              </a:ext>
            </a:extLst>
          </p:cNvPr>
          <p:cNvSpPr>
            <a:spLocks xmlns:a="http://schemas.openxmlformats.org/drawingml/2006/main" noGrp="1"/>
          </p:cNvSpPr>
          <p:nvPr/>
        </p:nvSpPr>
        <p:spPr>
          <a:xfrm xmlns:a="http://schemas.openxmlformats.org/drawingml/2006/main">
            <a:off x="1257300" y="285750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Use CAT only for approved Local 801 work.</a:t>
            </a:r>
          </a:p>
        </p:txBody>
      </p:sp>
      <p:sp>
        <p:nvSpPr>
          <p:cNvPr id="9" name="">
            <a:extLst xmlns:a="http://schemas.openxmlformats.org/drawingml/2006/main">
              <a:ext uri="{FF2B5EF4-FFF2-40B4-BE49-F238E27FC236}">
                <a16:creationId xmlns:a16="http://schemas.microsoft.com/office/drawing/2014/main" id="{6AC3824F-29FB-4091-A5AA-3705D37F1CDA}"/>
              </a:ext>
            </a:extLst>
          </p:cNvPr>
          <p:cNvSpPr>
            <a:spLocks xmlns:a="http://schemas.openxmlformats.org/drawingml/2006/main" noGrp="1"/>
          </p:cNvSpPr>
          <p:nvPr/>
        </p:nvSpPr>
        <p:spPr>
          <a:xfrm xmlns:a="http://schemas.openxmlformats.org/drawingml/2006/main">
            <a:off x="1047750" y="353377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0" name="">
            <a:extLst xmlns:a="http://schemas.openxmlformats.org/drawingml/2006/main">
              <a:ext uri="{FF2B5EF4-FFF2-40B4-BE49-F238E27FC236}">
                <a16:creationId xmlns:a16="http://schemas.microsoft.com/office/drawing/2014/main" id="{7F0E1DDB-E0E7-4730-B8B4-CAE7CE527A11}"/>
              </a:ext>
            </a:extLst>
          </p:cNvPr>
          <p:cNvSpPr>
            <a:spLocks xmlns:a="http://schemas.openxmlformats.org/drawingml/2006/main" noGrp="1"/>
          </p:cNvSpPr>
          <p:nvPr/>
        </p:nvSpPr>
        <p:spPr>
          <a:xfrm xmlns:a="http://schemas.openxmlformats.org/drawingml/2006/main">
            <a:off x="1257300" y="344805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Use the narrowest note visibility and document audience.</a:t>
            </a:r>
          </a:p>
        </p:txBody>
      </p:sp>
      <p:sp>
        <p:nvSpPr>
          <p:cNvPr id="11" name="">
            <a:extLst xmlns:a="http://schemas.openxmlformats.org/drawingml/2006/main">
              <a:ext uri="{FF2B5EF4-FFF2-40B4-BE49-F238E27FC236}">
                <a16:creationId xmlns:a16="http://schemas.microsoft.com/office/drawing/2014/main" id="{3D76D5B8-5DAA-499B-B870-E405613E85CE}"/>
              </a:ext>
            </a:extLst>
          </p:cNvPr>
          <p:cNvSpPr>
            <a:spLocks xmlns:a="http://schemas.openxmlformats.org/drawingml/2006/main" noGrp="1"/>
          </p:cNvSpPr>
          <p:nvPr/>
        </p:nvSpPr>
        <p:spPr>
          <a:xfrm xmlns:a="http://schemas.openxmlformats.org/drawingml/2006/main">
            <a:off x="1047750" y="412432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2" name="">
            <a:extLst xmlns:a="http://schemas.openxmlformats.org/drawingml/2006/main">
              <a:ext uri="{FF2B5EF4-FFF2-40B4-BE49-F238E27FC236}">
                <a16:creationId xmlns:a16="http://schemas.microsoft.com/office/drawing/2014/main" id="{0AB20C99-9D81-46CE-B92F-0CA808B713F5}"/>
              </a:ext>
            </a:extLst>
          </p:cNvPr>
          <p:cNvSpPr>
            <a:spLocks xmlns:a="http://schemas.openxmlformats.org/drawingml/2006/main" noGrp="1"/>
          </p:cNvSpPr>
          <p:nvPr/>
        </p:nvSpPr>
        <p:spPr>
          <a:xfrm xmlns:a="http://schemas.openxmlformats.org/drawingml/2006/main">
            <a:off x="1257300" y="403860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Lock the device when you step away.</a:t>
            </a:r>
          </a:p>
        </p:txBody>
      </p:sp>
      <p:sp>
        <p:nvSpPr>
          <p:cNvPr id="13" name="">
            <a:extLst xmlns:a="http://schemas.openxmlformats.org/drawingml/2006/main">
              <a:ext uri="{FF2B5EF4-FFF2-40B4-BE49-F238E27FC236}">
                <a16:creationId xmlns:a16="http://schemas.microsoft.com/office/drawing/2014/main" id="{CED19B1E-2AB2-412A-95DD-44EB931CAA22}"/>
              </a:ext>
            </a:extLst>
          </p:cNvPr>
          <p:cNvSpPr>
            <a:spLocks xmlns:a="http://schemas.openxmlformats.org/drawingml/2006/main" noGrp="1"/>
          </p:cNvSpPr>
          <p:nvPr/>
        </p:nvSpPr>
        <p:spPr>
          <a:xfrm xmlns:a="http://schemas.openxmlformats.org/drawingml/2006/main">
            <a:off x="1047750" y="4714875"/>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4" name="">
            <a:extLst xmlns:a="http://schemas.openxmlformats.org/drawingml/2006/main">
              <a:ext uri="{FF2B5EF4-FFF2-40B4-BE49-F238E27FC236}">
                <a16:creationId xmlns:a16="http://schemas.microsoft.com/office/drawing/2014/main" id="{BAAEB2A4-A3A8-44DB-AD6B-3D2299D83811}"/>
              </a:ext>
            </a:extLst>
          </p:cNvPr>
          <p:cNvSpPr>
            <a:spLocks xmlns:a="http://schemas.openxmlformats.org/drawingml/2006/main" noGrp="1"/>
          </p:cNvSpPr>
          <p:nvPr/>
        </p:nvSpPr>
        <p:spPr>
          <a:xfrm xmlns:a="http://schemas.openxmlformats.org/drawingml/2006/main">
            <a:off x="1257300" y="462915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Report a lost device or unexpected role promptly.</a:t>
            </a:r>
          </a:p>
        </p:txBody>
      </p:sp>
      <p:sp>
        <p:nvSpPr>
          <p:cNvPr id="15" name="">
            <a:extLst xmlns:a="http://schemas.openxmlformats.org/drawingml/2006/main">
              <a:ext uri="{FF2B5EF4-FFF2-40B4-BE49-F238E27FC236}">
                <a16:creationId xmlns:a16="http://schemas.microsoft.com/office/drawing/2014/main" id="{1F82C64D-39E9-4E04-8B03-93EF5B3AAAD7}"/>
              </a:ext>
            </a:extLst>
          </p:cNvPr>
          <p:cNvSpPr>
            <a:spLocks xmlns:a="http://schemas.openxmlformats.org/drawingml/2006/main" noGrp="1"/>
          </p:cNvSpPr>
          <p:nvPr/>
        </p:nvSpPr>
        <p:spPr>
          <a:xfrm xmlns:a="http://schemas.openxmlformats.org/drawingml/2006/main">
            <a:off x="6743700" y="21145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A80046"/>
                </a:solidFill>
              </a:defRPr>
            </a:pPr>
            <a:r>
              <a:rPr sz="2325" b="1" i="0">
                <a:solidFill>
                  <a:srgbClr val="A80046"/>
                </a:solidFill>
              </a:rPr>
              <a:t>Do not</a:t>
            </a:r>
          </a:p>
        </p:txBody>
      </p:sp>
      <p:sp>
        <p:nvSpPr>
          <p:cNvPr id="16" name="">
            <a:extLst xmlns:a="http://schemas.openxmlformats.org/drawingml/2006/main">
              <a:ext uri="{FF2B5EF4-FFF2-40B4-BE49-F238E27FC236}">
                <a16:creationId xmlns:a16="http://schemas.microsoft.com/office/drawing/2014/main" id="{7645266C-DDEF-4F9F-BE61-8DDD86E42801}"/>
              </a:ext>
            </a:extLst>
          </p:cNvPr>
          <p:cNvSpPr>
            <a:spLocks xmlns:a="http://schemas.openxmlformats.org/drawingml/2006/main" noGrp="1"/>
          </p:cNvSpPr>
          <p:nvPr/>
        </p:nvSpPr>
        <p:spPr>
          <a:xfrm xmlns:a="http://schemas.openxmlformats.org/drawingml/2006/main">
            <a:off x="6781800" y="294322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7" name="">
            <a:extLst xmlns:a="http://schemas.openxmlformats.org/drawingml/2006/main">
              <a:ext uri="{FF2B5EF4-FFF2-40B4-BE49-F238E27FC236}">
                <a16:creationId xmlns:a16="http://schemas.microsoft.com/office/drawing/2014/main" id="{ED578666-3DB4-4C05-8A17-62A1942EABAF}"/>
              </a:ext>
            </a:extLst>
          </p:cNvPr>
          <p:cNvSpPr>
            <a:spLocks xmlns:a="http://schemas.openxmlformats.org/drawingml/2006/main" noGrp="1"/>
          </p:cNvSpPr>
          <p:nvPr/>
        </p:nvSpPr>
        <p:spPr>
          <a:xfrm xmlns:a="http://schemas.openxmlformats.org/drawingml/2006/main">
            <a:off x="6991350" y="285750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Do not share your account.</a:t>
            </a:r>
          </a:p>
        </p:txBody>
      </p:sp>
      <p:sp>
        <p:nvSpPr>
          <p:cNvPr id="18" name="">
            <a:extLst xmlns:a="http://schemas.openxmlformats.org/drawingml/2006/main">
              <a:ext uri="{FF2B5EF4-FFF2-40B4-BE49-F238E27FC236}">
                <a16:creationId xmlns:a16="http://schemas.microsoft.com/office/drawing/2014/main" id="{D90092B6-CAD8-46E5-8E38-95935C7EFCD8}"/>
              </a:ext>
            </a:extLst>
          </p:cNvPr>
          <p:cNvSpPr>
            <a:spLocks xmlns:a="http://schemas.openxmlformats.org/drawingml/2006/main" noGrp="1"/>
          </p:cNvSpPr>
          <p:nvPr/>
        </p:nvSpPr>
        <p:spPr>
          <a:xfrm xmlns:a="http://schemas.openxmlformats.org/drawingml/2006/main">
            <a:off x="6781800" y="35337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9" name="">
            <a:extLst xmlns:a="http://schemas.openxmlformats.org/drawingml/2006/main">
              <a:ext uri="{FF2B5EF4-FFF2-40B4-BE49-F238E27FC236}">
                <a16:creationId xmlns:a16="http://schemas.microsoft.com/office/drawing/2014/main" id="{C89C59C5-8F75-4E55-AD23-A37C55973B45}"/>
              </a:ext>
            </a:extLst>
          </p:cNvPr>
          <p:cNvSpPr>
            <a:spLocks xmlns:a="http://schemas.openxmlformats.org/drawingml/2006/main" noGrp="1"/>
          </p:cNvSpPr>
          <p:nvPr/>
        </p:nvSpPr>
        <p:spPr>
          <a:xfrm xmlns:a="http://schemas.openxmlformats.org/drawingml/2006/main">
            <a:off x="6991350" y="344805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Do not move rosters or documents to personal storage.</a:t>
            </a:r>
          </a:p>
        </p:txBody>
      </p:sp>
      <p:sp>
        <p:nvSpPr>
          <p:cNvPr id="20" name="">
            <a:extLst xmlns:a="http://schemas.openxmlformats.org/drawingml/2006/main">
              <a:ext uri="{FF2B5EF4-FFF2-40B4-BE49-F238E27FC236}">
                <a16:creationId xmlns:a16="http://schemas.microsoft.com/office/drawing/2014/main" id="{98E5282D-8C66-4020-936A-BC1954450FB9}"/>
              </a:ext>
            </a:extLst>
          </p:cNvPr>
          <p:cNvSpPr>
            <a:spLocks xmlns:a="http://schemas.openxmlformats.org/drawingml/2006/main" noGrp="1"/>
          </p:cNvSpPr>
          <p:nvPr/>
        </p:nvSpPr>
        <p:spPr>
          <a:xfrm xmlns:a="http://schemas.openxmlformats.org/drawingml/2006/main">
            <a:off x="6781800" y="412432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1" name="">
            <a:extLst xmlns:a="http://schemas.openxmlformats.org/drawingml/2006/main">
              <a:ext uri="{FF2B5EF4-FFF2-40B4-BE49-F238E27FC236}">
                <a16:creationId xmlns:a16="http://schemas.microsoft.com/office/drawing/2014/main" id="{1689FA91-7491-4914-AB45-CE9DC44126AE}"/>
              </a:ext>
            </a:extLst>
          </p:cNvPr>
          <p:cNvSpPr>
            <a:spLocks xmlns:a="http://schemas.openxmlformats.org/drawingml/2006/main" noGrp="1"/>
          </p:cNvSpPr>
          <p:nvPr/>
        </p:nvSpPr>
        <p:spPr>
          <a:xfrm xmlns:a="http://schemas.openxmlformats.org/drawingml/2006/main">
            <a:off x="6991350" y="403860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Do not put member details in support messages.</a:t>
            </a:r>
          </a:p>
        </p:txBody>
      </p:sp>
      <p:sp>
        <p:nvSpPr>
          <p:cNvPr id="22" name="">
            <a:extLst xmlns:a="http://schemas.openxmlformats.org/drawingml/2006/main">
              <a:ext uri="{FF2B5EF4-FFF2-40B4-BE49-F238E27FC236}">
                <a16:creationId xmlns:a16="http://schemas.microsoft.com/office/drawing/2014/main" id="{1A823973-6DF9-4587-AE34-23FBCD91663A}"/>
              </a:ext>
            </a:extLst>
          </p:cNvPr>
          <p:cNvSpPr>
            <a:spLocks xmlns:a="http://schemas.openxmlformats.org/drawingml/2006/main" noGrp="1"/>
          </p:cNvSpPr>
          <p:nvPr/>
        </p:nvSpPr>
        <p:spPr>
          <a:xfrm xmlns:a="http://schemas.openxmlformats.org/drawingml/2006/main">
            <a:off x="6781800" y="47148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3" name="">
            <a:extLst xmlns:a="http://schemas.openxmlformats.org/drawingml/2006/main">
              <a:ext uri="{FF2B5EF4-FFF2-40B4-BE49-F238E27FC236}">
                <a16:creationId xmlns:a16="http://schemas.microsoft.com/office/drawing/2014/main" id="{C0084BEA-6463-485A-9A4A-A02943FBECA4}"/>
              </a:ext>
            </a:extLst>
          </p:cNvPr>
          <p:cNvSpPr>
            <a:spLocks xmlns:a="http://schemas.openxmlformats.org/drawingml/2006/main" noGrp="1"/>
          </p:cNvSpPr>
          <p:nvPr/>
        </p:nvSpPr>
        <p:spPr>
          <a:xfrm xmlns:a="http://schemas.openxmlformats.org/drawingml/2006/main">
            <a:off x="6991350" y="4629150"/>
            <a:ext cx="4019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Do not guess when protected information is unavailable.</a:t>
            </a:r>
          </a:p>
        </p:txBody>
      </p:sp>
      <p:sp>
        <p:nvSpPr>
          <p:cNvPr id="24" name="">
            <a:extLst xmlns:a="http://schemas.openxmlformats.org/drawingml/2006/main">
              <a:ext uri="{FF2B5EF4-FFF2-40B4-BE49-F238E27FC236}">
                <a16:creationId xmlns:a16="http://schemas.microsoft.com/office/drawing/2014/main" id="{AAD7EC20-7190-48E0-A06F-E3D59DC1798E}"/>
              </a:ext>
            </a:extLst>
          </p:cNvPr>
          <p:cNvSpPr>
            <a:spLocks xmlns:a="http://schemas.openxmlformats.org/drawingml/2006/main" noGrp="1"/>
          </p:cNvSpPr>
          <p:nvPr/>
        </p:nvSpPr>
        <p:spPr>
          <a:xfrm xmlns:a="http://schemas.openxmlformats.org/drawingml/2006/main">
            <a:off x="1257300" y="5867400"/>
            <a:ext cx="967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102A43"/>
                </a:solidFill>
              </a:defRPr>
            </a:pPr>
            <a:r>
              <a:rPr sz="1350" b="1" i="0">
                <a:solidFill>
                  <a:srgbClr val="102A43"/>
                </a:solidFill>
              </a:rPr>
              <a:t>If a page says information is unavailable, CAT is failing closed. Check your connection and role; do not substitute an old spreadsheet.</a:t>
            </a:r>
          </a:p>
        </p:txBody>
      </p:sp>
      <p:sp>
        <p:nvSpPr>
          <p:cNvPr id="25" name="">
            <a:extLst xmlns:a="http://schemas.openxmlformats.org/drawingml/2006/main">
              <a:ext uri="{FF2B5EF4-FFF2-40B4-BE49-F238E27FC236}">
                <a16:creationId xmlns:a16="http://schemas.microsoft.com/office/drawing/2014/main" id="{4B843347-6DAD-4664-B08F-166DB07127AB}"/>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6" name="">
            <a:extLst xmlns:a="http://schemas.openxmlformats.org/drawingml/2006/main">
              <a:ext uri="{FF2B5EF4-FFF2-40B4-BE49-F238E27FC236}">
                <a16:creationId xmlns:a16="http://schemas.microsoft.com/office/drawing/2014/main" id="{B34EBE1D-C658-4B88-97F9-5C7D70C2CAAC}"/>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7" name="">
            <a:extLst xmlns:a="http://schemas.openxmlformats.org/drawingml/2006/main">
              <a:ext uri="{FF2B5EF4-FFF2-40B4-BE49-F238E27FC236}">
                <a16:creationId xmlns:a16="http://schemas.microsoft.com/office/drawing/2014/main" id="{E496F0BE-2627-4C01-9B58-F86CE1A1F72F}"/>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12</a:t>
            </a:r>
          </a:p>
        </p:txBody>
      </p:sp>
    </p:spTree>
    <p:extLst>
      <p:ext uri="{BB962C8B-B14F-4D97-AF65-F5344CB8AC3E}">
        <p14:creationId xmlns:p14="http://schemas.microsoft.com/office/powerpoint/2010/main" val="21356831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2EFF204-1981-4828-BA9C-2EFD262BCE66}"/>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ROLE-SPECIFIC</a:t>
            </a:r>
          </a:p>
        </p:txBody>
      </p:sp>
      <p:sp>
        <p:nvSpPr>
          <p:cNvPr id="2" name="">
            <a:extLst xmlns:a="http://schemas.openxmlformats.org/drawingml/2006/main">
              <a:ext uri="{FF2B5EF4-FFF2-40B4-BE49-F238E27FC236}">
                <a16:creationId xmlns:a16="http://schemas.microsoft.com/office/drawing/2014/main" id="{89826FC2-983E-46B2-B13F-8C68B02B292F}"/>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If you administer CAT</a:t>
            </a:r>
          </a:p>
        </p:txBody>
      </p:sp>
      <p:sp>
        <p:nvSpPr>
          <p:cNvPr id="3" name="">
            <a:extLst xmlns:a="http://schemas.openxmlformats.org/drawingml/2006/main">
              <a:ext uri="{FF2B5EF4-FFF2-40B4-BE49-F238E27FC236}">
                <a16:creationId xmlns:a16="http://schemas.microsoft.com/office/drawing/2014/main" id="{580F2A18-5777-4AE5-AA98-6AF53AB5E343}"/>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15D6038A-E925-4DA3-AF8A-3860500275A3}"/>
              </a:ext>
            </a:extLst>
          </p:cNvPr>
          <p:cNvSpPr>
            <a:spLocks xmlns:a="http://schemas.openxmlformats.org/drawingml/2006/main" noGrp="1"/>
          </p:cNvSpPr>
          <p:nvPr/>
        </p:nvSpPr>
        <p:spPr>
          <a:xfrm xmlns:a="http://schemas.openxmlformats.org/drawingml/2006/main">
            <a:off x="685800" y="16192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26A7A"/>
                </a:solidFill>
              </a:defRPr>
            </a:pPr>
            <a:r>
              <a:rPr sz="1350" b="0" i="0">
                <a:solidFill>
                  <a:srgbClr val="526A7A"/>
                </a:solidFill>
              </a:rPr>
              <a:t>Skip this section if it is not your job. These pages appear only when your role has the related permission.</a:t>
            </a:r>
          </a:p>
        </p:txBody>
      </p:sp>
      <p:sp>
        <p:nvSpPr>
          <p:cNvPr id="5" name="">
            <a:extLst xmlns:a="http://schemas.openxmlformats.org/drawingml/2006/main">
              <a:ext uri="{FF2B5EF4-FFF2-40B4-BE49-F238E27FC236}">
                <a16:creationId xmlns:a16="http://schemas.microsoft.com/office/drawing/2014/main" id="{E6D692AE-4668-490E-8EA9-22D5FBF46B0B}"/>
              </a:ext>
            </a:extLst>
          </p:cNvPr>
          <p:cNvSpPr>
            <a:spLocks xmlns:a="http://schemas.openxmlformats.org/drawingml/2006/main" noGrp="1"/>
          </p:cNvSpPr>
          <p:nvPr/>
        </p:nvSpPr>
        <p:spPr>
          <a:xfrm xmlns:a="http://schemas.openxmlformats.org/drawingml/2006/main">
            <a:off x="685800" y="2228850"/>
            <a:ext cx="32766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7E1E7"/>
            </a:solidFill>
            <a:prstDash val="solid"/>
          </a:ln>
        </p:spPr>
      </p:sp>
      <p:sp>
        <p:nvSpPr>
          <p:cNvPr id="6" name="">
            <a:extLst xmlns:a="http://schemas.openxmlformats.org/drawingml/2006/main">
              <a:ext uri="{FF2B5EF4-FFF2-40B4-BE49-F238E27FC236}">
                <a16:creationId xmlns:a16="http://schemas.microsoft.com/office/drawing/2014/main" id="{D59263BD-A17D-4BBA-8020-47481C72165F}"/>
              </a:ext>
            </a:extLst>
          </p:cNvPr>
          <p:cNvSpPr>
            <a:spLocks xmlns:a="http://schemas.openxmlformats.org/drawingml/2006/main" noGrp="1"/>
          </p:cNvSpPr>
          <p:nvPr/>
        </p:nvSpPr>
        <p:spPr>
          <a:xfrm xmlns:a="http://schemas.openxmlformats.org/drawingml/2006/main">
            <a:off x="685800" y="2228850"/>
            <a:ext cx="3276600" cy="114300"/>
          </a:xfrm>
          <a:prstGeom xmlns:a="http://schemas.openxmlformats.org/drawingml/2006/main" prst="rect">
            <a:avLst/>
          </a:prstGeom>
          <a:solidFill xmlns:a="http://schemas.openxmlformats.org/drawingml/2006/main">
            <a:srgbClr val="006FA6"/>
          </a:solidFill>
          <a:ln xmlns:a="http://schemas.openxmlformats.org/drawingml/2006/main" w="0">
            <a:solidFill>
              <a:srgbClr val="006FA6"/>
            </a:solidFill>
            <a:prstDash val="solid"/>
          </a:ln>
        </p:spPr>
      </p:sp>
      <p:sp>
        <p:nvSpPr>
          <p:cNvPr id="7" name="">
            <a:extLst xmlns:a="http://schemas.openxmlformats.org/drawingml/2006/main">
              <a:ext uri="{FF2B5EF4-FFF2-40B4-BE49-F238E27FC236}">
                <a16:creationId xmlns:a16="http://schemas.microsoft.com/office/drawing/2014/main" id="{79DDBF43-AEED-4DAC-AB56-D544635308EC}"/>
              </a:ext>
            </a:extLst>
          </p:cNvPr>
          <p:cNvSpPr>
            <a:spLocks xmlns:a="http://schemas.openxmlformats.org/drawingml/2006/main" noGrp="1"/>
          </p:cNvSpPr>
          <p:nvPr/>
        </p:nvSpPr>
        <p:spPr>
          <a:xfrm xmlns:a="http://schemas.openxmlformats.org/drawingml/2006/main">
            <a:off x="952500" y="2609850"/>
            <a:ext cx="2724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Programs</a:t>
            </a:r>
          </a:p>
        </p:txBody>
      </p:sp>
      <p:sp>
        <p:nvSpPr>
          <p:cNvPr id="8" name="">
            <a:extLst xmlns:a="http://schemas.openxmlformats.org/drawingml/2006/main">
              <a:ext uri="{FF2B5EF4-FFF2-40B4-BE49-F238E27FC236}">
                <a16:creationId xmlns:a16="http://schemas.microsoft.com/office/drawing/2014/main" id="{B1BB9BE9-375A-456A-8CD4-C51B59BA3351}"/>
              </a:ext>
            </a:extLst>
          </p:cNvPr>
          <p:cNvSpPr>
            <a:spLocks xmlns:a="http://schemas.openxmlformats.org/drawingml/2006/main" noGrp="1"/>
          </p:cNvSpPr>
          <p:nvPr/>
        </p:nvSpPr>
        <p:spPr>
          <a:xfrm xmlns:a="http://schemas.openxmlformats.org/drawingml/2006/main">
            <a:off x="952500" y="3562350"/>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9" name="">
            <a:extLst xmlns:a="http://schemas.openxmlformats.org/drawingml/2006/main">
              <a:ext uri="{FF2B5EF4-FFF2-40B4-BE49-F238E27FC236}">
                <a16:creationId xmlns:a16="http://schemas.microsoft.com/office/drawing/2014/main" id="{206D6BA3-8C33-45CA-9B33-733CF50B6A5F}"/>
              </a:ext>
            </a:extLst>
          </p:cNvPr>
          <p:cNvSpPr>
            <a:spLocks xmlns:a="http://schemas.openxmlformats.org/drawingml/2006/main" noGrp="1"/>
          </p:cNvSpPr>
          <p:nvPr/>
        </p:nvSpPr>
        <p:spPr>
          <a:xfrm xmlns:a="http://schemas.openxmlformats.org/drawingml/2006/main">
            <a:off x="1162050" y="34766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Action catalog</a:t>
            </a:r>
          </a:p>
        </p:txBody>
      </p:sp>
      <p:sp>
        <p:nvSpPr>
          <p:cNvPr id="10" name="">
            <a:extLst xmlns:a="http://schemas.openxmlformats.org/drawingml/2006/main">
              <a:ext uri="{FF2B5EF4-FFF2-40B4-BE49-F238E27FC236}">
                <a16:creationId xmlns:a16="http://schemas.microsoft.com/office/drawing/2014/main" id="{5876FD23-EC0D-4248-856A-064191396DBD}"/>
              </a:ext>
            </a:extLst>
          </p:cNvPr>
          <p:cNvSpPr>
            <a:spLocks xmlns:a="http://schemas.openxmlformats.org/drawingml/2006/main" noGrp="1"/>
          </p:cNvSpPr>
          <p:nvPr/>
        </p:nvSpPr>
        <p:spPr>
          <a:xfrm xmlns:a="http://schemas.openxmlformats.org/drawingml/2006/main">
            <a:off x="952500" y="4019550"/>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1" name="">
            <a:extLst xmlns:a="http://schemas.openxmlformats.org/drawingml/2006/main">
              <a:ext uri="{FF2B5EF4-FFF2-40B4-BE49-F238E27FC236}">
                <a16:creationId xmlns:a16="http://schemas.microsoft.com/office/drawing/2014/main" id="{EE0126C3-8C01-4A89-A40B-8D5587A3E9EE}"/>
              </a:ext>
            </a:extLst>
          </p:cNvPr>
          <p:cNvSpPr>
            <a:spLocks xmlns:a="http://schemas.openxmlformats.org/drawingml/2006/main" noGrp="1"/>
          </p:cNvSpPr>
          <p:nvPr/>
        </p:nvSpPr>
        <p:spPr>
          <a:xfrm xmlns:a="http://schemas.openxmlformats.org/drawingml/2006/main">
            <a:off x="1162050" y="39338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Campaigns</a:t>
            </a:r>
          </a:p>
        </p:txBody>
      </p:sp>
      <p:sp>
        <p:nvSpPr>
          <p:cNvPr id="12" name="">
            <a:extLst xmlns:a="http://schemas.openxmlformats.org/drawingml/2006/main">
              <a:ext uri="{FF2B5EF4-FFF2-40B4-BE49-F238E27FC236}">
                <a16:creationId xmlns:a16="http://schemas.microsoft.com/office/drawing/2014/main" id="{06E988D6-41AC-4EF1-8789-F29101487CA7}"/>
              </a:ext>
            </a:extLst>
          </p:cNvPr>
          <p:cNvSpPr>
            <a:spLocks xmlns:a="http://schemas.openxmlformats.org/drawingml/2006/main" noGrp="1"/>
          </p:cNvSpPr>
          <p:nvPr/>
        </p:nvSpPr>
        <p:spPr>
          <a:xfrm xmlns:a="http://schemas.openxmlformats.org/drawingml/2006/main">
            <a:off x="952500" y="4476750"/>
            <a:ext cx="85725" cy="85725"/>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3" name="">
            <a:extLst xmlns:a="http://schemas.openxmlformats.org/drawingml/2006/main">
              <a:ext uri="{FF2B5EF4-FFF2-40B4-BE49-F238E27FC236}">
                <a16:creationId xmlns:a16="http://schemas.microsoft.com/office/drawing/2014/main" id="{8FA1CA5C-1DF1-44CC-ACB1-9A8A744AB838}"/>
              </a:ext>
            </a:extLst>
          </p:cNvPr>
          <p:cNvSpPr>
            <a:spLocks xmlns:a="http://schemas.openxmlformats.org/drawingml/2006/main" noGrp="1"/>
          </p:cNvSpPr>
          <p:nvPr/>
        </p:nvSpPr>
        <p:spPr>
          <a:xfrm xmlns:a="http://schemas.openxmlformats.org/drawingml/2006/main">
            <a:off x="1162050" y="43910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CAT Actions</a:t>
            </a:r>
          </a:p>
        </p:txBody>
      </p:sp>
      <p:sp>
        <p:nvSpPr>
          <p:cNvPr id="14" name="">
            <a:extLst xmlns:a="http://schemas.openxmlformats.org/drawingml/2006/main">
              <a:ext uri="{FF2B5EF4-FFF2-40B4-BE49-F238E27FC236}">
                <a16:creationId xmlns:a16="http://schemas.microsoft.com/office/drawing/2014/main" id="{EF51A0C3-DD95-4F61-8877-742F9636E372}"/>
              </a:ext>
            </a:extLst>
          </p:cNvPr>
          <p:cNvSpPr>
            <a:spLocks xmlns:a="http://schemas.openxmlformats.org/drawingml/2006/main" noGrp="1"/>
          </p:cNvSpPr>
          <p:nvPr/>
        </p:nvSpPr>
        <p:spPr>
          <a:xfrm xmlns:a="http://schemas.openxmlformats.org/drawingml/2006/main">
            <a:off x="4267200" y="2228850"/>
            <a:ext cx="32766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7E1E7"/>
            </a:solidFill>
            <a:prstDash val="solid"/>
          </a:ln>
        </p:spPr>
      </p:sp>
      <p:sp>
        <p:nvSpPr>
          <p:cNvPr id="15" name="">
            <a:extLst xmlns:a="http://schemas.openxmlformats.org/drawingml/2006/main">
              <a:ext uri="{FF2B5EF4-FFF2-40B4-BE49-F238E27FC236}">
                <a16:creationId xmlns:a16="http://schemas.microsoft.com/office/drawing/2014/main" id="{F8464339-75BF-498B-8AFA-647D98539EDA}"/>
              </a:ext>
            </a:extLst>
          </p:cNvPr>
          <p:cNvSpPr>
            <a:spLocks xmlns:a="http://schemas.openxmlformats.org/drawingml/2006/main" noGrp="1"/>
          </p:cNvSpPr>
          <p:nvPr/>
        </p:nvSpPr>
        <p:spPr>
          <a:xfrm xmlns:a="http://schemas.openxmlformats.org/drawingml/2006/main">
            <a:off x="4267200" y="2228850"/>
            <a:ext cx="3276600" cy="114300"/>
          </a:xfrm>
          <a:prstGeom xmlns:a="http://schemas.openxmlformats.org/drawingml/2006/main" prst="rect">
            <a:avLst/>
          </a:prstGeom>
          <a:solidFill xmlns:a="http://schemas.openxmlformats.org/drawingml/2006/main">
            <a:srgbClr val="A80046"/>
          </a:solidFill>
          <a:ln xmlns:a="http://schemas.openxmlformats.org/drawingml/2006/main" w="0">
            <a:solidFill>
              <a:srgbClr val="A80046"/>
            </a:solidFill>
            <a:prstDash val="solid"/>
          </a:ln>
        </p:spPr>
      </p:sp>
      <p:sp>
        <p:nvSpPr>
          <p:cNvPr id="16" name="">
            <a:extLst xmlns:a="http://schemas.openxmlformats.org/drawingml/2006/main">
              <a:ext uri="{FF2B5EF4-FFF2-40B4-BE49-F238E27FC236}">
                <a16:creationId xmlns:a16="http://schemas.microsoft.com/office/drawing/2014/main" id="{516CC6AC-6FF3-485B-9EC4-3960EF8FCDEE}"/>
              </a:ext>
            </a:extLst>
          </p:cNvPr>
          <p:cNvSpPr>
            <a:spLocks xmlns:a="http://schemas.openxmlformats.org/drawingml/2006/main" noGrp="1"/>
          </p:cNvSpPr>
          <p:nvPr/>
        </p:nvSpPr>
        <p:spPr>
          <a:xfrm xmlns:a="http://schemas.openxmlformats.org/drawingml/2006/main">
            <a:off x="4533900" y="2609850"/>
            <a:ext cx="2724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Membership operations</a:t>
            </a:r>
          </a:p>
        </p:txBody>
      </p:sp>
      <p:sp>
        <p:nvSpPr>
          <p:cNvPr id="17" name="">
            <a:extLst xmlns:a="http://schemas.openxmlformats.org/drawingml/2006/main">
              <a:ext uri="{FF2B5EF4-FFF2-40B4-BE49-F238E27FC236}">
                <a16:creationId xmlns:a16="http://schemas.microsoft.com/office/drawing/2014/main" id="{FA985F83-76BB-49AB-91C5-69D427C9CA34}"/>
              </a:ext>
            </a:extLst>
          </p:cNvPr>
          <p:cNvSpPr>
            <a:spLocks xmlns:a="http://schemas.openxmlformats.org/drawingml/2006/main" noGrp="1"/>
          </p:cNvSpPr>
          <p:nvPr/>
        </p:nvSpPr>
        <p:spPr>
          <a:xfrm xmlns:a="http://schemas.openxmlformats.org/drawingml/2006/main">
            <a:off x="4533900" y="3562350"/>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8" name="">
            <a:extLst xmlns:a="http://schemas.openxmlformats.org/drawingml/2006/main">
              <a:ext uri="{FF2B5EF4-FFF2-40B4-BE49-F238E27FC236}">
                <a16:creationId xmlns:a16="http://schemas.microsoft.com/office/drawing/2014/main" id="{1111C653-365B-4355-A52C-8D6212FB8EB0}"/>
              </a:ext>
            </a:extLst>
          </p:cNvPr>
          <p:cNvSpPr>
            <a:spLocks xmlns:a="http://schemas.openxmlformats.org/drawingml/2006/main" noGrp="1"/>
          </p:cNvSpPr>
          <p:nvPr/>
        </p:nvSpPr>
        <p:spPr>
          <a:xfrm xmlns:a="http://schemas.openxmlformats.org/drawingml/2006/main">
            <a:off x="4743450" y="34766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Membership</a:t>
            </a:r>
          </a:p>
        </p:txBody>
      </p:sp>
      <p:sp>
        <p:nvSpPr>
          <p:cNvPr id="19" name="">
            <a:extLst xmlns:a="http://schemas.openxmlformats.org/drawingml/2006/main">
              <a:ext uri="{FF2B5EF4-FFF2-40B4-BE49-F238E27FC236}">
                <a16:creationId xmlns:a16="http://schemas.microsoft.com/office/drawing/2014/main" id="{CED1AE5D-094B-4CBA-AF78-092067C93355}"/>
              </a:ext>
            </a:extLst>
          </p:cNvPr>
          <p:cNvSpPr>
            <a:spLocks xmlns:a="http://schemas.openxmlformats.org/drawingml/2006/main" noGrp="1"/>
          </p:cNvSpPr>
          <p:nvPr/>
        </p:nvSpPr>
        <p:spPr>
          <a:xfrm xmlns:a="http://schemas.openxmlformats.org/drawingml/2006/main">
            <a:off x="4533900" y="4019550"/>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0" name="">
            <a:extLst xmlns:a="http://schemas.openxmlformats.org/drawingml/2006/main">
              <a:ext uri="{FF2B5EF4-FFF2-40B4-BE49-F238E27FC236}">
                <a16:creationId xmlns:a16="http://schemas.microsoft.com/office/drawing/2014/main" id="{F80ECA11-416C-40D4-9FE1-8D7360538280}"/>
              </a:ext>
            </a:extLst>
          </p:cNvPr>
          <p:cNvSpPr>
            <a:spLocks xmlns:a="http://schemas.openxmlformats.org/drawingml/2006/main" noGrp="1"/>
          </p:cNvSpPr>
          <p:nvPr/>
        </p:nvSpPr>
        <p:spPr>
          <a:xfrm xmlns:a="http://schemas.openxmlformats.org/drawingml/2006/main">
            <a:off x="4743450" y="39338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Data issues</a:t>
            </a:r>
          </a:p>
        </p:txBody>
      </p:sp>
      <p:sp>
        <p:nvSpPr>
          <p:cNvPr id="21" name="">
            <a:extLst xmlns:a="http://schemas.openxmlformats.org/drawingml/2006/main">
              <a:ext uri="{FF2B5EF4-FFF2-40B4-BE49-F238E27FC236}">
                <a16:creationId xmlns:a16="http://schemas.microsoft.com/office/drawing/2014/main" id="{D003726F-11F1-4C5B-B438-5F4034984BAF}"/>
              </a:ext>
            </a:extLst>
          </p:cNvPr>
          <p:cNvSpPr>
            <a:spLocks xmlns:a="http://schemas.openxmlformats.org/drawingml/2006/main" noGrp="1"/>
          </p:cNvSpPr>
          <p:nvPr/>
        </p:nvSpPr>
        <p:spPr>
          <a:xfrm xmlns:a="http://schemas.openxmlformats.org/drawingml/2006/main">
            <a:off x="4533900" y="4476750"/>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2" name="">
            <a:extLst xmlns:a="http://schemas.openxmlformats.org/drawingml/2006/main">
              <a:ext uri="{FF2B5EF4-FFF2-40B4-BE49-F238E27FC236}">
                <a16:creationId xmlns:a16="http://schemas.microsoft.com/office/drawing/2014/main" id="{38F189BA-1BE1-45AA-A76D-C74FED8B2B3B}"/>
              </a:ext>
            </a:extLst>
          </p:cNvPr>
          <p:cNvSpPr>
            <a:spLocks xmlns:a="http://schemas.openxmlformats.org/drawingml/2006/main" noGrp="1"/>
          </p:cNvSpPr>
          <p:nvPr/>
        </p:nvSpPr>
        <p:spPr>
          <a:xfrm xmlns:a="http://schemas.openxmlformats.org/drawingml/2006/main">
            <a:off x="4743450" y="43910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Contact updates</a:t>
            </a:r>
          </a:p>
        </p:txBody>
      </p:sp>
      <p:sp>
        <p:nvSpPr>
          <p:cNvPr id="23" name="">
            <a:extLst xmlns:a="http://schemas.openxmlformats.org/drawingml/2006/main">
              <a:ext uri="{FF2B5EF4-FFF2-40B4-BE49-F238E27FC236}">
                <a16:creationId xmlns:a16="http://schemas.microsoft.com/office/drawing/2014/main" id="{C0F23848-39B5-41C2-9048-4A428FD1F6CD}"/>
              </a:ext>
            </a:extLst>
          </p:cNvPr>
          <p:cNvSpPr>
            <a:spLocks xmlns:a="http://schemas.openxmlformats.org/drawingml/2006/main" noGrp="1"/>
          </p:cNvSpPr>
          <p:nvPr/>
        </p:nvSpPr>
        <p:spPr>
          <a:xfrm xmlns:a="http://schemas.openxmlformats.org/drawingml/2006/main">
            <a:off x="4533900" y="4933950"/>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24" name="">
            <a:extLst xmlns:a="http://schemas.openxmlformats.org/drawingml/2006/main">
              <a:ext uri="{FF2B5EF4-FFF2-40B4-BE49-F238E27FC236}">
                <a16:creationId xmlns:a16="http://schemas.microsoft.com/office/drawing/2014/main" id="{3115FD96-BEB4-4520-9CF9-6E6005ACA33E}"/>
              </a:ext>
            </a:extLst>
          </p:cNvPr>
          <p:cNvSpPr>
            <a:spLocks xmlns:a="http://schemas.openxmlformats.org/drawingml/2006/main" noGrp="1"/>
          </p:cNvSpPr>
          <p:nvPr/>
        </p:nvSpPr>
        <p:spPr>
          <a:xfrm xmlns:a="http://schemas.openxmlformats.org/drawingml/2006/main">
            <a:off x="4743450" y="48482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Data imports</a:t>
            </a:r>
          </a:p>
        </p:txBody>
      </p:sp>
      <p:sp>
        <p:nvSpPr>
          <p:cNvPr id="25" name="">
            <a:extLst xmlns:a="http://schemas.openxmlformats.org/drawingml/2006/main">
              <a:ext uri="{FF2B5EF4-FFF2-40B4-BE49-F238E27FC236}">
                <a16:creationId xmlns:a16="http://schemas.microsoft.com/office/drawing/2014/main" id="{BAFB1DC5-DABE-44D1-BA99-7119BE953B98}"/>
              </a:ext>
            </a:extLst>
          </p:cNvPr>
          <p:cNvSpPr>
            <a:spLocks xmlns:a="http://schemas.openxmlformats.org/drawingml/2006/main" noGrp="1"/>
          </p:cNvSpPr>
          <p:nvPr/>
        </p:nvSpPr>
        <p:spPr>
          <a:xfrm xmlns:a="http://schemas.openxmlformats.org/drawingml/2006/main">
            <a:off x="7848600" y="2228850"/>
            <a:ext cx="32766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7E1E7"/>
            </a:solidFill>
            <a:prstDash val="solid"/>
          </a:ln>
        </p:spPr>
      </p:sp>
      <p:sp>
        <p:nvSpPr>
          <p:cNvPr id="26" name="">
            <a:extLst xmlns:a="http://schemas.openxmlformats.org/drawingml/2006/main">
              <a:ext uri="{FF2B5EF4-FFF2-40B4-BE49-F238E27FC236}">
                <a16:creationId xmlns:a16="http://schemas.microsoft.com/office/drawing/2014/main" id="{BB53776D-3709-4C82-80DA-90FDB076C5CE}"/>
              </a:ext>
            </a:extLst>
          </p:cNvPr>
          <p:cNvSpPr>
            <a:spLocks xmlns:a="http://schemas.openxmlformats.org/drawingml/2006/main" noGrp="1"/>
          </p:cNvSpPr>
          <p:nvPr/>
        </p:nvSpPr>
        <p:spPr>
          <a:xfrm xmlns:a="http://schemas.openxmlformats.org/drawingml/2006/main">
            <a:off x="7848600" y="2228850"/>
            <a:ext cx="3276600" cy="114300"/>
          </a:xfrm>
          <a:prstGeom xmlns:a="http://schemas.openxmlformats.org/drawingml/2006/main" prst="rect">
            <a:avLst/>
          </a:prstGeom>
          <a:solidFill xmlns:a="http://schemas.openxmlformats.org/drawingml/2006/main">
            <a:srgbClr val="B37A00"/>
          </a:solidFill>
          <a:ln xmlns:a="http://schemas.openxmlformats.org/drawingml/2006/main" w="0">
            <a:solidFill>
              <a:srgbClr val="B37A00"/>
            </a:solidFill>
            <a:prstDash val="solid"/>
          </a:ln>
        </p:spPr>
      </p:sp>
      <p:sp>
        <p:nvSpPr>
          <p:cNvPr id="27" name="">
            <a:extLst xmlns:a="http://schemas.openxmlformats.org/drawingml/2006/main">
              <a:ext uri="{FF2B5EF4-FFF2-40B4-BE49-F238E27FC236}">
                <a16:creationId xmlns:a16="http://schemas.microsoft.com/office/drawing/2014/main" id="{6F04ADF9-05E9-4D76-8C2D-75EC8A27CED5}"/>
              </a:ext>
            </a:extLst>
          </p:cNvPr>
          <p:cNvSpPr>
            <a:spLocks xmlns:a="http://schemas.openxmlformats.org/drawingml/2006/main" noGrp="1"/>
          </p:cNvSpPr>
          <p:nvPr/>
        </p:nvSpPr>
        <p:spPr>
          <a:xfrm xmlns:a="http://schemas.openxmlformats.org/drawingml/2006/main">
            <a:off x="8115300" y="2609850"/>
            <a:ext cx="2724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defRPr>
            </a:pPr>
            <a:r>
              <a:rPr sz="1875" b="1" i="0">
                <a:solidFill>
                  <a:srgbClr val="102A43"/>
                </a:solidFill>
              </a:rPr>
              <a:t>Administration</a:t>
            </a:r>
          </a:p>
        </p:txBody>
      </p:sp>
      <p:sp>
        <p:nvSpPr>
          <p:cNvPr id="28" name="">
            <a:extLst xmlns:a="http://schemas.openxmlformats.org/drawingml/2006/main">
              <a:ext uri="{FF2B5EF4-FFF2-40B4-BE49-F238E27FC236}">
                <a16:creationId xmlns:a16="http://schemas.microsoft.com/office/drawing/2014/main" id="{C9595318-0F45-4D6C-B3D9-85150E7DBE82}"/>
              </a:ext>
            </a:extLst>
          </p:cNvPr>
          <p:cNvSpPr>
            <a:spLocks xmlns:a="http://schemas.openxmlformats.org/drawingml/2006/main" noGrp="1"/>
          </p:cNvSpPr>
          <p:nvPr/>
        </p:nvSpPr>
        <p:spPr>
          <a:xfrm xmlns:a="http://schemas.openxmlformats.org/drawingml/2006/main">
            <a:off x="8115300" y="3562350"/>
            <a:ext cx="85725" cy="85725"/>
          </a:xfrm>
          <a:prstGeom xmlns:a="http://schemas.openxmlformats.org/drawingml/2006/main" prst="ellipse">
            <a:avLst/>
          </a:prstGeom>
          <a:solidFill xmlns:a="http://schemas.openxmlformats.org/drawingml/2006/main">
            <a:srgbClr val="B37A00"/>
          </a:solidFill>
          <a:ln xmlns:a="http://schemas.openxmlformats.org/drawingml/2006/main" w="0">
            <a:solidFill>
              <a:srgbClr val="B37A00"/>
            </a:solidFill>
            <a:prstDash val="solid"/>
          </a:ln>
        </p:spPr>
      </p:sp>
      <p:sp>
        <p:nvSpPr>
          <p:cNvPr id="29" name="">
            <a:extLst xmlns:a="http://schemas.openxmlformats.org/drawingml/2006/main">
              <a:ext uri="{FF2B5EF4-FFF2-40B4-BE49-F238E27FC236}">
                <a16:creationId xmlns:a16="http://schemas.microsoft.com/office/drawing/2014/main" id="{770E842A-BAEB-4885-9C57-78F9856F6DC1}"/>
              </a:ext>
            </a:extLst>
          </p:cNvPr>
          <p:cNvSpPr>
            <a:spLocks xmlns:a="http://schemas.openxmlformats.org/drawingml/2006/main" noGrp="1"/>
          </p:cNvSpPr>
          <p:nvPr/>
        </p:nvSpPr>
        <p:spPr>
          <a:xfrm xmlns:a="http://schemas.openxmlformats.org/drawingml/2006/main">
            <a:off x="8324850" y="34766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Team &amp; Access</a:t>
            </a:r>
          </a:p>
        </p:txBody>
      </p:sp>
      <p:sp>
        <p:nvSpPr>
          <p:cNvPr id="30" name="">
            <a:extLst xmlns:a="http://schemas.openxmlformats.org/drawingml/2006/main">
              <a:ext uri="{FF2B5EF4-FFF2-40B4-BE49-F238E27FC236}">
                <a16:creationId xmlns:a16="http://schemas.microsoft.com/office/drawing/2014/main" id="{F0EEF3D0-806C-406E-A3D5-1A0DB6D0957D}"/>
              </a:ext>
            </a:extLst>
          </p:cNvPr>
          <p:cNvSpPr>
            <a:spLocks xmlns:a="http://schemas.openxmlformats.org/drawingml/2006/main" noGrp="1"/>
          </p:cNvSpPr>
          <p:nvPr/>
        </p:nvSpPr>
        <p:spPr>
          <a:xfrm xmlns:a="http://schemas.openxmlformats.org/drawingml/2006/main">
            <a:off x="8115300" y="4019550"/>
            <a:ext cx="85725" cy="85725"/>
          </a:xfrm>
          <a:prstGeom xmlns:a="http://schemas.openxmlformats.org/drawingml/2006/main" prst="ellipse">
            <a:avLst/>
          </a:prstGeom>
          <a:solidFill xmlns:a="http://schemas.openxmlformats.org/drawingml/2006/main">
            <a:srgbClr val="B37A00"/>
          </a:solidFill>
          <a:ln xmlns:a="http://schemas.openxmlformats.org/drawingml/2006/main" w="0">
            <a:solidFill>
              <a:srgbClr val="B37A00"/>
            </a:solidFill>
            <a:prstDash val="solid"/>
          </a:ln>
        </p:spPr>
      </p:sp>
      <p:sp>
        <p:nvSpPr>
          <p:cNvPr id="31" name="">
            <a:extLst xmlns:a="http://schemas.openxmlformats.org/drawingml/2006/main">
              <a:ext uri="{FF2B5EF4-FFF2-40B4-BE49-F238E27FC236}">
                <a16:creationId xmlns:a16="http://schemas.microsoft.com/office/drawing/2014/main" id="{5C00A453-016D-4C2B-83E5-FABE4D3D3450}"/>
              </a:ext>
            </a:extLst>
          </p:cNvPr>
          <p:cNvSpPr>
            <a:spLocks xmlns:a="http://schemas.openxmlformats.org/drawingml/2006/main" noGrp="1"/>
          </p:cNvSpPr>
          <p:nvPr/>
        </p:nvSpPr>
        <p:spPr>
          <a:xfrm xmlns:a="http://schemas.openxmlformats.org/drawingml/2006/main">
            <a:off x="8324850" y="39338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Reports</a:t>
            </a:r>
          </a:p>
        </p:txBody>
      </p:sp>
      <p:sp>
        <p:nvSpPr>
          <p:cNvPr id="32" name="">
            <a:extLst xmlns:a="http://schemas.openxmlformats.org/drawingml/2006/main">
              <a:ext uri="{FF2B5EF4-FFF2-40B4-BE49-F238E27FC236}">
                <a16:creationId xmlns:a16="http://schemas.microsoft.com/office/drawing/2014/main" id="{8E282398-51E6-4140-B8C7-44B95A32C334}"/>
              </a:ext>
            </a:extLst>
          </p:cNvPr>
          <p:cNvSpPr>
            <a:spLocks xmlns:a="http://schemas.openxmlformats.org/drawingml/2006/main" noGrp="1"/>
          </p:cNvSpPr>
          <p:nvPr/>
        </p:nvSpPr>
        <p:spPr>
          <a:xfrm xmlns:a="http://schemas.openxmlformats.org/drawingml/2006/main">
            <a:off x="8115300" y="4476750"/>
            <a:ext cx="85725" cy="85725"/>
          </a:xfrm>
          <a:prstGeom xmlns:a="http://schemas.openxmlformats.org/drawingml/2006/main" prst="ellipse">
            <a:avLst/>
          </a:prstGeom>
          <a:solidFill xmlns:a="http://schemas.openxmlformats.org/drawingml/2006/main">
            <a:srgbClr val="B37A00"/>
          </a:solidFill>
          <a:ln xmlns:a="http://schemas.openxmlformats.org/drawingml/2006/main" w="0">
            <a:solidFill>
              <a:srgbClr val="B37A00"/>
            </a:solidFill>
            <a:prstDash val="solid"/>
          </a:ln>
        </p:spPr>
      </p:sp>
      <p:sp>
        <p:nvSpPr>
          <p:cNvPr id="33" name="">
            <a:extLst xmlns:a="http://schemas.openxmlformats.org/drawingml/2006/main">
              <a:ext uri="{FF2B5EF4-FFF2-40B4-BE49-F238E27FC236}">
                <a16:creationId xmlns:a16="http://schemas.microsoft.com/office/drawing/2014/main" id="{8FCC5A6C-15E3-400F-B9E2-0903DF64C065}"/>
              </a:ext>
            </a:extLst>
          </p:cNvPr>
          <p:cNvSpPr>
            <a:spLocks xmlns:a="http://schemas.openxmlformats.org/drawingml/2006/main" noGrp="1"/>
          </p:cNvSpPr>
          <p:nvPr/>
        </p:nvSpPr>
        <p:spPr>
          <a:xfrm xmlns:a="http://schemas.openxmlformats.org/drawingml/2006/main">
            <a:off x="8324850" y="43910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Audit Activity</a:t>
            </a:r>
          </a:p>
        </p:txBody>
      </p:sp>
      <p:sp>
        <p:nvSpPr>
          <p:cNvPr id="34" name="">
            <a:extLst xmlns:a="http://schemas.openxmlformats.org/drawingml/2006/main">
              <a:ext uri="{FF2B5EF4-FFF2-40B4-BE49-F238E27FC236}">
                <a16:creationId xmlns:a16="http://schemas.microsoft.com/office/drawing/2014/main" id="{8297352B-CB06-45A5-8AA0-52B8843C3C30}"/>
              </a:ext>
            </a:extLst>
          </p:cNvPr>
          <p:cNvSpPr>
            <a:spLocks xmlns:a="http://schemas.openxmlformats.org/drawingml/2006/main" noGrp="1"/>
          </p:cNvSpPr>
          <p:nvPr/>
        </p:nvSpPr>
        <p:spPr>
          <a:xfrm xmlns:a="http://schemas.openxmlformats.org/drawingml/2006/main">
            <a:off x="8115300" y="4933950"/>
            <a:ext cx="85725" cy="85725"/>
          </a:xfrm>
          <a:prstGeom xmlns:a="http://schemas.openxmlformats.org/drawingml/2006/main" prst="ellipse">
            <a:avLst/>
          </a:prstGeom>
          <a:solidFill xmlns:a="http://schemas.openxmlformats.org/drawingml/2006/main">
            <a:srgbClr val="B37A00"/>
          </a:solidFill>
          <a:ln xmlns:a="http://schemas.openxmlformats.org/drawingml/2006/main" w="0">
            <a:solidFill>
              <a:srgbClr val="B37A00"/>
            </a:solidFill>
            <a:prstDash val="solid"/>
          </a:ln>
        </p:spPr>
      </p:sp>
      <p:sp>
        <p:nvSpPr>
          <p:cNvPr id="35" name="">
            <a:extLst xmlns:a="http://schemas.openxmlformats.org/drawingml/2006/main">
              <a:ext uri="{FF2B5EF4-FFF2-40B4-BE49-F238E27FC236}">
                <a16:creationId xmlns:a16="http://schemas.microsoft.com/office/drawing/2014/main" id="{48CA2BB1-3EF6-4E50-AC98-4E8F5D94800C}"/>
              </a:ext>
            </a:extLst>
          </p:cNvPr>
          <p:cNvSpPr>
            <a:spLocks xmlns:a="http://schemas.openxmlformats.org/drawingml/2006/main" noGrp="1"/>
          </p:cNvSpPr>
          <p:nvPr/>
        </p:nvSpPr>
        <p:spPr>
          <a:xfrm xmlns:a="http://schemas.openxmlformats.org/drawingml/2006/main">
            <a:off x="8324850" y="4848225"/>
            <a:ext cx="2457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Settings</a:t>
            </a:r>
          </a:p>
        </p:txBody>
      </p:sp>
      <p:sp>
        <p:nvSpPr>
          <p:cNvPr id="36" name="">
            <a:extLst xmlns:a="http://schemas.openxmlformats.org/drawingml/2006/main">
              <a:ext uri="{FF2B5EF4-FFF2-40B4-BE49-F238E27FC236}">
                <a16:creationId xmlns:a16="http://schemas.microsoft.com/office/drawing/2014/main" id="{0AA6B1EE-FEC5-4BEF-A966-97F1A580D859}"/>
              </a:ext>
            </a:extLst>
          </p:cNvPr>
          <p:cNvSpPr>
            <a:spLocks xmlns:a="http://schemas.openxmlformats.org/drawingml/2006/main" noGrp="1"/>
          </p:cNvSpPr>
          <p:nvPr/>
        </p:nvSpPr>
        <p:spPr>
          <a:xfrm xmlns:a="http://schemas.openxmlformats.org/drawingml/2006/main">
            <a:off x="1695450" y="5676900"/>
            <a:ext cx="8801100" cy="514350"/>
          </a:xfrm>
          <a:prstGeom xmlns:a="http://schemas.openxmlformats.org/drawingml/2006/main" prst="roundRect">
            <a:avLst>
              <a:gd name="adj" fmla="val 14815"/>
            </a:avLst>
          </a:prstGeom>
          <a:solidFill xmlns:a="http://schemas.openxmlformats.org/drawingml/2006/main">
            <a:srgbClr val="F4F7F9"/>
          </a:solidFill>
          <a:ln xmlns:a="http://schemas.openxmlformats.org/drawingml/2006/main" w="9525">
            <a:solidFill>
              <a:srgbClr val="D7E1E7"/>
            </a:solidFill>
            <a:prstDash val="solid"/>
          </a:ln>
        </p:spPr>
      </p:sp>
      <p:sp>
        <p:nvSpPr>
          <p:cNvPr id="37" name="">
            <a:extLst xmlns:a="http://schemas.openxmlformats.org/drawingml/2006/main">
              <a:ext uri="{FF2B5EF4-FFF2-40B4-BE49-F238E27FC236}">
                <a16:creationId xmlns:a16="http://schemas.microsoft.com/office/drawing/2014/main" id="{F2C7F26B-EC32-437C-8E45-EA0E9EE149FF}"/>
              </a:ext>
            </a:extLst>
          </p:cNvPr>
          <p:cNvSpPr>
            <a:spLocks xmlns:a="http://schemas.openxmlformats.org/drawingml/2006/main" noGrp="1"/>
          </p:cNvSpPr>
          <p:nvPr/>
        </p:nvSpPr>
        <p:spPr>
          <a:xfrm xmlns:a="http://schemas.openxmlformats.org/drawingml/2006/main">
            <a:off x="1924050" y="5819775"/>
            <a:ext cx="834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102A43"/>
                </a:solidFill>
              </a:defRPr>
            </a:pPr>
            <a:r>
              <a:rPr sz="1350" b="1" i="0">
                <a:solidFill>
                  <a:srgbClr val="102A43"/>
                </a:solidFill>
              </a:rPr>
              <a:t>Administrative work should match a confirmed request, the correct record, and the least access needed.</a:t>
            </a:r>
          </a:p>
        </p:txBody>
      </p:sp>
      <p:sp>
        <p:nvSpPr>
          <p:cNvPr id="38" name="">
            <a:extLst xmlns:a="http://schemas.openxmlformats.org/drawingml/2006/main">
              <a:ext uri="{FF2B5EF4-FFF2-40B4-BE49-F238E27FC236}">
                <a16:creationId xmlns:a16="http://schemas.microsoft.com/office/drawing/2014/main" id="{CB588952-DE32-456C-BF29-823802D6B942}"/>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39" name="">
            <a:extLst xmlns:a="http://schemas.openxmlformats.org/drawingml/2006/main">
              <a:ext uri="{FF2B5EF4-FFF2-40B4-BE49-F238E27FC236}">
                <a16:creationId xmlns:a16="http://schemas.microsoft.com/office/drawing/2014/main" id="{F9D20CCD-FE89-43A6-88A2-E24E95141FC5}"/>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40" name="">
            <a:extLst xmlns:a="http://schemas.openxmlformats.org/drawingml/2006/main">
              <a:ext uri="{FF2B5EF4-FFF2-40B4-BE49-F238E27FC236}">
                <a16:creationId xmlns:a16="http://schemas.microsoft.com/office/drawing/2014/main" id="{A1AF62D2-43D4-4CEF-97D2-C34E91926C78}"/>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13</a:t>
            </a:r>
          </a:p>
        </p:txBody>
      </p:sp>
    </p:spTree>
    <p:extLst>
      <p:ext uri="{BB962C8B-B14F-4D97-AF65-F5344CB8AC3E}">
        <p14:creationId xmlns:p14="http://schemas.microsoft.com/office/powerpoint/2010/main" val="18187321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94F0CD2-7FE5-4BF2-ACB0-D5C632A60773}"/>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MEMBERSHIP OPERATIONS</a:t>
            </a:r>
          </a:p>
        </p:txBody>
      </p:sp>
      <p:sp>
        <p:nvSpPr>
          <p:cNvPr id="2" name="">
            <a:extLst xmlns:a="http://schemas.openxmlformats.org/drawingml/2006/main">
              <a:ext uri="{FF2B5EF4-FFF2-40B4-BE49-F238E27FC236}">
                <a16:creationId xmlns:a16="http://schemas.microsoft.com/office/drawing/2014/main" id="{5B381301-16B1-4D52-A5C1-CE72357AC74E}"/>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Data issues are resolved deliberately</a:t>
            </a:r>
          </a:p>
        </p:txBody>
      </p:sp>
      <p:sp>
        <p:nvSpPr>
          <p:cNvPr id="3" name="">
            <a:extLst xmlns:a="http://schemas.openxmlformats.org/drawingml/2006/main">
              <a:ext uri="{FF2B5EF4-FFF2-40B4-BE49-F238E27FC236}">
                <a16:creationId xmlns:a16="http://schemas.microsoft.com/office/drawing/2014/main" id="{F647DCEE-57C2-4864-ADF5-2522BA928976}"/>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E15C9DE1-8DE6-4233-BE3E-448ADA1502A6}"/>
              </a:ext>
            </a:extLst>
          </p:cNvPr>
          <p:cNvSpPr>
            <a:spLocks xmlns:a="http://schemas.openxmlformats.org/drawingml/2006/main" noGrp="1"/>
          </p:cNvSpPr>
          <p:nvPr/>
        </p:nvSpPr>
        <p:spPr>
          <a:xfrm xmlns:a="http://schemas.openxmlformats.org/drawingml/2006/main">
            <a:off x="876300" y="173355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5" name="">
            <a:extLst xmlns:a="http://schemas.openxmlformats.org/drawingml/2006/main">
              <a:ext uri="{FF2B5EF4-FFF2-40B4-BE49-F238E27FC236}">
                <a16:creationId xmlns:a16="http://schemas.microsoft.com/office/drawing/2014/main" id="{3D49F51F-4AE4-4E4C-85F8-0817F25C873E}"/>
              </a:ext>
            </a:extLst>
          </p:cNvPr>
          <p:cNvSpPr>
            <a:spLocks xmlns:a="http://schemas.openxmlformats.org/drawingml/2006/main" noGrp="1"/>
          </p:cNvSpPr>
          <p:nvPr/>
        </p:nvSpPr>
        <p:spPr>
          <a:xfrm xmlns:a="http://schemas.openxmlformats.org/drawingml/2006/main">
            <a:off x="876300" y="17716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1</a:t>
            </a:r>
          </a:p>
        </p:txBody>
      </p:sp>
      <p:sp>
        <p:nvSpPr>
          <p:cNvPr id="6" name="">
            <a:extLst xmlns:a="http://schemas.openxmlformats.org/drawingml/2006/main">
              <a:ext uri="{FF2B5EF4-FFF2-40B4-BE49-F238E27FC236}">
                <a16:creationId xmlns:a16="http://schemas.microsoft.com/office/drawing/2014/main" id="{6B964C80-5307-4FE5-B499-35E43D6618CB}"/>
              </a:ext>
            </a:extLst>
          </p:cNvPr>
          <p:cNvSpPr>
            <a:spLocks xmlns:a="http://schemas.openxmlformats.org/drawingml/2006/main" noGrp="1"/>
          </p:cNvSpPr>
          <p:nvPr/>
        </p:nvSpPr>
        <p:spPr>
          <a:xfrm xmlns:a="http://schemas.openxmlformats.org/drawingml/2006/main">
            <a:off x="1466850" y="16954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defRPr>
            </a:pPr>
            <a:r>
              <a:rPr sz="1650" b="1" i="0">
                <a:solidFill>
                  <a:srgbClr val="102A43"/>
                </a:solidFill>
              </a:rPr>
              <a:t>Review the issue</a:t>
            </a:r>
          </a:p>
        </p:txBody>
      </p:sp>
      <p:sp>
        <p:nvSpPr>
          <p:cNvPr id="7" name="">
            <a:extLst xmlns:a="http://schemas.openxmlformats.org/drawingml/2006/main">
              <a:ext uri="{FF2B5EF4-FFF2-40B4-BE49-F238E27FC236}">
                <a16:creationId xmlns:a16="http://schemas.microsoft.com/office/drawing/2014/main" id="{1D258A7F-A0B3-437E-8DCD-8DE79CF00FBE}"/>
              </a:ext>
            </a:extLst>
          </p:cNvPr>
          <p:cNvSpPr>
            <a:spLocks xmlns:a="http://schemas.openxmlformats.org/drawingml/2006/main" noGrp="1"/>
          </p:cNvSpPr>
          <p:nvPr/>
        </p:nvSpPr>
        <p:spPr>
          <a:xfrm xmlns:a="http://schemas.openxmlformats.org/drawingml/2006/main">
            <a:off x="4953000" y="16954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26A7A"/>
                </a:solidFill>
              </a:defRPr>
            </a:pPr>
            <a:r>
              <a:rPr sz="1425" b="0" i="0">
                <a:solidFill>
                  <a:srgbClr val="526A7A"/>
                </a:solidFill>
              </a:rPr>
              <a:t>Confirm the row and the problem CAT identified.</a:t>
            </a:r>
          </a:p>
        </p:txBody>
      </p:sp>
      <p:sp>
        <p:nvSpPr>
          <p:cNvPr id="8" name="">
            <a:extLst xmlns:a="http://schemas.openxmlformats.org/drawingml/2006/main">
              <a:ext uri="{FF2B5EF4-FFF2-40B4-BE49-F238E27FC236}">
                <a16:creationId xmlns:a16="http://schemas.microsoft.com/office/drawing/2014/main" id="{8641603D-6407-4885-910F-53D00C8F888E}"/>
              </a:ext>
            </a:extLst>
          </p:cNvPr>
          <p:cNvSpPr>
            <a:spLocks xmlns:a="http://schemas.openxmlformats.org/drawingml/2006/main" noGrp="1"/>
          </p:cNvSpPr>
          <p:nvPr/>
        </p:nvSpPr>
        <p:spPr>
          <a:xfrm xmlns:a="http://schemas.openxmlformats.org/drawingml/2006/main">
            <a:off x="1066800" y="2190750"/>
            <a:ext cx="0" cy="466725"/>
          </a:xfrm>
          <a:prstGeom xmlns:a="http://schemas.openxmlformats.org/drawingml/2006/main" prst="line">
            <a:avLst/>
          </a:prstGeom>
          <a:noFill xmlns:a="http://schemas.openxmlformats.org/drawingml/2006/main"/>
          <a:ln xmlns:a="http://schemas.openxmlformats.org/drawingml/2006/main" w="28575">
            <a:solidFill>
              <a:srgbClr val="D7E1E7"/>
            </a:solidFill>
            <a:prstDash val="solid"/>
          </a:ln>
        </p:spPr>
      </p:sp>
      <p:sp>
        <p:nvSpPr>
          <p:cNvPr id="9" name="">
            <a:extLst xmlns:a="http://schemas.openxmlformats.org/drawingml/2006/main">
              <a:ext uri="{FF2B5EF4-FFF2-40B4-BE49-F238E27FC236}">
                <a16:creationId xmlns:a16="http://schemas.microsoft.com/office/drawing/2014/main" id="{31F2593F-AFD4-457A-9561-A062EEE44D0C}"/>
              </a:ext>
            </a:extLst>
          </p:cNvPr>
          <p:cNvSpPr>
            <a:spLocks xmlns:a="http://schemas.openxmlformats.org/drawingml/2006/main" noGrp="1"/>
          </p:cNvSpPr>
          <p:nvPr/>
        </p:nvSpPr>
        <p:spPr>
          <a:xfrm xmlns:a="http://schemas.openxmlformats.org/drawingml/2006/main">
            <a:off x="876300" y="2733675"/>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0" name="">
            <a:extLst xmlns:a="http://schemas.openxmlformats.org/drawingml/2006/main">
              <a:ext uri="{FF2B5EF4-FFF2-40B4-BE49-F238E27FC236}">
                <a16:creationId xmlns:a16="http://schemas.microsoft.com/office/drawing/2014/main" id="{003A81E5-DD2B-4AC0-951E-7C94815A75B8}"/>
              </a:ext>
            </a:extLst>
          </p:cNvPr>
          <p:cNvSpPr>
            <a:spLocks xmlns:a="http://schemas.openxmlformats.org/drawingml/2006/main" noGrp="1"/>
          </p:cNvSpPr>
          <p:nvPr/>
        </p:nvSpPr>
        <p:spPr>
          <a:xfrm xmlns:a="http://schemas.openxmlformats.org/drawingml/2006/main">
            <a:off x="876300" y="2771775"/>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2</a:t>
            </a:r>
          </a:p>
        </p:txBody>
      </p:sp>
      <p:sp>
        <p:nvSpPr>
          <p:cNvPr id="11" name="">
            <a:extLst xmlns:a="http://schemas.openxmlformats.org/drawingml/2006/main">
              <a:ext uri="{FF2B5EF4-FFF2-40B4-BE49-F238E27FC236}">
                <a16:creationId xmlns:a16="http://schemas.microsoft.com/office/drawing/2014/main" id="{64550AA3-7368-43CA-B975-D1A003423270}"/>
              </a:ext>
            </a:extLst>
          </p:cNvPr>
          <p:cNvSpPr>
            <a:spLocks xmlns:a="http://schemas.openxmlformats.org/drawingml/2006/main" noGrp="1"/>
          </p:cNvSpPr>
          <p:nvPr/>
        </p:nvSpPr>
        <p:spPr>
          <a:xfrm xmlns:a="http://schemas.openxmlformats.org/drawingml/2006/main">
            <a:off x="1466850" y="269557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defRPr>
            </a:pPr>
            <a:r>
              <a:rPr sz="1650" b="1" i="0">
                <a:solidFill>
                  <a:srgbClr val="102A43"/>
                </a:solidFill>
              </a:rPr>
              <a:t>Use the best match</a:t>
            </a:r>
          </a:p>
        </p:txBody>
      </p:sp>
      <p:sp>
        <p:nvSpPr>
          <p:cNvPr id="12" name="">
            <a:extLst xmlns:a="http://schemas.openxmlformats.org/drawingml/2006/main">
              <a:ext uri="{FF2B5EF4-FFF2-40B4-BE49-F238E27FC236}">
                <a16:creationId xmlns:a16="http://schemas.microsoft.com/office/drawing/2014/main" id="{8DC7D59C-47AA-44E0-BB45-09850952EDB6}"/>
              </a:ext>
            </a:extLst>
          </p:cNvPr>
          <p:cNvSpPr>
            <a:spLocks xmlns:a="http://schemas.openxmlformats.org/drawingml/2006/main" noGrp="1"/>
          </p:cNvSpPr>
          <p:nvPr/>
        </p:nvSpPr>
        <p:spPr>
          <a:xfrm xmlns:a="http://schemas.openxmlformats.org/drawingml/2006/main">
            <a:off x="4953000" y="2695575"/>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26A7A"/>
                </a:solidFill>
              </a:defRPr>
            </a:pPr>
            <a:r>
              <a:rPr sz="1425" b="0" i="0">
                <a:solidFill>
                  <a:srgbClr val="526A7A"/>
                </a:solidFill>
              </a:rPr>
              <a:t>An exact active work-email match always wins.</a:t>
            </a:r>
          </a:p>
        </p:txBody>
      </p:sp>
      <p:sp>
        <p:nvSpPr>
          <p:cNvPr id="13" name="">
            <a:extLst xmlns:a="http://schemas.openxmlformats.org/drawingml/2006/main">
              <a:ext uri="{FF2B5EF4-FFF2-40B4-BE49-F238E27FC236}">
                <a16:creationId xmlns:a16="http://schemas.microsoft.com/office/drawing/2014/main" id="{49D5E680-0E6D-486A-9A90-3A1E2FA92C48}"/>
              </a:ext>
            </a:extLst>
          </p:cNvPr>
          <p:cNvSpPr>
            <a:spLocks xmlns:a="http://schemas.openxmlformats.org/drawingml/2006/main" noGrp="1"/>
          </p:cNvSpPr>
          <p:nvPr/>
        </p:nvSpPr>
        <p:spPr>
          <a:xfrm xmlns:a="http://schemas.openxmlformats.org/drawingml/2006/main">
            <a:off x="1066800" y="3190875"/>
            <a:ext cx="0" cy="466725"/>
          </a:xfrm>
          <a:prstGeom xmlns:a="http://schemas.openxmlformats.org/drawingml/2006/main" prst="line">
            <a:avLst/>
          </a:prstGeom>
          <a:noFill xmlns:a="http://schemas.openxmlformats.org/drawingml/2006/main"/>
          <a:ln xmlns:a="http://schemas.openxmlformats.org/drawingml/2006/main" w="28575">
            <a:solidFill>
              <a:srgbClr val="D7E1E7"/>
            </a:solidFill>
            <a:prstDash val="solid"/>
          </a:ln>
        </p:spPr>
      </p:sp>
      <p:sp>
        <p:nvSpPr>
          <p:cNvPr id="14" name="">
            <a:extLst xmlns:a="http://schemas.openxmlformats.org/drawingml/2006/main">
              <a:ext uri="{FF2B5EF4-FFF2-40B4-BE49-F238E27FC236}">
                <a16:creationId xmlns:a16="http://schemas.microsoft.com/office/drawing/2014/main" id="{94885D5E-B52D-48F3-B9FD-61DBE274369B}"/>
              </a:ext>
            </a:extLst>
          </p:cNvPr>
          <p:cNvSpPr>
            <a:spLocks xmlns:a="http://schemas.openxmlformats.org/drawingml/2006/main" noGrp="1"/>
          </p:cNvSpPr>
          <p:nvPr/>
        </p:nvSpPr>
        <p:spPr>
          <a:xfrm xmlns:a="http://schemas.openxmlformats.org/drawingml/2006/main">
            <a:off x="876300" y="3733800"/>
            <a:ext cx="400050" cy="400050"/>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5" name="">
            <a:extLst xmlns:a="http://schemas.openxmlformats.org/drawingml/2006/main">
              <a:ext uri="{FF2B5EF4-FFF2-40B4-BE49-F238E27FC236}">
                <a16:creationId xmlns:a16="http://schemas.microsoft.com/office/drawing/2014/main" id="{8AE21943-7B57-426A-AB5D-6710D2D8F4CF}"/>
              </a:ext>
            </a:extLst>
          </p:cNvPr>
          <p:cNvSpPr>
            <a:spLocks xmlns:a="http://schemas.openxmlformats.org/drawingml/2006/main" noGrp="1"/>
          </p:cNvSpPr>
          <p:nvPr/>
        </p:nvSpPr>
        <p:spPr>
          <a:xfrm xmlns:a="http://schemas.openxmlformats.org/drawingml/2006/main">
            <a:off x="876300" y="37719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3</a:t>
            </a:r>
          </a:p>
        </p:txBody>
      </p:sp>
      <p:sp>
        <p:nvSpPr>
          <p:cNvPr id="16" name="">
            <a:extLst xmlns:a="http://schemas.openxmlformats.org/drawingml/2006/main">
              <a:ext uri="{FF2B5EF4-FFF2-40B4-BE49-F238E27FC236}">
                <a16:creationId xmlns:a16="http://schemas.microsoft.com/office/drawing/2014/main" id="{8F841A86-A7AB-4161-9652-8399DD286477}"/>
              </a:ext>
            </a:extLst>
          </p:cNvPr>
          <p:cNvSpPr>
            <a:spLocks xmlns:a="http://schemas.openxmlformats.org/drawingml/2006/main" noGrp="1"/>
          </p:cNvSpPr>
          <p:nvPr/>
        </p:nvSpPr>
        <p:spPr>
          <a:xfrm xmlns:a="http://schemas.openxmlformats.org/drawingml/2006/main">
            <a:off x="1466850" y="36957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defRPr>
            </a:pPr>
            <a:r>
              <a:rPr sz="1650" b="1" i="0">
                <a:solidFill>
                  <a:srgbClr val="102A43"/>
                </a:solidFill>
              </a:rPr>
              <a:t>Choose the outcome</a:t>
            </a:r>
          </a:p>
        </p:txBody>
      </p:sp>
      <p:sp>
        <p:nvSpPr>
          <p:cNvPr id="17" name="">
            <a:extLst xmlns:a="http://schemas.openxmlformats.org/drawingml/2006/main">
              <a:ext uri="{FF2B5EF4-FFF2-40B4-BE49-F238E27FC236}">
                <a16:creationId xmlns:a16="http://schemas.microsoft.com/office/drawing/2014/main" id="{AD7B63BC-A29B-4522-925C-87F04FD33734}"/>
              </a:ext>
            </a:extLst>
          </p:cNvPr>
          <p:cNvSpPr>
            <a:spLocks xmlns:a="http://schemas.openxmlformats.org/drawingml/2006/main" noGrp="1"/>
          </p:cNvSpPr>
          <p:nvPr/>
        </p:nvSpPr>
        <p:spPr>
          <a:xfrm xmlns:a="http://schemas.openxmlformats.org/drawingml/2006/main">
            <a:off x="4953000" y="36957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26A7A"/>
                </a:solidFill>
              </a:defRPr>
            </a:pPr>
            <a:r>
              <a:rPr sz="1425" b="0" i="0">
                <a:solidFill>
                  <a:srgbClr val="526A7A"/>
                </a:solidFill>
              </a:rPr>
              <a:t>Fix a record, attach the row, create a new employee, or remove the import row.</a:t>
            </a:r>
          </a:p>
        </p:txBody>
      </p:sp>
      <p:sp>
        <p:nvSpPr>
          <p:cNvPr id="18" name="">
            <a:extLst xmlns:a="http://schemas.openxmlformats.org/drawingml/2006/main">
              <a:ext uri="{FF2B5EF4-FFF2-40B4-BE49-F238E27FC236}">
                <a16:creationId xmlns:a16="http://schemas.microsoft.com/office/drawing/2014/main" id="{4AAD6925-F4D0-427C-92D5-2A4C35DFD6D3}"/>
              </a:ext>
            </a:extLst>
          </p:cNvPr>
          <p:cNvSpPr>
            <a:spLocks xmlns:a="http://schemas.openxmlformats.org/drawingml/2006/main" noGrp="1"/>
          </p:cNvSpPr>
          <p:nvPr/>
        </p:nvSpPr>
        <p:spPr>
          <a:xfrm xmlns:a="http://schemas.openxmlformats.org/drawingml/2006/main">
            <a:off x="1066800" y="4191000"/>
            <a:ext cx="0" cy="466725"/>
          </a:xfrm>
          <a:prstGeom xmlns:a="http://schemas.openxmlformats.org/drawingml/2006/main" prst="line">
            <a:avLst/>
          </a:prstGeom>
          <a:noFill xmlns:a="http://schemas.openxmlformats.org/drawingml/2006/main"/>
          <a:ln xmlns:a="http://schemas.openxmlformats.org/drawingml/2006/main" w="28575">
            <a:solidFill>
              <a:srgbClr val="D7E1E7"/>
            </a:solidFill>
            <a:prstDash val="solid"/>
          </a:ln>
        </p:spPr>
      </p:sp>
      <p:sp>
        <p:nvSpPr>
          <p:cNvPr id="19" name="">
            <a:extLst xmlns:a="http://schemas.openxmlformats.org/drawingml/2006/main">
              <a:ext uri="{FF2B5EF4-FFF2-40B4-BE49-F238E27FC236}">
                <a16:creationId xmlns:a16="http://schemas.microsoft.com/office/drawing/2014/main" id="{43905079-2863-4FF1-8D84-EB1AC68E723F}"/>
              </a:ext>
            </a:extLst>
          </p:cNvPr>
          <p:cNvSpPr>
            <a:spLocks xmlns:a="http://schemas.openxmlformats.org/drawingml/2006/main" noGrp="1"/>
          </p:cNvSpPr>
          <p:nvPr/>
        </p:nvSpPr>
        <p:spPr>
          <a:xfrm xmlns:a="http://schemas.openxmlformats.org/drawingml/2006/main">
            <a:off x="876300" y="4733925"/>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20" name="">
            <a:extLst xmlns:a="http://schemas.openxmlformats.org/drawingml/2006/main">
              <a:ext uri="{FF2B5EF4-FFF2-40B4-BE49-F238E27FC236}">
                <a16:creationId xmlns:a16="http://schemas.microsoft.com/office/drawing/2014/main" id="{12FE466D-7AB0-475E-8BD5-D9D669AA5E23}"/>
              </a:ext>
            </a:extLst>
          </p:cNvPr>
          <p:cNvSpPr>
            <a:spLocks xmlns:a="http://schemas.openxmlformats.org/drawingml/2006/main" noGrp="1"/>
          </p:cNvSpPr>
          <p:nvPr/>
        </p:nvSpPr>
        <p:spPr>
          <a:xfrm xmlns:a="http://schemas.openxmlformats.org/drawingml/2006/main">
            <a:off x="876300" y="4772025"/>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4</a:t>
            </a:r>
          </a:p>
        </p:txBody>
      </p:sp>
      <p:sp>
        <p:nvSpPr>
          <p:cNvPr id="21" name="">
            <a:extLst xmlns:a="http://schemas.openxmlformats.org/drawingml/2006/main">
              <a:ext uri="{FF2B5EF4-FFF2-40B4-BE49-F238E27FC236}">
                <a16:creationId xmlns:a16="http://schemas.microsoft.com/office/drawing/2014/main" id="{A12BE214-2909-4A21-8E80-31ABCBD14EF0}"/>
              </a:ext>
            </a:extLst>
          </p:cNvPr>
          <p:cNvSpPr>
            <a:spLocks xmlns:a="http://schemas.openxmlformats.org/drawingml/2006/main" noGrp="1"/>
          </p:cNvSpPr>
          <p:nvPr/>
        </p:nvSpPr>
        <p:spPr>
          <a:xfrm xmlns:a="http://schemas.openxmlformats.org/drawingml/2006/main">
            <a:off x="1466850" y="469582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defRPr>
            </a:pPr>
            <a:r>
              <a:rPr sz="1650" b="1" i="0">
                <a:solidFill>
                  <a:srgbClr val="102A43"/>
                </a:solidFill>
              </a:rPr>
              <a:t>Confirm and verify</a:t>
            </a:r>
          </a:p>
        </p:txBody>
      </p:sp>
      <p:sp>
        <p:nvSpPr>
          <p:cNvPr id="22" name="">
            <a:extLst xmlns:a="http://schemas.openxmlformats.org/drawingml/2006/main">
              <a:ext uri="{FF2B5EF4-FFF2-40B4-BE49-F238E27FC236}">
                <a16:creationId xmlns:a16="http://schemas.microsoft.com/office/drawing/2014/main" id="{63F280C4-B261-40FC-BD4A-B44D68A93E8F}"/>
              </a:ext>
            </a:extLst>
          </p:cNvPr>
          <p:cNvSpPr>
            <a:spLocks xmlns:a="http://schemas.openxmlformats.org/drawingml/2006/main" noGrp="1"/>
          </p:cNvSpPr>
          <p:nvPr/>
        </p:nvSpPr>
        <p:spPr>
          <a:xfrm xmlns:a="http://schemas.openxmlformats.org/drawingml/2006/main">
            <a:off x="4953000" y="4695825"/>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526A7A"/>
                </a:solidFill>
              </a:defRPr>
            </a:pPr>
            <a:r>
              <a:rPr sz="1425" b="0" i="0">
                <a:solidFill>
                  <a:srgbClr val="526A7A"/>
                </a:solidFill>
              </a:rPr>
              <a:t>An administrator confirms attachments and checks the final state.</a:t>
            </a:r>
          </a:p>
        </p:txBody>
      </p:sp>
      <p:sp>
        <p:nvSpPr>
          <p:cNvPr id="23" name="">
            <a:extLst xmlns:a="http://schemas.openxmlformats.org/drawingml/2006/main">
              <a:ext uri="{FF2B5EF4-FFF2-40B4-BE49-F238E27FC236}">
                <a16:creationId xmlns:a16="http://schemas.microsoft.com/office/drawing/2014/main" id="{C6C8B57D-52D6-46CF-B3D1-A317CC54292A}"/>
              </a:ext>
            </a:extLst>
          </p:cNvPr>
          <p:cNvSpPr>
            <a:spLocks xmlns:a="http://schemas.openxmlformats.org/drawingml/2006/main" noGrp="1"/>
          </p:cNvSpPr>
          <p:nvPr/>
        </p:nvSpPr>
        <p:spPr>
          <a:xfrm xmlns:a="http://schemas.openxmlformats.org/drawingml/2006/main">
            <a:off x="685800" y="5657850"/>
            <a:ext cx="10820400" cy="571500"/>
          </a:xfrm>
          <a:prstGeom xmlns:a="http://schemas.openxmlformats.org/drawingml/2006/main" prst="roundRect">
            <a:avLst>
              <a:gd name="adj" fmla="val 13333"/>
            </a:avLst>
          </a:prstGeom>
          <a:solidFill xmlns:a="http://schemas.openxmlformats.org/drawingml/2006/main">
            <a:srgbClr val="FFF2C7"/>
          </a:solidFill>
          <a:ln xmlns:a="http://schemas.openxmlformats.org/drawingml/2006/main" w="9525">
            <a:solidFill>
              <a:srgbClr val="EACB70"/>
            </a:solidFill>
            <a:prstDash val="solid"/>
          </a:ln>
        </p:spPr>
      </p:sp>
      <p:sp>
        <p:nvSpPr>
          <p:cNvPr id="24" name="">
            <a:extLst xmlns:a="http://schemas.openxmlformats.org/drawingml/2006/main">
              <a:ext uri="{FF2B5EF4-FFF2-40B4-BE49-F238E27FC236}">
                <a16:creationId xmlns:a16="http://schemas.microsoft.com/office/drawing/2014/main" id="{974A4C8A-DEDF-49F0-AD7F-2D7ADA1162A6}"/>
              </a:ext>
            </a:extLst>
          </p:cNvPr>
          <p:cNvSpPr>
            <a:spLocks xmlns:a="http://schemas.openxmlformats.org/drawingml/2006/main" noGrp="1"/>
          </p:cNvSpPr>
          <p:nvPr/>
        </p:nvSpPr>
        <p:spPr>
          <a:xfrm xmlns:a="http://schemas.openxmlformats.org/drawingml/2006/main">
            <a:off x="895350" y="5791200"/>
            <a:ext cx="10401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102A43"/>
                </a:solidFill>
              </a:defRPr>
            </a:pPr>
            <a:r>
              <a:rPr sz="1275" b="1" i="0">
                <a:solidFill>
                  <a:srgbClr val="102A43"/>
                </a:solidFill>
              </a:rPr>
              <a:t>Uploading or reviewing a file does not change the roster. Apply only the exact reviewed changes. Absence from a file is not a drop or deletion.</a:t>
            </a:r>
          </a:p>
        </p:txBody>
      </p:sp>
      <p:sp>
        <p:nvSpPr>
          <p:cNvPr id="25" name="">
            <a:extLst xmlns:a="http://schemas.openxmlformats.org/drawingml/2006/main">
              <a:ext uri="{FF2B5EF4-FFF2-40B4-BE49-F238E27FC236}">
                <a16:creationId xmlns:a16="http://schemas.microsoft.com/office/drawing/2014/main" id="{12DB2466-D68C-457F-8561-8BC9DA2A3CE3}"/>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26" name="">
            <a:extLst xmlns:a="http://schemas.openxmlformats.org/drawingml/2006/main">
              <a:ext uri="{FF2B5EF4-FFF2-40B4-BE49-F238E27FC236}">
                <a16:creationId xmlns:a16="http://schemas.microsoft.com/office/drawing/2014/main" id="{3C6EC7C7-C1FD-4DB2-9D78-AC3455E911C6}"/>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27" name="">
            <a:extLst xmlns:a="http://schemas.openxmlformats.org/drawingml/2006/main">
              <a:ext uri="{FF2B5EF4-FFF2-40B4-BE49-F238E27FC236}">
                <a16:creationId xmlns:a16="http://schemas.microsoft.com/office/drawing/2014/main" id="{6D2C2E0E-0796-4C40-8601-96E3DFA5A991}"/>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14</a:t>
            </a:r>
          </a:p>
        </p:txBody>
      </p:sp>
    </p:spTree>
    <p:extLst>
      <p:ext uri="{BB962C8B-B14F-4D97-AF65-F5344CB8AC3E}">
        <p14:creationId xmlns:p14="http://schemas.microsoft.com/office/powerpoint/2010/main" val="1437233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8FF12B7-9ADD-4047-9402-1357319F379C}"/>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SUPPORT</a:t>
            </a:r>
          </a:p>
        </p:txBody>
      </p:sp>
      <p:sp>
        <p:nvSpPr>
          <p:cNvPr id="2" name="">
            <a:extLst xmlns:a="http://schemas.openxmlformats.org/drawingml/2006/main">
              <a:ext uri="{FF2B5EF4-FFF2-40B4-BE49-F238E27FC236}">
                <a16:creationId xmlns:a16="http://schemas.microsoft.com/office/drawing/2014/main" id="{B7C7CAB1-A63F-4E03-80A4-8CAB372BFB2F}"/>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Get help without exposing member information</a:t>
            </a:r>
          </a:p>
        </p:txBody>
      </p:sp>
      <p:sp>
        <p:nvSpPr>
          <p:cNvPr id="3" name="">
            <a:extLst xmlns:a="http://schemas.openxmlformats.org/drawingml/2006/main">
              <a:ext uri="{FF2B5EF4-FFF2-40B4-BE49-F238E27FC236}">
                <a16:creationId xmlns:a16="http://schemas.microsoft.com/office/drawing/2014/main" id="{CE748B5C-B4CD-48DA-9C14-822D4DB250B7}"/>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aafeef5d9fa4f18"/>
          <a:stretch xmlns:a="http://schemas.openxmlformats.org/drawingml/2006/main"/>
        </p:blipFill>
        <p:spPr>
          <a:xfrm xmlns:a="http://schemas.openxmlformats.org/drawingml/2006/main">
            <a:off x="1046960" y="1676400"/>
            <a:ext cx="5468929" cy="4171950"/>
          </a:xfrm>
          <a:prstGeom xmlns:a="http://schemas.openxmlformats.org/drawingml/2006/main" prst="roundRect">
            <a:avLst>
              <a:gd name="adj" fmla="val 2740"/>
            </a:avLst>
          </a:prstGeom>
        </p:spPr>
      </p:pic>
      <p:sp>
        <p:nvSpPr>
          <p:cNvPr id="5" name="">
            <a:extLst xmlns:a="http://schemas.openxmlformats.org/drawingml/2006/main">
              <a:ext uri="{FF2B5EF4-FFF2-40B4-BE49-F238E27FC236}">
                <a16:creationId xmlns:a16="http://schemas.microsoft.com/office/drawing/2014/main" id="{5D53689C-F3D7-4AD7-A697-F4A7AB10C4DE}"/>
              </a:ext>
            </a:extLst>
          </p:cNvPr>
          <p:cNvSpPr>
            <a:spLocks xmlns:a="http://schemas.openxmlformats.org/drawingml/2006/main" noGrp="1"/>
          </p:cNvSpPr>
          <p:nvPr/>
        </p:nvSpPr>
        <p:spPr>
          <a:xfrm xmlns:a="http://schemas.openxmlformats.org/drawingml/2006/main">
            <a:off x="7334250" y="17526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A80046"/>
                </a:solidFill>
              </a:defRPr>
            </a:pPr>
            <a:r>
              <a:rPr sz="900" b="1" i="0">
                <a:solidFill>
                  <a:srgbClr val="A80046"/>
                </a:solidFill>
              </a:rPr>
              <a:t>BEFORE CONTACTING SUPPORT</a:t>
            </a:r>
          </a:p>
        </p:txBody>
      </p:sp>
      <p:sp>
        <p:nvSpPr>
          <p:cNvPr id="6" name="">
            <a:extLst xmlns:a="http://schemas.openxmlformats.org/drawingml/2006/main">
              <a:ext uri="{FF2B5EF4-FFF2-40B4-BE49-F238E27FC236}">
                <a16:creationId xmlns:a16="http://schemas.microsoft.com/office/drawing/2014/main" id="{CCBB1FE6-AC95-4E82-A582-59DB1D433D89}"/>
              </a:ext>
            </a:extLst>
          </p:cNvPr>
          <p:cNvSpPr>
            <a:spLocks xmlns:a="http://schemas.openxmlformats.org/drawingml/2006/main" noGrp="1"/>
          </p:cNvSpPr>
          <p:nvPr/>
        </p:nvSpPr>
        <p:spPr>
          <a:xfrm xmlns:a="http://schemas.openxmlformats.org/drawingml/2006/main">
            <a:off x="7372350" y="229552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7" name="">
            <a:extLst xmlns:a="http://schemas.openxmlformats.org/drawingml/2006/main">
              <a:ext uri="{FF2B5EF4-FFF2-40B4-BE49-F238E27FC236}">
                <a16:creationId xmlns:a16="http://schemas.microsoft.com/office/drawing/2014/main" id="{5C5E661F-D72B-4A6C-A394-E9D4ABA49DE4}"/>
              </a:ext>
            </a:extLst>
          </p:cNvPr>
          <p:cNvSpPr>
            <a:spLocks xmlns:a="http://schemas.openxmlformats.org/drawingml/2006/main" noGrp="1"/>
          </p:cNvSpPr>
          <p:nvPr/>
        </p:nvSpPr>
        <p:spPr>
          <a:xfrm xmlns:a="http://schemas.openxmlformats.org/drawingml/2006/main">
            <a:off x="7581900" y="2209800"/>
            <a:ext cx="3600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Write down the non-sensitive support reference.</a:t>
            </a:r>
          </a:p>
        </p:txBody>
      </p:sp>
      <p:sp>
        <p:nvSpPr>
          <p:cNvPr id="8" name="">
            <a:extLst xmlns:a="http://schemas.openxmlformats.org/drawingml/2006/main">
              <a:ext uri="{FF2B5EF4-FFF2-40B4-BE49-F238E27FC236}">
                <a16:creationId xmlns:a16="http://schemas.microsoft.com/office/drawing/2014/main" id="{436FEE25-BBAC-4FC6-A371-79272A9527DA}"/>
              </a:ext>
            </a:extLst>
          </p:cNvPr>
          <p:cNvSpPr>
            <a:spLocks xmlns:a="http://schemas.openxmlformats.org/drawingml/2006/main" noGrp="1"/>
          </p:cNvSpPr>
          <p:nvPr/>
        </p:nvSpPr>
        <p:spPr>
          <a:xfrm xmlns:a="http://schemas.openxmlformats.org/drawingml/2006/main">
            <a:off x="7372350" y="30384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9" name="">
            <a:extLst xmlns:a="http://schemas.openxmlformats.org/drawingml/2006/main">
              <a:ext uri="{FF2B5EF4-FFF2-40B4-BE49-F238E27FC236}">
                <a16:creationId xmlns:a16="http://schemas.microsoft.com/office/drawing/2014/main" id="{FCF0103C-3B2F-4075-85AC-ACEC357A883B}"/>
              </a:ext>
            </a:extLst>
          </p:cNvPr>
          <p:cNvSpPr>
            <a:spLocks xmlns:a="http://schemas.openxmlformats.org/drawingml/2006/main" noGrp="1"/>
          </p:cNvSpPr>
          <p:nvPr/>
        </p:nvSpPr>
        <p:spPr>
          <a:xfrm xmlns:a="http://schemas.openxmlformats.org/drawingml/2006/main">
            <a:off x="7581900" y="2952750"/>
            <a:ext cx="3600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Note the device, browser or app, and approximate time.</a:t>
            </a:r>
          </a:p>
        </p:txBody>
      </p:sp>
      <p:sp>
        <p:nvSpPr>
          <p:cNvPr id="10" name="">
            <a:extLst xmlns:a="http://schemas.openxmlformats.org/drawingml/2006/main">
              <a:ext uri="{FF2B5EF4-FFF2-40B4-BE49-F238E27FC236}">
                <a16:creationId xmlns:a16="http://schemas.microsoft.com/office/drawing/2014/main" id="{E819F03A-6C5B-4140-8F93-3D9FBAE15BC8}"/>
              </a:ext>
            </a:extLst>
          </p:cNvPr>
          <p:cNvSpPr>
            <a:spLocks xmlns:a="http://schemas.openxmlformats.org/drawingml/2006/main" noGrp="1"/>
          </p:cNvSpPr>
          <p:nvPr/>
        </p:nvSpPr>
        <p:spPr>
          <a:xfrm xmlns:a="http://schemas.openxmlformats.org/drawingml/2006/main">
            <a:off x="7372350" y="378142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1" name="">
            <a:extLst xmlns:a="http://schemas.openxmlformats.org/drawingml/2006/main">
              <a:ext uri="{FF2B5EF4-FFF2-40B4-BE49-F238E27FC236}">
                <a16:creationId xmlns:a16="http://schemas.microsoft.com/office/drawing/2014/main" id="{BDC4E6E8-70EB-4D5F-B7C7-2F1A1EED3178}"/>
              </a:ext>
            </a:extLst>
          </p:cNvPr>
          <p:cNvSpPr>
            <a:spLocks xmlns:a="http://schemas.openxmlformats.org/drawingml/2006/main" noGrp="1"/>
          </p:cNvSpPr>
          <p:nvPr/>
        </p:nvSpPr>
        <p:spPr>
          <a:xfrm xmlns:a="http://schemas.openxmlformats.org/drawingml/2006/main">
            <a:off x="7581900" y="3695700"/>
            <a:ext cx="3600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Explain what you expected and what happened in one or two sentences.</a:t>
            </a:r>
          </a:p>
        </p:txBody>
      </p:sp>
      <p:sp>
        <p:nvSpPr>
          <p:cNvPr id="12" name="">
            <a:extLst xmlns:a="http://schemas.openxmlformats.org/drawingml/2006/main">
              <a:ext uri="{FF2B5EF4-FFF2-40B4-BE49-F238E27FC236}">
                <a16:creationId xmlns:a16="http://schemas.microsoft.com/office/drawing/2014/main" id="{E4DB1792-9A52-4211-979A-B3CB0BFAE70B}"/>
              </a:ext>
            </a:extLst>
          </p:cNvPr>
          <p:cNvSpPr>
            <a:spLocks xmlns:a="http://schemas.openxmlformats.org/drawingml/2006/main" noGrp="1"/>
          </p:cNvSpPr>
          <p:nvPr/>
        </p:nvSpPr>
        <p:spPr>
          <a:xfrm xmlns:a="http://schemas.openxmlformats.org/drawingml/2006/main">
            <a:off x="7372350" y="4524375"/>
            <a:ext cx="85725" cy="85725"/>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3" name="">
            <a:extLst xmlns:a="http://schemas.openxmlformats.org/drawingml/2006/main">
              <a:ext uri="{FF2B5EF4-FFF2-40B4-BE49-F238E27FC236}">
                <a16:creationId xmlns:a16="http://schemas.microsoft.com/office/drawing/2014/main" id="{9D66A2D1-FDF5-484F-B2DE-EA35F77FB46D}"/>
              </a:ext>
            </a:extLst>
          </p:cNvPr>
          <p:cNvSpPr>
            <a:spLocks xmlns:a="http://schemas.openxmlformats.org/drawingml/2006/main" noGrp="1"/>
          </p:cNvSpPr>
          <p:nvPr/>
        </p:nvSpPr>
        <p:spPr>
          <a:xfrm xmlns:a="http://schemas.openxmlformats.org/drawingml/2006/main">
            <a:off x="7581900" y="4438650"/>
            <a:ext cx="3600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02A43"/>
                </a:solidFill>
              </a:defRPr>
            </a:pPr>
            <a:r>
              <a:rPr sz="1350" b="0" i="0">
                <a:solidFill>
                  <a:srgbClr val="102A43"/>
                </a:solidFill>
              </a:rPr>
              <a:t>Remove names, contact details, passwords, MFA codes, and recovery codes.</a:t>
            </a:r>
          </a:p>
        </p:txBody>
      </p:sp>
      <p:sp>
        <p:nvSpPr>
          <p:cNvPr id="14" name="">
            <a:extLst xmlns:a="http://schemas.openxmlformats.org/drawingml/2006/main">
              <a:ext uri="{FF2B5EF4-FFF2-40B4-BE49-F238E27FC236}">
                <a16:creationId xmlns:a16="http://schemas.microsoft.com/office/drawing/2014/main" id="{D49370C4-3BB1-4463-B1AF-FC0F96643B1A}"/>
              </a:ext>
            </a:extLst>
          </p:cNvPr>
          <p:cNvSpPr>
            <a:spLocks xmlns:a="http://schemas.openxmlformats.org/drawingml/2006/main" noGrp="1"/>
          </p:cNvSpPr>
          <p:nvPr/>
        </p:nvSpPr>
        <p:spPr>
          <a:xfrm xmlns:a="http://schemas.openxmlformats.org/drawingml/2006/main">
            <a:off x="7334250" y="53911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004E75"/>
                </a:solidFill>
              </a:defRPr>
            </a:pPr>
            <a:r>
              <a:rPr sz="1275" b="1" i="0">
                <a:solidFill>
                  <a:srgbClr val="004E75"/>
                </a:solidFill>
              </a:rPr>
              <a:t>For an uncertain save: check the current record first. Retry only if the change is missing.</a:t>
            </a:r>
          </a:p>
        </p:txBody>
      </p:sp>
      <p:sp>
        <p:nvSpPr>
          <p:cNvPr id="15" name="">
            <a:extLst xmlns:a="http://schemas.openxmlformats.org/drawingml/2006/main">
              <a:ext uri="{FF2B5EF4-FFF2-40B4-BE49-F238E27FC236}">
                <a16:creationId xmlns:a16="http://schemas.microsoft.com/office/drawing/2014/main" id="{A2CE2FC1-30CF-40B7-859F-1CA97AA60093}"/>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16" name="">
            <a:extLst xmlns:a="http://schemas.openxmlformats.org/drawingml/2006/main">
              <a:ext uri="{FF2B5EF4-FFF2-40B4-BE49-F238E27FC236}">
                <a16:creationId xmlns:a16="http://schemas.microsoft.com/office/drawing/2014/main" id="{BE8EDDC8-F4DE-40DE-BCBC-7CF381358DB4}"/>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17" name="">
            <a:extLst xmlns:a="http://schemas.openxmlformats.org/drawingml/2006/main">
              <a:ext uri="{FF2B5EF4-FFF2-40B4-BE49-F238E27FC236}">
                <a16:creationId xmlns:a16="http://schemas.microsoft.com/office/drawing/2014/main" id="{CA4B2EDC-2230-4A2D-9849-E507B9528C6D}"/>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15</a:t>
            </a:r>
          </a:p>
        </p:txBody>
      </p:sp>
    </p:spTree>
    <p:extLst>
      <p:ext uri="{BB962C8B-B14F-4D97-AF65-F5344CB8AC3E}">
        <p14:creationId xmlns:p14="http://schemas.microsoft.com/office/powerpoint/2010/main" val="10123639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B8AC270-CA3A-47B6-8E33-4E83769EB763}"/>
              </a:ext>
            </a:extLst>
          </p:cNvPr>
          <p:cNvSpPr>
            <a:spLocks xmlns:a="http://schemas.openxmlformats.org/drawingml/2006/main" noGrp="1"/>
          </p:cNvSpPr>
          <p:nvPr/>
        </p:nvSpPr>
        <p:spPr>
          <a:xfrm xmlns:a="http://schemas.openxmlformats.org/drawingml/2006/main">
            <a:off x="6858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A80046"/>
                </a:solidFill>
              </a:defRPr>
            </a:pPr>
            <a:r>
              <a:rPr sz="975" b="1" i="0">
                <a:solidFill>
                  <a:srgbClr val="A80046"/>
                </a:solidFill>
              </a:rPr>
              <a:t>READY FOR LIVE WORK</a:t>
            </a:r>
          </a:p>
        </p:txBody>
      </p:sp>
      <p:sp>
        <p:nvSpPr>
          <p:cNvPr id="2" name="">
            <a:extLst xmlns:a="http://schemas.openxmlformats.org/drawingml/2006/main">
              <a:ext uri="{FF2B5EF4-FFF2-40B4-BE49-F238E27FC236}">
                <a16:creationId xmlns:a16="http://schemas.microsoft.com/office/drawing/2014/main" id="{ED3A4D93-1052-4F06-8419-F1CECCC41EDC}"/>
              </a:ext>
            </a:extLst>
          </p:cNvPr>
          <p:cNvSpPr>
            <a:spLocks xmlns:a="http://schemas.openxmlformats.org/drawingml/2006/main" noGrp="1"/>
          </p:cNvSpPr>
          <p:nvPr/>
        </p:nvSpPr>
        <p:spPr>
          <a:xfrm xmlns:a="http://schemas.openxmlformats.org/drawingml/2006/main">
            <a:off x="685800" y="7429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i="0">
                <a:solidFill>
                  <a:srgbClr val="071A2B"/>
                </a:solidFill>
              </a:defRPr>
            </a:pPr>
            <a:r>
              <a:rPr sz="2925" b="1" i="0">
                <a:solidFill>
                  <a:srgbClr val="071A2B"/>
                </a:solidFill>
              </a:rPr>
              <a:t>Practice one clean outreach record</a:t>
            </a:r>
          </a:p>
        </p:txBody>
      </p:sp>
      <p:sp>
        <p:nvSpPr>
          <p:cNvPr id="3" name="">
            <a:extLst xmlns:a="http://schemas.openxmlformats.org/drawingml/2006/main">
              <a:ext uri="{FF2B5EF4-FFF2-40B4-BE49-F238E27FC236}">
                <a16:creationId xmlns:a16="http://schemas.microsoft.com/office/drawing/2014/main" id="{53E42926-6ABB-46EE-966F-F9104750A7E4}"/>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4" name="">
            <a:extLst xmlns:a="http://schemas.openxmlformats.org/drawingml/2006/main">
              <a:ext uri="{FF2B5EF4-FFF2-40B4-BE49-F238E27FC236}">
                <a16:creationId xmlns:a16="http://schemas.microsoft.com/office/drawing/2014/main" id="{74DB2DE5-2B71-4E23-98AD-6EC12D1E0637}"/>
              </a:ext>
            </a:extLst>
          </p:cNvPr>
          <p:cNvSpPr>
            <a:spLocks xmlns:a="http://schemas.openxmlformats.org/drawingml/2006/main" noGrp="1"/>
          </p:cNvSpPr>
          <p:nvPr/>
        </p:nvSpPr>
        <p:spPr>
          <a:xfrm xmlns:a="http://schemas.openxmlformats.org/drawingml/2006/main">
            <a:off x="819150" y="167640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5" name="">
            <a:extLst xmlns:a="http://schemas.openxmlformats.org/drawingml/2006/main">
              <a:ext uri="{FF2B5EF4-FFF2-40B4-BE49-F238E27FC236}">
                <a16:creationId xmlns:a16="http://schemas.microsoft.com/office/drawing/2014/main" id="{31027581-4954-459B-B955-1F7A1E24363F}"/>
              </a:ext>
            </a:extLst>
          </p:cNvPr>
          <p:cNvSpPr>
            <a:spLocks xmlns:a="http://schemas.openxmlformats.org/drawingml/2006/main" noGrp="1"/>
          </p:cNvSpPr>
          <p:nvPr/>
        </p:nvSpPr>
        <p:spPr>
          <a:xfrm xmlns:a="http://schemas.openxmlformats.org/drawingml/2006/main">
            <a:off x="819150" y="17145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1</a:t>
            </a:r>
          </a:p>
        </p:txBody>
      </p:sp>
      <p:sp>
        <p:nvSpPr>
          <p:cNvPr id="6" name="">
            <a:extLst xmlns:a="http://schemas.openxmlformats.org/drawingml/2006/main">
              <a:ext uri="{FF2B5EF4-FFF2-40B4-BE49-F238E27FC236}">
                <a16:creationId xmlns:a16="http://schemas.microsoft.com/office/drawing/2014/main" id="{6610C18E-7662-4604-95E7-2EDFDF3D7F7E}"/>
              </a:ext>
            </a:extLst>
          </p:cNvPr>
          <p:cNvSpPr>
            <a:spLocks xmlns:a="http://schemas.openxmlformats.org/drawingml/2006/main" noGrp="1"/>
          </p:cNvSpPr>
          <p:nvPr/>
        </p:nvSpPr>
        <p:spPr>
          <a:xfrm xmlns:a="http://schemas.openxmlformats.org/drawingml/2006/main">
            <a:off x="1428750" y="1695450"/>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Open a synthetic person with an open follow-up.</a:t>
            </a:r>
          </a:p>
        </p:txBody>
      </p:sp>
      <p:sp>
        <p:nvSpPr>
          <p:cNvPr id="7" name="">
            <a:extLst xmlns:a="http://schemas.openxmlformats.org/drawingml/2006/main">
              <a:ext uri="{FF2B5EF4-FFF2-40B4-BE49-F238E27FC236}">
                <a16:creationId xmlns:a16="http://schemas.microsoft.com/office/drawing/2014/main" id="{E3DB07D2-2709-48AF-9D90-77C837001661}"/>
              </a:ext>
            </a:extLst>
          </p:cNvPr>
          <p:cNvSpPr>
            <a:spLocks xmlns:a="http://schemas.openxmlformats.org/drawingml/2006/main" noGrp="1"/>
          </p:cNvSpPr>
          <p:nvPr/>
        </p:nvSpPr>
        <p:spPr>
          <a:xfrm xmlns:a="http://schemas.openxmlformats.org/drawingml/2006/main">
            <a:off x="819150" y="243840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8" name="">
            <a:extLst xmlns:a="http://schemas.openxmlformats.org/drawingml/2006/main">
              <a:ext uri="{FF2B5EF4-FFF2-40B4-BE49-F238E27FC236}">
                <a16:creationId xmlns:a16="http://schemas.microsoft.com/office/drawing/2014/main" id="{966E66FA-07F0-480D-B36B-54A343B40D2F}"/>
              </a:ext>
            </a:extLst>
          </p:cNvPr>
          <p:cNvSpPr>
            <a:spLocks xmlns:a="http://schemas.openxmlformats.org/drawingml/2006/main" noGrp="1"/>
          </p:cNvSpPr>
          <p:nvPr/>
        </p:nvSpPr>
        <p:spPr>
          <a:xfrm xmlns:a="http://schemas.openxmlformats.org/drawingml/2006/main">
            <a:off x="819150" y="24765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2</a:t>
            </a:r>
          </a:p>
        </p:txBody>
      </p:sp>
      <p:sp>
        <p:nvSpPr>
          <p:cNvPr id="9" name="">
            <a:extLst xmlns:a="http://schemas.openxmlformats.org/drawingml/2006/main">
              <a:ext uri="{FF2B5EF4-FFF2-40B4-BE49-F238E27FC236}">
                <a16:creationId xmlns:a16="http://schemas.microsoft.com/office/drawing/2014/main" id="{957CEEFF-6710-41C4-9128-ED60ABCE87FE}"/>
              </a:ext>
            </a:extLst>
          </p:cNvPr>
          <p:cNvSpPr>
            <a:spLocks xmlns:a="http://schemas.openxmlformats.org/drawingml/2006/main" noGrp="1"/>
          </p:cNvSpPr>
          <p:nvPr/>
        </p:nvSpPr>
        <p:spPr>
          <a:xfrm xmlns:a="http://schemas.openxmlformats.org/drawingml/2006/main">
            <a:off x="1428750" y="2457450"/>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Review the record and available contact methods.</a:t>
            </a:r>
          </a:p>
        </p:txBody>
      </p:sp>
      <p:sp>
        <p:nvSpPr>
          <p:cNvPr id="10" name="">
            <a:extLst xmlns:a="http://schemas.openxmlformats.org/drawingml/2006/main">
              <a:ext uri="{FF2B5EF4-FFF2-40B4-BE49-F238E27FC236}">
                <a16:creationId xmlns:a16="http://schemas.microsoft.com/office/drawing/2014/main" id="{A3ED65F2-1E6A-458D-B742-D8056C0FC9D3}"/>
              </a:ext>
            </a:extLst>
          </p:cNvPr>
          <p:cNvSpPr>
            <a:spLocks xmlns:a="http://schemas.openxmlformats.org/drawingml/2006/main" noGrp="1"/>
          </p:cNvSpPr>
          <p:nvPr/>
        </p:nvSpPr>
        <p:spPr>
          <a:xfrm xmlns:a="http://schemas.openxmlformats.org/drawingml/2006/main">
            <a:off x="819150" y="320040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1" name="">
            <a:extLst xmlns:a="http://schemas.openxmlformats.org/drawingml/2006/main">
              <a:ext uri="{FF2B5EF4-FFF2-40B4-BE49-F238E27FC236}">
                <a16:creationId xmlns:a16="http://schemas.microsoft.com/office/drawing/2014/main" id="{93834E9C-BB66-4FF0-B9C9-C0BAD61160D2}"/>
              </a:ext>
            </a:extLst>
          </p:cNvPr>
          <p:cNvSpPr>
            <a:spLocks xmlns:a="http://schemas.openxmlformats.org/drawingml/2006/main" noGrp="1"/>
          </p:cNvSpPr>
          <p:nvPr/>
        </p:nvSpPr>
        <p:spPr>
          <a:xfrm xmlns:a="http://schemas.openxmlformats.org/drawingml/2006/main">
            <a:off x="819150" y="32385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3</a:t>
            </a:r>
          </a:p>
        </p:txBody>
      </p:sp>
      <p:sp>
        <p:nvSpPr>
          <p:cNvPr id="12" name="">
            <a:extLst xmlns:a="http://schemas.openxmlformats.org/drawingml/2006/main">
              <a:ext uri="{FF2B5EF4-FFF2-40B4-BE49-F238E27FC236}">
                <a16:creationId xmlns:a16="http://schemas.microsoft.com/office/drawing/2014/main" id="{996BBB12-A56B-4770-B56C-CBB3C71C0E30}"/>
              </a:ext>
            </a:extLst>
          </p:cNvPr>
          <p:cNvSpPr>
            <a:spLocks xmlns:a="http://schemas.openxmlformats.org/drawingml/2006/main" noGrp="1"/>
          </p:cNvSpPr>
          <p:nvPr/>
        </p:nvSpPr>
        <p:spPr>
          <a:xfrm xmlns:a="http://schemas.openxmlformats.org/drawingml/2006/main">
            <a:off x="1428750" y="3219450"/>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Record a conversation with a short factual note.</a:t>
            </a:r>
          </a:p>
        </p:txBody>
      </p:sp>
      <p:sp>
        <p:nvSpPr>
          <p:cNvPr id="13" name="">
            <a:extLst xmlns:a="http://schemas.openxmlformats.org/drawingml/2006/main">
              <a:ext uri="{FF2B5EF4-FFF2-40B4-BE49-F238E27FC236}">
                <a16:creationId xmlns:a16="http://schemas.microsoft.com/office/drawing/2014/main" id="{E6796A09-C733-452A-8070-E2E39D25F986}"/>
              </a:ext>
            </a:extLst>
          </p:cNvPr>
          <p:cNvSpPr>
            <a:spLocks xmlns:a="http://schemas.openxmlformats.org/drawingml/2006/main" noGrp="1"/>
          </p:cNvSpPr>
          <p:nvPr/>
        </p:nvSpPr>
        <p:spPr>
          <a:xfrm xmlns:a="http://schemas.openxmlformats.org/drawingml/2006/main">
            <a:off x="819150" y="3962400"/>
            <a:ext cx="400050" cy="400050"/>
          </a:xfrm>
          <a:prstGeom xmlns:a="http://schemas.openxmlformats.org/drawingml/2006/main" prst="ellipse">
            <a:avLst/>
          </a:prstGeom>
          <a:solidFill xmlns:a="http://schemas.openxmlformats.org/drawingml/2006/main">
            <a:srgbClr val="006FA6"/>
          </a:solidFill>
          <a:ln xmlns:a="http://schemas.openxmlformats.org/drawingml/2006/main" w="0">
            <a:solidFill>
              <a:srgbClr val="006FA6"/>
            </a:solidFill>
            <a:prstDash val="solid"/>
          </a:ln>
        </p:spPr>
      </p:sp>
      <p:sp>
        <p:nvSpPr>
          <p:cNvPr id="14" name="">
            <a:extLst xmlns:a="http://schemas.openxmlformats.org/drawingml/2006/main">
              <a:ext uri="{FF2B5EF4-FFF2-40B4-BE49-F238E27FC236}">
                <a16:creationId xmlns:a16="http://schemas.microsoft.com/office/drawing/2014/main" id="{A5004D40-596E-49CF-8F9C-A6670C319F36}"/>
              </a:ext>
            </a:extLst>
          </p:cNvPr>
          <p:cNvSpPr>
            <a:spLocks xmlns:a="http://schemas.openxmlformats.org/drawingml/2006/main" noGrp="1"/>
          </p:cNvSpPr>
          <p:nvPr/>
        </p:nvSpPr>
        <p:spPr>
          <a:xfrm xmlns:a="http://schemas.openxmlformats.org/drawingml/2006/main">
            <a:off x="819150" y="40005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4</a:t>
            </a:r>
          </a:p>
        </p:txBody>
      </p:sp>
      <p:sp>
        <p:nvSpPr>
          <p:cNvPr id="15" name="">
            <a:extLst xmlns:a="http://schemas.openxmlformats.org/drawingml/2006/main">
              <a:ext uri="{FF2B5EF4-FFF2-40B4-BE49-F238E27FC236}">
                <a16:creationId xmlns:a16="http://schemas.microsoft.com/office/drawing/2014/main" id="{C9766C42-AFE8-4E49-8FE9-D1C3F043946B}"/>
              </a:ext>
            </a:extLst>
          </p:cNvPr>
          <p:cNvSpPr>
            <a:spLocks xmlns:a="http://schemas.openxmlformats.org/drawingml/2006/main" noGrp="1"/>
          </p:cNvSpPr>
          <p:nvPr/>
        </p:nvSpPr>
        <p:spPr>
          <a:xfrm xmlns:a="http://schemas.openxmlformats.org/drawingml/2006/main">
            <a:off x="1428750" y="3981450"/>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02A43"/>
                </a:solidFill>
              </a:defRPr>
            </a:pPr>
            <a:r>
              <a:rPr sz="1500" b="0" i="0">
                <a:solidFill>
                  <a:srgbClr val="102A43"/>
                </a:solidFill>
              </a:rPr>
              <a:t>Set Considering for one action and create the next follow-up.</a:t>
            </a:r>
          </a:p>
        </p:txBody>
      </p:sp>
      <p:sp>
        <p:nvSpPr>
          <p:cNvPr id="16" name="">
            <a:extLst xmlns:a="http://schemas.openxmlformats.org/drawingml/2006/main">
              <a:ext uri="{FF2B5EF4-FFF2-40B4-BE49-F238E27FC236}">
                <a16:creationId xmlns:a16="http://schemas.microsoft.com/office/drawing/2014/main" id="{8F3F31A9-F1CB-4AAE-947A-93732BBDAF79}"/>
              </a:ext>
            </a:extLst>
          </p:cNvPr>
          <p:cNvSpPr>
            <a:spLocks xmlns:a="http://schemas.openxmlformats.org/drawingml/2006/main" noGrp="1"/>
          </p:cNvSpPr>
          <p:nvPr/>
        </p:nvSpPr>
        <p:spPr>
          <a:xfrm xmlns:a="http://schemas.openxmlformats.org/drawingml/2006/main">
            <a:off x="819150" y="4724400"/>
            <a:ext cx="400050" cy="400050"/>
          </a:xfrm>
          <a:prstGeom xmlns:a="http://schemas.openxmlformats.org/drawingml/2006/main" prst="ellipse">
            <a:avLst/>
          </a:prstGeom>
          <a:solidFill xmlns:a="http://schemas.openxmlformats.org/drawingml/2006/main">
            <a:srgbClr val="A80046"/>
          </a:solidFill>
          <a:ln xmlns:a="http://schemas.openxmlformats.org/drawingml/2006/main" w="0">
            <a:solidFill>
              <a:srgbClr val="A80046"/>
            </a:solidFill>
            <a:prstDash val="solid"/>
          </a:ln>
        </p:spPr>
      </p:sp>
      <p:sp>
        <p:nvSpPr>
          <p:cNvPr id="17" name="">
            <a:extLst xmlns:a="http://schemas.openxmlformats.org/drawingml/2006/main">
              <a:ext uri="{FF2B5EF4-FFF2-40B4-BE49-F238E27FC236}">
                <a16:creationId xmlns:a16="http://schemas.microsoft.com/office/drawing/2014/main" id="{56487F8F-D1A7-4F1D-8743-5E21E5416C94}"/>
              </a:ext>
            </a:extLst>
          </p:cNvPr>
          <p:cNvSpPr>
            <a:spLocks xmlns:a="http://schemas.openxmlformats.org/drawingml/2006/main" noGrp="1"/>
          </p:cNvSpPr>
          <p:nvPr/>
        </p:nvSpPr>
        <p:spPr>
          <a:xfrm xmlns:a="http://schemas.openxmlformats.org/drawingml/2006/main">
            <a:off x="819150" y="47625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5</a:t>
            </a:r>
          </a:p>
        </p:txBody>
      </p:sp>
      <p:sp>
        <p:nvSpPr>
          <p:cNvPr id="18" name="">
            <a:extLst xmlns:a="http://schemas.openxmlformats.org/drawingml/2006/main">
              <a:ext uri="{FF2B5EF4-FFF2-40B4-BE49-F238E27FC236}">
                <a16:creationId xmlns:a16="http://schemas.microsoft.com/office/drawing/2014/main" id="{12DC36F3-DB0D-44D8-83D5-7FDBAE5E2F9C}"/>
              </a:ext>
            </a:extLst>
          </p:cNvPr>
          <p:cNvSpPr>
            <a:spLocks xmlns:a="http://schemas.openxmlformats.org/drawingml/2006/main" noGrp="1"/>
          </p:cNvSpPr>
          <p:nvPr/>
        </p:nvSpPr>
        <p:spPr>
          <a:xfrm xmlns:a="http://schemas.openxmlformats.org/drawingml/2006/main">
            <a:off x="1428750" y="4743450"/>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02A43"/>
                </a:solidFill>
              </a:defRPr>
            </a:pPr>
            <a:r>
              <a:rPr sz="1500" b="1" i="0">
                <a:solidFill>
                  <a:srgbClr val="102A43"/>
                </a:solidFill>
              </a:rPr>
              <a:t>Refresh and confirm each item appears once.</a:t>
            </a:r>
          </a:p>
        </p:txBody>
      </p:sp>
      <p:sp>
        <p:nvSpPr>
          <p:cNvPr id="19" name="">
            <a:extLst xmlns:a="http://schemas.openxmlformats.org/drawingml/2006/main">
              <a:ext uri="{FF2B5EF4-FFF2-40B4-BE49-F238E27FC236}">
                <a16:creationId xmlns:a16="http://schemas.microsoft.com/office/drawing/2014/main" id="{BF2164B8-6893-4CBC-8BD7-78B1A090F36A}"/>
              </a:ext>
            </a:extLst>
          </p:cNvPr>
          <p:cNvSpPr>
            <a:spLocks xmlns:a="http://schemas.openxmlformats.org/drawingml/2006/main" noGrp="1"/>
          </p:cNvSpPr>
          <p:nvPr/>
        </p:nvSpPr>
        <p:spPr>
          <a:xfrm xmlns:a="http://schemas.openxmlformats.org/drawingml/2006/main">
            <a:off x="7810500" y="1676400"/>
            <a:ext cx="3429000" cy="3657600"/>
          </a:xfrm>
          <a:prstGeom xmlns:a="http://schemas.openxmlformats.org/drawingml/2006/main" prst="roundRect">
            <a:avLst>
              <a:gd name="adj" fmla="val 3333"/>
            </a:avLst>
          </a:prstGeom>
          <a:solidFill xmlns:a="http://schemas.openxmlformats.org/drawingml/2006/main">
            <a:srgbClr val="004E75"/>
          </a:solidFill>
          <a:ln xmlns:a="http://schemas.openxmlformats.org/drawingml/2006/main" w="9525">
            <a:solidFill>
              <a:srgbClr val="004E75"/>
            </a:solidFill>
            <a:prstDash val="solid"/>
          </a:ln>
        </p:spPr>
      </p:sp>
      <p:sp>
        <p:nvSpPr>
          <p:cNvPr id="20" name="">
            <a:extLst xmlns:a="http://schemas.openxmlformats.org/drawingml/2006/main">
              <a:ext uri="{FF2B5EF4-FFF2-40B4-BE49-F238E27FC236}">
                <a16:creationId xmlns:a16="http://schemas.microsoft.com/office/drawing/2014/main" id="{2A68F81E-5858-41A5-B944-58C8A978F147}"/>
              </a:ext>
            </a:extLst>
          </p:cNvPr>
          <p:cNvSpPr>
            <a:spLocks xmlns:a="http://schemas.openxmlformats.org/drawingml/2006/main" noGrp="1"/>
          </p:cNvSpPr>
          <p:nvPr/>
        </p:nvSpPr>
        <p:spPr>
          <a:xfrm xmlns:a="http://schemas.openxmlformats.org/drawingml/2006/main">
            <a:off x="8115300" y="2019300"/>
            <a:ext cx="2819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FFFFFF"/>
                </a:solidFill>
              </a:defRPr>
            </a:pPr>
            <a:r>
              <a:rPr sz="2100" b="1" i="0">
                <a:solidFill>
                  <a:srgbClr val="FFFFFF"/>
                </a:solidFill>
              </a:rPr>
              <a:t>Before live work</a:t>
            </a:r>
          </a:p>
        </p:txBody>
      </p:sp>
      <p:sp>
        <p:nvSpPr>
          <p:cNvPr id="21" name="">
            <a:extLst xmlns:a="http://schemas.openxmlformats.org/drawingml/2006/main">
              <a:ext uri="{FF2B5EF4-FFF2-40B4-BE49-F238E27FC236}">
                <a16:creationId xmlns:a16="http://schemas.microsoft.com/office/drawing/2014/main" id="{E366F6A2-FA9E-4A7D-833D-4BAE55345C8A}"/>
              </a:ext>
            </a:extLst>
          </p:cNvPr>
          <p:cNvSpPr>
            <a:spLocks xmlns:a="http://schemas.openxmlformats.org/drawingml/2006/main" noGrp="1"/>
          </p:cNvSpPr>
          <p:nvPr/>
        </p:nvSpPr>
        <p:spPr>
          <a:xfrm xmlns:a="http://schemas.openxmlformats.org/drawingml/2006/main">
            <a:off x="8115300" y="2867025"/>
            <a:ext cx="85725" cy="85725"/>
          </a:xfrm>
          <a:prstGeom xmlns:a="http://schemas.openxmlformats.org/drawingml/2006/main" prst="ellipse">
            <a:avLst/>
          </a:prstGeom>
          <a:solidFill xmlns:a="http://schemas.openxmlformats.org/drawingml/2006/main">
            <a:srgbClr val="7EC8E3"/>
          </a:solidFill>
          <a:ln xmlns:a="http://schemas.openxmlformats.org/drawingml/2006/main" w="0">
            <a:solidFill>
              <a:srgbClr val="7EC8E3"/>
            </a:solidFill>
            <a:prstDash val="solid"/>
          </a:ln>
        </p:spPr>
      </p:sp>
      <p:sp>
        <p:nvSpPr>
          <p:cNvPr id="22" name="">
            <a:extLst xmlns:a="http://schemas.openxmlformats.org/drawingml/2006/main">
              <a:ext uri="{FF2B5EF4-FFF2-40B4-BE49-F238E27FC236}">
                <a16:creationId xmlns:a16="http://schemas.microsoft.com/office/drawing/2014/main" id="{C7DD3983-2938-44F7-87DD-F3BAEBF62A16}"/>
              </a:ext>
            </a:extLst>
          </p:cNvPr>
          <p:cNvSpPr>
            <a:spLocks xmlns:a="http://schemas.openxmlformats.org/drawingml/2006/main" noGrp="1"/>
          </p:cNvSpPr>
          <p:nvPr/>
        </p:nvSpPr>
        <p:spPr>
          <a:xfrm xmlns:a="http://schemas.openxmlformats.org/drawingml/2006/main">
            <a:off x="8324850" y="2781300"/>
            <a:ext cx="2495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FFFFFF"/>
                </a:solidFill>
              </a:defRPr>
            </a:pPr>
            <a:r>
              <a:rPr sz="1350" b="0" i="0">
                <a:solidFill>
                  <a:srgbClr val="FFFFFF"/>
                </a:solidFill>
              </a:rPr>
              <a:t>Sign-in and MFA work</a:t>
            </a:r>
          </a:p>
        </p:txBody>
      </p:sp>
      <p:sp>
        <p:nvSpPr>
          <p:cNvPr id="23" name="">
            <a:extLst xmlns:a="http://schemas.openxmlformats.org/drawingml/2006/main">
              <a:ext uri="{FF2B5EF4-FFF2-40B4-BE49-F238E27FC236}">
                <a16:creationId xmlns:a16="http://schemas.microsoft.com/office/drawing/2014/main" id="{BC2A3A2C-3712-4CED-A4A4-89D911CA65BB}"/>
              </a:ext>
            </a:extLst>
          </p:cNvPr>
          <p:cNvSpPr>
            <a:spLocks xmlns:a="http://schemas.openxmlformats.org/drawingml/2006/main" noGrp="1"/>
          </p:cNvSpPr>
          <p:nvPr/>
        </p:nvSpPr>
        <p:spPr>
          <a:xfrm xmlns:a="http://schemas.openxmlformats.org/drawingml/2006/main">
            <a:off x="8115300" y="3457575"/>
            <a:ext cx="85725" cy="85725"/>
          </a:xfrm>
          <a:prstGeom xmlns:a="http://schemas.openxmlformats.org/drawingml/2006/main" prst="ellipse">
            <a:avLst/>
          </a:prstGeom>
          <a:solidFill xmlns:a="http://schemas.openxmlformats.org/drawingml/2006/main">
            <a:srgbClr val="7EC8E3"/>
          </a:solidFill>
          <a:ln xmlns:a="http://schemas.openxmlformats.org/drawingml/2006/main" w="0">
            <a:solidFill>
              <a:srgbClr val="7EC8E3"/>
            </a:solidFill>
            <a:prstDash val="solid"/>
          </a:ln>
        </p:spPr>
      </p:sp>
      <p:sp>
        <p:nvSpPr>
          <p:cNvPr id="24" name="">
            <a:extLst xmlns:a="http://schemas.openxmlformats.org/drawingml/2006/main">
              <a:ext uri="{FF2B5EF4-FFF2-40B4-BE49-F238E27FC236}">
                <a16:creationId xmlns:a16="http://schemas.microsoft.com/office/drawing/2014/main" id="{D2DDA835-33A4-4F2B-8245-63D52AE88D3E}"/>
              </a:ext>
            </a:extLst>
          </p:cNvPr>
          <p:cNvSpPr>
            <a:spLocks xmlns:a="http://schemas.openxmlformats.org/drawingml/2006/main" noGrp="1"/>
          </p:cNvSpPr>
          <p:nvPr/>
        </p:nvSpPr>
        <p:spPr>
          <a:xfrm xmlns:a="http://schemas.openxmlformats.org/drawingml/2006/main">
            <a:off x="8324850" y="3371850"/>
            <a:ext cx="2495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FFFFFF"/>
                </a:solidFill>
              </a:defRPr>
            </a:pPr>
            <a:r>
              <a:rPr sz="1350" b="0" i="0">
                <a:solidFill>
                  <a:srgbClr val="FFFFFF"/>
                </a:solidFill>
              </a:rPr>
              <a:t>Role matches the assignment</a:t>
            </a:r>
          </a:p>
        </p:txBody>
      </p:sp>
      <p:sp>
        <p:nvSpPr>
          <p:cNvPr id="25" name="">
            <a:extLst xmlns:a="http://schemas.openxmlformats.org/drawingml/2006/main">
              <a:ext uri="{FF2B5EF4-FFF2-40B4-BE49-F238E27FC236}">
                <a16:creationId xmlns:a16="http://schemas.microsoft.com/office/drawing/2014/main" id="{A02A8210-B513-4CF4-B818-34289D6ED40B}"/>
              </a:ext>
            </a:extLst>
          </p:cNvPr>
          <p:cNvSpPr>
            <a:spLocks xmlns:a="http://schemas.openxmlformats.org/drawingml/2006/main" noGrp="1"/>
          </p:cNvSpPr>
          <p:nvPr/>
        </p:nvSpPr>
        <p:spPr>
          <a:xfrm xmlns:a="http://schemas.openxmlformats.org/drawingml/2006/main">
            <a:off x="8115300" y="4048125"/>
            <a:ext cx="85725" cy="85725"/>
          </a:xfrm>
          <a:prstGeom xmlns:a="http://schemas.openxmlformats.org/drawingml/2006/main" prst="ellipse">
            <a:avLst/>
          </a:prstGeom>
          <a:solidFill xmlns:a="http://schemas.openxmlformats.org/drawingml/2006/main">
            <a:srgbClr val="7EC8E3"/>
          </a:solidFill>
          <a:ln xmlns:a="http://schemas.openxmlformats.org/drawingml/2006/main" w="0">
            <a:solidFill>
              <a:srgbClr val="7EC8E3"/>
            </a:solidFill>
            <a:prstDash val="solid"/>
          </a:ln>
        </p:spPr>
      </p:sp>
      <p:sp>
        <p:nvSpPr>
          <p:cNvPr id="26" name="">
            <a:extLst xmlns:a="http://schemas.openxmlformats.org/drawingml/2006/main">
              <a:ext uri="{FF2B5EF4-FFF2-40B4-BE49-F238E27FC236}">
                <a16:creationId xmlns:a16="http://schemas.microsoft.com/office/drawing/2014/main" id="{8F2E4AC3-BFF6-4CDA-9F22-AD5A292DADCC}"/>
              </a:ext>
            </a:extLst>
          </p:cNvPr>
          <p:cNvSpPr>
            <a:spLocks xmlns:a="http://schemas.openxmlformats.org/drawingml/2006/main" noGrp="1"/>
          </p:cNvSpPr>
          <p:nvPr/>
        </p:nvSpPr>
        <p:spPr>
          <a:xfrm xmlns:a="http://schemas.openxmlformats.org/drawingml/2006/main">
            <a:off x="8324850" y="3962400"/>
            <a:ext cx="2495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FFFFFF"/>
                </a:solidFill>
              </a:defRPr>
            </a:pPr>
            <a:r>
              <a:rPr sz="1350" b="0" i="0">
                <a:solidFill>
                  <a:srgbClr val="FFFFFF"/>
                </a:solidFill>
              </a:rPr>
              <a:t>One complete synthetic cycle</a:t>
            </a:r>
          </a:p>
        </p:txBody>
      </p:sp>
      <p:sp>
        <p:nvSpPr>
          <p:cNvPr id="27" name="">
            <a:extLst xmlns:a="http://schemas.openxmlformats.org/drawingml/2006/main">
              <a:ext uri="{FF2B5EF4-FFF2-40B4-BE49-F238E27FC236}">
                <a16:creationId xmlns:a16="http://schemas.microsoft.com/office/drawing/2014/main" id="{D237D640-A0B8-4E77-87AA-0C615AA6DC5D}"/>
              </a:ext>
            </a:extLst>
          </p:cNvPr>
          <p:cNvSpPr>
            <a:spLocks xmlns:a="http://schemas.openxmlformats.org/drawingml/2006/main" noGrp="1"/>
          </p:cNvSpPr>
          <p:nvPr/>
        </p:nvSpPr>
        <p:spPr>
          <a:xfrm xmlns:a="http://schemas.openxmlformats.org/drawingml/2006/main">
            <a:off x="8115300" y="4638675"/>
            <a:ext cx="85725" cy="85725"/>
          </a:xfrm>
          <a:prstGeom xmlns:a="http://schemas.openxmlformats.org/drawingml/2006/main" prst="ellipse">
            <a:avLst/>
          </a:prstGeom>
          <a:solidFill xmlns:a="http://schemas.openxmlformats.org/drawingml/2006/main">
            <a:srgbClr val="7EC8E3"/>
          </a:solidFill>
          <a:ln xmlns:a="http://schemas.openxmlformats.org/drawingml/2006/main" w="0">
            <a:solidFill>
              <a:srgbClr val="7EC8E3"/>
            </a:solidFill>
            <a:prstDash val="solid"/>
          </a:ln>
        </p:spPr>
      </p:sp>
      <p:sp>
        <p:nvSpPr>
          <p:cNvPr id="28" name="">
            <a:extLst xmlns:a="http://schemas.openxmlformats.org/drawingml/2006/main">
              <a:ext uri="{FF2B5EF4-FFF2-40B4-BE49-F238E27FC236}">
                <a16:creationId xmlns:a16="http://schemas.microsoft.com/office/drawing/2014/main" id="{98D10AC3-6A9D-4794-9BEA-3A834ED8B83B}"/>
              </a:ext>
            </a:extLst>
          </p:cNvPr>
          <p:cNvSpPr>
            <a:spLocks xmlns:a="http://schemas.openxmlformats.org/drawingml/2006/main" noGrp="1"/>
          </p:cNvSpPr>
          <p:nvPr/>
        </p:nvSpPr>
        <p:spPr>
          <a:xfrm xmlns:a="http://schemas.openxmlformats.org/drawingml/2006/main">
            <a:off x="8324850" y="4552950"/>
            <a:ext cx="2495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FFFFFF"/>
                </a:solidFill>
              </a:defRPr>
            </a:pPr>
            <a:r>
              <a:rPr sz="1350" b="0" i="0">
                <a:solidFill>
                  <a:srgbClr val="FFFFFF"/>
                </a:solidFill>
              </a:rPr>
              <a:t>Safe support habits</a:t>
            </a:r>
          </a:p>
        </p:txBody>
      </p:sp>
      <p:sp>
        <p:nvSpPr>
          <p:cNvPr id="29" name="">
            <a:extLst xmlns:a="http://schemas.openxmlformats.org/drawingml/2006/main">
              <a:ext uri="{FF2B5EF4-FFF2-40B4-BE49-F238E27FC236}">
                <a16:creationId xmlns:a16="http://schemas.microsoft.com/office/drawing/2014/main" id="{4762DAC6-E96A-4B7E-BCCC-BAB816E48529}"/>
              </a:ext>
            </a:extLst>
          </p:cNvPr>
          <p:cNvSpPr>
            <a:spLocks xmlns:a="http://schemas.openxmlformats.org/drawingml/2006/main" noGrp="1"/>
          </p:cNvSpPr>
          <p:nvPr/>
        </p:nvSpPr>
        <p:spPr>
          <a:xfrm xmlns:a="http://schemas.openxmlformats.org/drawingml/2006/main">
            <a:off x="1143000" y="58293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A80046"/>
                </a:solidFill>
              </a:defRPr>
            </a:pPr>
            <a:r>
              <a:rPr sz="1650" b="1" i="0">
                <a:solidFill>
                  <a:srgbClr val="A80046"/>
                </a:solidFill>
              </a:rPr>
              <a:t>Work from the current record. Keep notes useful. Verify uncertain saves.</a:t>
            </a:r>
          </a:p>
        </p:txBody>
      </p:sp>
      <p:sp>
        <p:nvSpPr>
          <p:cNvPr id="30" name="">
            <a:extLst xmlns:a="http://schemas.openxmlformats.org/drawingml/2006/main">
              <a:ext uri="{FF2B5EF4-FFF2-40B4-BE49-F238E27FC236}">
                <a16:creationId xmlns:a16="http://schemas.microsoft.com/office/drawing/2014/main" id="{1FE47CC7-8271-4F58-A17B-A2ED1960D11C}"/>
              </a:ext>
            </a:extLst>
          </p:cNvPr>
          <p:cNvSpPr>
            <a:spLocks xmlns:a="http://schemas.openxmlformats.org/drawingml/2006/main" noGrp="1"/>
          </p:cNvSpPr>
          <p:nvPr/>
        </p:nvSpPr>
        <p:spPr>
          <a:xfrm xmlns:a="http://schemas.openxmlformats.org/drawingml/2006/main">
            <a:off x="685800" y="6457950"/>
            <a:ext cx="10820400" cy="0"/>
          </a:xfrm>
          <a:prstGeom xmlns:a="http://schemas.openxmlformats.org/drawingml/2006/main" prst="line">
            <a:avLst/>
          </a:prstGeom>
          <a:noFill xmlns:a="http://schemas.openxmlformats.org/drawingml/2006/main"/>
          <a:ln xmlns:a="http://schemas.openxmlformats.org/drawingml/2006/main" w="9525">
            <a:solidFill>
              <a:srgbClr val="D7E1E7"/>
            </a:solidFill>
            <a:prstDash val="solid"/>
          </a:ln>
        </p:spPr>
      </p:sp>
      <p:sp>
        <p:nvSpPr>
          <p:cNvPr id="31" name="">
            <a:extLst xmlns:a="http://schemas.openxmlformats.org/drawingml/2006/main">
              <a:ext uri="{FF2B5EF4-FFF2-40B4-BE49-F238E27FC236}">
                <a16:creationId xmlns:a16="http://schemas.microsoft.com/office/drawing/2014/main" id="{EE7FE10C-C702-4D63-8EBB-430A48981C3E}"/>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26A7A"/>
                </a:solidFill>
              </a:defRPr>
            </a:pPr>
            <a:r>
              <a:rPr sz="825" b="1" i="0">
                <a:solidFill>
                  <a:srgbClr val="526A7A"/>
                </a:solidFill>
              </a:rPr>
              <a:t>Engaging Local 801</a:t>
            </a:r>
          </a:p>
        </p:txBody>
      </p:sp>
      <p:sp>
        <p:nvSpPr>
          <p:cNvPr id="32" name="">
            <a:extLst xmlns:a="http://schemas.openxmlformats.org/drawingml/2006/main">
              <a:ext uri="{FF2B5EF4-FFF2-40B4-BE49-F238E27FC236}">
                <a16:creationId xmlns:a16="http://schemas.microsoft.com/office/drawing/2014/main" id="{37685763-D878-449F-A55E-7DD011F6AA06}"/>
              </a:ext>
            </a:extLst>
          </p:cNvPr>
          <p:cNvSpPr>
            <a:spLocks xmlns:a="http://schemas.openxmlformats.org/drawingml/2006/main" noGrp="1"/>
          </p:cNvSpPr>
          <p:nvPr/>
        </p:nvSpPr>
        <p:spPr>
          <a:xfrm xmlns:a="http://schemas.openxmlformats.org/drawingml/2006/main">
            <a:off x="11049000" y="65341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i="0">
                <a:solidFill>
                  <a:srgbClr val="526A7A"/>
                </a:solidFill>
              </a:defRPr>
            </a:pPr>
            <a:r>
              <a:rPr sz="825" b="1" i="0">
                <a:solidFill>
                  <a:srgbClr val="526A7A"/>
                </a:solidFill>
              </a:rPr>
              <a:t>16</a:t>
            </a:r>
          </a:p>
        </p:txBody>
      </p:sp>
    </p:spTree>
    <p:extLst>
      <p:ext uri="{BB962C8B-B14F-4D97-AF65-F5344CB8AC3E}">
        <p14:creationId xmlns:p14="http://schemas.microsoft.com/office/powerpoint/2010/main" val="19751093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2026-08-25T15:50:23.9660000Z</dcterms:created>
  <dcterms:modified xsi:type="dcterms:W3CDTF">2026-08-25T15:50:23.9660000Z</dcterms:modified>
</coreProperties>
</file>